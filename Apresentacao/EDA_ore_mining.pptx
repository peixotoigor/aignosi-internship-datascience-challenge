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64" r:id="rId4"/>
    <p:sldId id="268" r:id="rId5"/>
    <p:sldId id="265" r:id="rId6"/>
    <p:sldId id="266" r:id="rId7"/>
    <p:sldId id="269" r:id="rId8"/>
    <p:sldId id="272" r:id="rId9"/>
    <p:sldId id="270" r:id="rId10"/>
    <p:sldId id="273" r:id="rId11"/>
    <p:sldId id="267" r:id="rId12"/>
    <p:sldId id="274" r:id="rId13"/>
    <p:sldId id="275" r:id="rId14"/>
    <p:sldId id="276" r:id="rId15"/>
    <p:sldId id="277" r:id="rId16"/>
    <p:sldId id="271" r:id="rId17"/>
    <p:sldId id="278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2151"/>
    <a:srgbClr val="001F63"/>
    <a:srgbClr val="001A5E"/>
    <a:srgbClr val="D9D9D6"/>
    <a:srgbClr val="0A57D4"/>
    <a:srgbClr val="3B82F6"/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5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DFB5F-7C47-4F10-9D98-235C735CDC9C}" type="datetimeFigureOut">
              <a:rPr lang="pt-BR" smtClean="0"/>
              <a:t>28/10/2024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9017D-C08B-4388-9E32-0F7A5079AA9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836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001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E4C6-82CA-8873-6CD0-D5F98C34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6EDAA5-98A7-0250-2220-9A493A8A5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FEFF17-F3E4-EFD9-74DC-8FA094B58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488306-2EC7-B3CC-008A-EE1601E4D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1530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49DE-5DA9-BA85-7F55-860A86B08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F501D6-ACE5-7205-A12D-3959C8E7B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E99DA0F-DEC1-37D9-4F91-5AEFD3291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1042B3-2E63-7889-8B21-BE1AE90C2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878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4989-3FAA-D58D-F65E-2148A22BB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16064F-1019-83E0-BB7A-7D6A204DC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C75C492-4946-2FF1-835F-735172266F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727A37-2D8C-75BE-F65B-69BDDBECE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136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E3B11-7089-6777-A198-3D38A8CF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FB40917-A560-BEBA-92E3-070C84148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77EACC-1177-9FD2-5581-15B2C14E56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CC57A7-1B00-5B54-DAB7-38D0834109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9765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E09D-AC90-85D3-F1E4-5243B39D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70B3D44-D1E0-038B-0132-1C4DC88AC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877DDE8-FE77-B971-AECC-96DEBB15C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5B6A33-C7C2-9DE2-4A4D-011D3F2CD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220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B6349-93EC-C97D-9FD4-46F922149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E6BB43-D7D2-354E-CB1A-EAFE625D0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23E6AF-CD39-8494-93D6-A653D7C2C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99A5F2-A39F-5F7A-9512-BD7C15C08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927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445D-A569-5629-4C7A-4BE4FBBDC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01EFA1C-CD25-4320-A6BE-2E812A233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D4D92F1-4A08-B868-0295-10E46316B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91DC45-36A9-B1C1-BFB6-3561BEC94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163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40F4-3D58-27CA-E624-3E1E6AA2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9E2809-3AEA-CD9F-A7D2-F4EA30E58D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8E7026-A408-1757-D093-BA85BF4BD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0889B4-0B33-EE91-DC46-060FC1C43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257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7AFF-F717-ED10-EC9C-CB8F1000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5FDF9B-F4C7-0FF3-A208-D0996DDFD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33EC85-FFA3-BA0E-2F37-DB3085D1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C39469-7540-7BDE-4B36-D3692BD81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934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4CE2C-4F5D-A7E5-8C02-2FA7B01A4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A42958-E638-0E2D-4636-364B55A05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934732C-49D3-74AB-9279-6120F9486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A766534-E072-1C8D-4633-E149718CF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949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5057-9C2C-C75F-B5EE-C8BCC9C12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0B1020-0CEF-C104-7EC2-7E82924BF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F8407CB-CF53-D138-1447-07B34B3CAD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56D990-1269-F4BD-A430-E1C153AF56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268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B815-FE70-D1D6-2618-BF1EF0451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A26161-14EC-8CF7-BEAE-6F4EBCA91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49780D-C9C0-2617-4090-E9267D08B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5CCA45-476D-A00F-54B0-48AC15963B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354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B294-799A-529D-2AF1-4A5BD45F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91FA32-49FF-E286-FF45-DD13589D6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EA75F41-85E8-5598-02F3-E0B93AC74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BC24369-D575-1C3A-6BA3-67AAEC3256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080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A2384-7611-BD04-8387-5B49E289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005500-864D-E25B-7DCD-CC36E7B83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3F9717F-644D-D78C-7C52-71C895B6F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D788FB-6F78-7B4B-511C-87F04059D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6574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0BE85-4747-3E18-EB39-191F735C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4FDBC7-CF4B-D75D-A8E0-E62CA2CC9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B07D20-213E-97B2-5067-7932E49682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F779EB-3912-AB46-7BF6-A528155C6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9017D-C08B-4388-9E32-0F7A5079AA9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061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B4162-8F8C-3C4B-18B0-9861DBC6A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D040BA-6ABD-22AC-E9E5-7092BF477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182EF-0110-F90B-3CA4-362C66A4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8B0B0-C9A3-4334-9C0B-002C2E1CE282}" type="datetime1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6084DE-2A91-2888-B83D-9574FDC0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13445A-5132-471A-A6ED-43A4A8C93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519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2FCA9-B2FE-9928-8C1D-BBDA11EA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CB2698-3261-2EA4-18E4-0F32C9C4E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F242F9-7E43-7FC2-1230-CCE2F9B3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5CBB6-40C4-4499-8AA4-049DB186B922}" type="datetime1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E69E79-9C2D-096C-71BA-F21657ED7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A864B9-74A4-5B63-1E04-C5B075B1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565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95027-D7B1-6CB6-014C-47384E44B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7D4517-2166-2187-D309-DFA7B2716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3E9A5F-6B68-6823-B2F1-2CA0962F8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E4CCB-F2FE-4D88-9E13-0210A57F13B9}" type="datetime1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FA4957-FA21-6B4B-BF62-31F1479D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E6CE78-46F7-248A-4E43-8442BBCC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2403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75CC8-A5BA-AE8F-7FC5-C4EEBD008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D87962-2C3B-6691-43CF-E4A5B237E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105E28-DC2C-4CC6-F46F-0FA28684C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E51AF5-0A22-2208-0035-4B3FB8E0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59285-4888-4F51-9880-DCE424F00937}" type="datetime1">
              <a:rPr lang="pt-BR" smtClean="0"/>
              <a:t>28/10/2024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C3A89A-C80C-0D97-F609-B36A2238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677036-2F03-994F-FB85-3762B3A3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232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B29D7-6901-6142-C979-6F8A20437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245A04-9CAA-494F-036D-923C721A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BA4499-E23C-D8E5-2607-017F586F9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744777C-D263-0012-7BA1-6D5C1801A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06E909-371E-6432-1DDA-C82DC419A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F92E0B6-E3EE-6AC8-952A-F84CF129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C75A4-98A3-487A-AF73-299ADC52A98B}" type="datetime1">
              <a:rPr lang="pt-BR" smtClean="0"/>
              <a:t>28/10/2024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CFE3EF-6909-57B3-A279-73FC28A5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6C86E0B-A633-3B02-7124-6C5CB4FB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992253-8DFF-C175-8486-20D0C624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B399E0-F9F0-F9EE-52C1-53D2BBFD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B4E4-C194-4E57-9E54-02A62B7E90ED}" type="datetime1">
              <a:rPr lang="pt-BR" smtClean="0"/>
              <a:t>28/10/2024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C35360A-CFC3-73F3-892B-84AA2827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470197-9BEE-A9CE-E91A-87A4F941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11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21A2592-7D69-ADC1-EA88-B15C0BFE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22588-E008-40DD-A9BA-E3BB1BAB5AD2}" type="datetime1">
              <a:rPr lang="pt-BR" smtClean="0"/>
              <a:t>28/10/2024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CA678C-387F-27AF-2F0B-3D374844A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38186A-74EA-08CE-AB62-490F87388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74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DFB9A-5A9D-9641-236D-A4FDE4D99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F3FD36-A163-9E58-AAE2-190A03826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49D994E-A4C6-A97B-4912-DAEF64BB0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D2B042-3A7B-8D53-8349-8224FA074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7E745-AE5E-4A28-B8F0-A8DA00FCEF94}" type="datetime1">
              <a:rPr lang="pt-BR" smtClean="0"/>
              <a:t>28/10/2024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01CB131-BA56-C293-F8DF-02EF811C4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BA8A86-6E73-B266-1A9A-9F2D23998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3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ABF60-5F61-A07B-8B3A-EC51144C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FCC400-8445-8F05-48AD-CFDDE1AF45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4D6EBA-A8CD-E677-DDEA-739A0ABECA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170AF2-FCE2-BAEF-22DD-4039FC6F4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70702-56E7-4D62-A0E6-4A2C3873468A}" type="datetime1">
              <a:rPr lang="pt-BR" smtClean="0"/>
              <a:t>28/10/2024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952C7B-962C-1749-84DA-8358BFF86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CA22E9-9783-A88A-1073-A45ACF4A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3779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E0077-C8A9-780F-8D1B-47ED6E91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B025445-E382-17EF-740D-1F38FC8DA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FA5869-E514-4E09-A081-3A67B0C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5EBA9-5A5A-4B11-8AD8-1F00C1F6D284}" type="datetime1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27C97A-2D46-FCAF-D700-F6161EB77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38CC21-2F2A-97F4-495F-B0AE0BCA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351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1E660E-6F32-2FC2-CCD4-A27A91866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20AEA1-5BF3-DFEA-FF1E-43F34969F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C0908C-3F62-3832-929F-0F6E2CB8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B34EB-C688-4012-9331-A3A8A8717746}" type="datetime1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87ECFF-3FA9-3FDC-8278-DCB5B6989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E24A66-121D-ED7F-B4C0-03E724CF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464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D50621B-2D73-8FED-0FCF-864DF121C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2253F0-11B6-0FD9-67A9-5EC2E31C4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A3E881-E1BF-AF54-278D-81B676768C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A2387-AA7A-43EA-B0AE-2BC87A4A69C6}" type="datetime1">
              <a:rPr lang="pt-BR" smtClean="0"/>
              <a:t>28/10/2024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71AC8D-481D-B2FF-1A7F-6D426857F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987139-EAA6-962A-1394-03AE7C4D0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2FEAC0-4844-4280-8D13-FA505FAF98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6547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1A565-E4BC-24F9-76D1-AC50F3A7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Diagrama&#10;&#10;Descrição gerada automaticamente">
            <a:extLst>
              <a:ext uri="{FF2B5EF4-FFF2-40B4-BE49-F238E27FC236}">
                <a16:creationId xmlns:a16="http://schemas.microsoft.com/office/drawing/2014/main" id="{0CC3EA10-6500-4EAA-6675-B5942C9A6F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072151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30979">
            <a:off x="-2753034" y="884904"/>
            <a:ext cx="12207981" cy="685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3EC9834-AD1F-5B1D-37D0-296ECF6E31D0}"/>
              </a:ext>
            </a:extLst>
          </p:cNvPr>
          <p:cNvSpPr txBox="1"/>
          <p:nvPr/>
        </p:nvSpPr>
        <p:spPr>
          <a:xfrm>
            <a:off x="1767840" y="1561062"/>
            <a:ext cx="97492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solidFill>
                  <a:srgbClr val="072151"/>
                </a:solidFill>
                <a:latin typeface="Optika Black" panose="00000A00000000000000" pitchFamily="50" charset="0"/>
              </a:rPr>
              <a:t>QUALIDADE EM UM PROCESSO DE MINERAÇÃO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5E440C0-B696-8D4B-3100-25CA17EC3CAE}"/>
              </a:ext>
            </a:extLst>
          </p:cNvPr>
          <p:cNvSpPr txBox="1"/>
          <p:nvPr/>
        </p:nvSpPr>
        <p:spPr>
          <a:xfrm>
            <a:off x="5508171" y="3516870"/>
            <a:ext cx="54443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072151"/>
                </a:solidFill>
                <a:latin typeface="Optika" panose="00000500000000000000" pitchFamily="50" charset="0"/>
              </a:rPr>
              <a:t>ANÁLISE EXPLORATÓRIA DE DADOS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5AF9053-50A7-D893-37DE-31A243738973}"/>
              </a:ext>
            </a:extLst>
          </p:cNvPr>
          <p:cNvSpPr txBox="1"/>
          <p:nvPr/>
        </p:nvSpPr>
        <p:spPr>
          <a:xfrm>
            <a:off x="6273287" y="3989565"/>
            <a:ext cx="46791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2000" b="1" dirty="0">
                <a:solidFill>
                  <a:srgbClr val="072151"/>
                </a:solidFill>
                <a:latin typeface="Optika" panose="00000500000000000000" pitchFamily="50" charset="0"/>
              </a:rPr>
              <a:t>IGOR PEIXOTO RODRIGUES</a:t>
            </a:r>
          </a:p>
        </p:txBody>
      </p:sp>
      <p:pic>
        <p:nvPicPr>
          <p:cNvPr id="3" name="Imagem 2" descr="Logotipo, nome da empresa&#10;&#10;Descrição gerada automaticamente">
            <a:extLst>
              <a:ext uri="{FF2B5EF4-FFF2-40B4-BE49-F238E27FC236}">
                <a16:creationId xmlns:a16="http://schemas.microsoft.com/office/drawing/2014/main" id="{51CE330F-2AC8-D1D6-74C9-B34CFA995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127" y="5296938"/>
            <a:ext cx="4000081" cy="161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80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9B6B057E-AA7F-B050-11EC-F58338546164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A8150E56-9CCB-6F91-8ACD-9542DDBEF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0E83845-C994-B78E-A491-6EE0C870A619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72151"/>
                </a:solidFill>
                <a:latin typeface="Optika Black" panose="00000A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ANÁLISE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pic>
        <p:nvPicPr>
          <p:cNvPr id="1032" name="Picture 8" descr="Ver a imagem de origem">
            <a:extLst>
              <a:ext uri="{FF2B5EF4-FFF2-40B4-BE49-F238E27FC236}">
                <a16:creationId xmlns:a16="http://schemas.microsoft.com/office/drawing/2014/main" id="{6F727EF2-DB96-457E-5B7B-E3FDE0641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092" y="3791131"/>
            <a:ext cx="3959677" cy="241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O Que é Minério De Ferro">
            <a:extLst>
              <a:ext uri="{FF2B5EF4-FFF2-40B4-BE49-F238E27FC236}">
                <a16:creationId xmlns:a16="http://schemas.microsoft.com/office/drawing/2014/main" id="{D71A629B-F775-45EB-0F05-0DCCADFD2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092" y="1527733"/>
            <a:ext cx="3959677" cy="251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17FE1319-CF4D-AAE6-7D22-528D8CA3623D}"/>
              </a:ext>
            </a:extLst>
          </p:cNvPr>
          <p:cNvSpPr/>
          <p:nvPr/>
        </p:nvSpPr>
        <p:spPr>
          <a:xfrm rot="2692220">
            <a:off x="9129380" y="677786"/>
            <a:ext cx="3769406" cy="2360915"/>
          </a:xfrm>
          <a:prstGeom prst="rect">
            <a:avLst/>
          </a:prstGeom>
          <a:solidFill>
            <a:schemeClr val="bg1">
              <a:alpha val="44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D38780B-B697-64B6-73AF-C6B514AAFFDB}"/>
              </a:ext>
            </a:extLst>
          </p:cNvPr>
          <p:cNvSpPr/>
          <p:nvPr/>
        </p:nvSpPr>
        <p:spPr>
          <a:xfrm rot="2209290">
            <a:off x="9645328" y="758539"/>
            <a:ext cx="2940907" cy="18333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52D668-4D3B-77EE-EE50-F5805E4C3AE1}"/>
              </a:ext>
            </a:extLst>
          </p:cNvPr>
          <p:cNvSpPr txBox="1"/>
          <p:nvPr/>
        </p:nvSpPr>
        <p:spPr>
          <a:xfrm>
            <a:off x="524745" y="445366"/>
            <a:ext cx="11155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USO DA TÉCNICA DE FLOTUAÇÃO AUMENTA A CONCENTRAÇÃO DE FERRO EXTRAÍDO 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087A3A6-E1EA-F14E-0F6D-DD091726257A}"/>
              </a:ext>
            </a:extLst>
          </p:cNvPr>
          <p:cNvSpPr txBox="1"/>
          <p:nvPr/>
        </p:nvSpPr>
        <p:spPr>
          <a:xfrm>
            <a:off x="10020663" y="1509477"/>
            <a:ext cx="173701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dirty="0">
                <a:solidFill>
                  <a:srgbClr val="072151"/>
                </a:solidFill>
                <a:latin typeface="Optika Medium" panose="00000600000000000000" pitchFamily="50" charset="0"/>
              </a:rPr>
              <a:t>MINÉRIO DE</a:t>
            </a:r>
            <a:br>
              <a:rPr lang="pt-BR" b="1" dirty="0">
                <a:solidFill>
                  <a:srgbClr val="072151"/>
                </a:solidFill>
                <a:latin typeface="Optika Black" panose="00000A00000000000000" pitchFamily="50" charset="0"/>
              </a:rPr>
            </a:br>
            <a:r>
              <a:rPr lang="pt-BR" sz="2000" b="1" dirty="0">
                <a:solidFill>
                  <a:srgbClr val="072151"/>
                </a:solidFill>
                <a:latin typeface="Optika Black" panose="00000A00000000000000" pitchFamily="50" charset="0"/>
              </a:rPr>
              <a:t>FERRO</a:t>
            </a:r>
            <a:endParaRPr lang="pt-BR" sz="1800" b="1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B458AD5B-B870-3A9D-9FBC-2785260FA48B}"/>
              </a:ext>
            </a:extLst>
          </p:cNvPr>
          <p:cNvSpPr txBox="1"/>
          <p:nvPr/>
        </p:nvSpPr>
        <p:spPr>
          <a:xfrm>
            <a:off x="1778001" y="1876025"/>
            <a:ext cx="5669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A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extração de minério 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de ferro é um processo complexo que envolve diversas etapas.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58BCB40-4E49-77E4-93A9-264B9517D491}"/>
              </a:ext>
            </a:extLst>
          </p:cNvPr>
          <p:cNvSpPr txBox="1"/>
          <p:nvPr/>
        </p:nvSpPr>
        <p:spPr>
          <a:xfrm>
            <a:off x="1778000" y="3277456"/>
            <a:ext cx="56692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solidFill>
                  <a:srgbClr val="072151"/>
                </a:solidFill>
                <a:latin typeface="Optika" panose="00000500000000000000" pitchFamily="50" charset="0"/>
              </a:rPr>
              <a:t>Uma das etapas consiste no 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beneficiamento, onde é quebrado em pedaços menores e separado de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impurezas.</a:t>
            </a:r>
            <a:endParaRPr lang="pt-BR" sz="1800" b="1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D9E961E-84EF-F1F0-DD65-C3E837F0E0E7}"/>
              </a:ext>
            </a:extLst>
          </p:cNvPr>
          <p:cNvSpPr txBox="1"/>
          <p:nvPr/>
        </p:nvSpPr>
        <p:spPr>
          <a:xfrm>
            <a:off x="1778000" y="4564768"/>
            <a:ext cx="56692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solidFill>
                  <a:srgbClr val="072151"/>
                </a:solidFill>
                <a:latin typeface="Optika" panose="00000500000000000000" pitchFamily="50" charset="0"/>
              </a:rPr>
              <a:t>A </a:t>
            </a:r>
            <a:r>
              <a:rPr lang="pt-BR" sz="1800" b="1" dirty="0">
                <a:solidFill>
                  <a:srgbClr val="072151"/>
                </a:solidFill>
                <a:latin typeface="Optika" panose="00000500000000000000" pitchFamily="50" charset="0"/>
              </a:rPr>
              <a:t>flotação</a:t>
            </a:r>
            <a:r>
              <a:rPr lang="pt-BR" sz="1800" dirty="0">
                <a:solidFill>
                  <a:srgbClr val="072151"/>
                </a:solidFill>
                <a:latin typeface="Optika" panose="00000500000000000000" pitchFamily="50" charset="0"/>
              </a:rPr>
              <a:t> destaca-se como o método mais eficaz para a separação de impurezas devido à sua capacidade de </a:t>
            </a:r>
            <a:r>
              <a:rPr lang="pt-BR" sz="1800" b="1" dirty="0">
                <a:solidFill>
                  <a:srgbClr val="072151"/>
                </a:solidFill>
                <a:latin typeface="Optika" panose="00000500000000000000" pitchFamily="50" charset="0"/>
              </a:rPr>
              <a:t>selecionar partículas </a:t>
            </a:r>
            <a:r>
              <a:rPr lang="pt-BR" sz="1800" dirty="0">
                <a:solidFill>
                  <a:srgbClr val="072151"/>
                </a:solidFill>
                <a:latin typeface="Optika" panose="00000500000000000000" pitchFamily="50" charset="0"/>
              </a:rPr>
              <a:t>minerais com base em suas </a:t>
            </a:r>
            <a:r>
              <a:rPr lang="pt-BR" sz="1800" b="1" dirty="0">
                <a:solidFill>
                  <a:srgbClr val="072151"/>
                </a:solidFill>
                <a:latin typeface="Optika" panose="00000500000000000000" pitchFamily="50" charset="0"/>
              </a:rPr>
              <a:t>propriedades superficiais</a:t>
            </a:r>
            <a:r>
              <a:rPr lang="pt-BR" sz="1800" dirty="0">
                <a:solidFill>
                  <a:srgbClr val="072151"/>
                </a:solidFill>
                <a:latin typeface="Optika" panose="00000500000000000000" pitchFamily="50" charset="0"/>
              </a:rPr>
              <a:t>.</a:t>
            </a:r>
            <a:endParaRPr lang="pt-BR" sz="1800" b="1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FAD2CDBF-1CD8-6B50-66B9-DF54586AC08A}"/>
              </a:ext>
            </a:extLst>
          </p:cNvPr>
          <p:cNvCxnSpPr>
            <a:cxnSpLocks/>
          </p:cNvCxnSpPr>
          <p:nvPr/>
        </p:nvCxnSpPr>
        <p:spPr>
          <a:xfrm>
            <a:off x="1930400" y="2799355"/>
            <a:ext cx="5858692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3424CA9F-6968-5612-6BA9-60F57F9109C7}"/>
              </a:ext>
            </a:extLst>
          </p:cNvPr>
          <p:cNvCxnSpPr>
            <a:cxnSpLocks/>
          </p:cNvCxnSpPr>
          <p:nvPr/>
        </p:nvCxnSpPr>
        <p:spPr>
          <a:xfrm>
            <a:off x="1930400" y="4200786"/>
            <a:ext cx="5858692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7C3070F5-D516-221B-E8AE-F2A0D4736CF6}"/>
              </a:ext>
            </a:extLst>
          </p:cNvPr>
          <p:cNvCxnSpPr>
            <a:cxnSpLocks/>
          </p:cNvCxnSpPr>
          <p:nvPr/>
        </p:nvCxnSpPr>
        <p:spPr>
          <a:xfrm>
            <a:off x="1930400" y="6042096"/>
            <a:ext cx="5858692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756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7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7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A2CBA-7721-B962-087B-4F82DC0A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32D4A7A-EF0C-AF76-6FA3-8D4F6D16CD67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B3E52707-0372-AFA0-38F2-CB3466DD1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5E2767D-012E-81C5-C6E7-AA65A1C05A06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72151"/>
                </a:solidFill>
                <a:latin typeface="Optika Black" panose="00000A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ANÁLISE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794AEBB-2D43-2C9A-A48F-8F73FA9A9789}"/>
              </a:ext>
            </a:extLst>
          </p:cNvPr>
          <p:cNvSpPr txBox="1"/>
          <p:nvPr/>
        </p:nvSpPr>
        <p:spPr>
          <a:xfrm>
            <a:off x="524745" y="445366"/>
            <a:ext cx="11155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PRINCIPAIS PARÂMETROS PARA A EFICIÊNCIA DO BENEFICIAMENTO POR FLOTAÇÃO 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C11E0385-32AB-9FC6-6E89-130FA971DD61}"/>
              </a:ext>
            </a:extLst>
          </p:cNvPr>
          <p:cNvSpPr/>
          <p:nvPr/>
        </p:nvSpPr>
        <p:spPr>
          <a:xfrm>
            <a:off x="7992287" y="1524587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Optika Black" panose="00000A00000000000000" pitchFamily="50" charset="0"/>
              </a:rPr>
              <a:t>FLUXO DE AMIDO</a:t>
            </a:r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8A4F813D-2A7D-AA6B-B879-0669D84C566A}"/>
              </a:ext>
            </a:extLst>
          </p:cNvPr>
          <p:cNvSpPr/>
          <p:nvPr/>
        </p:nvSpPr>
        <p:spPr>
          <a:xfrm>
            <a:off x="7992287" y="2459804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dirty="0">
                <a:latin typeface="Optika Black" panose="00000A00000000000000" pitchFamily="50" charset="0"/>
              </a:rPr>
              <a:t>FLUXO DE AMINA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15E41416-EF1C-9596-4814-03B8944613BB}"/>
              </a:ext>
            </a:extLst>
          </p:cNvPr>
          <p:cNvSpPr/>
          <p:nvPr/>
        </p:nvSpPr>
        <p:spPr>
          <a:xfrm>
            <a:off x="7992287" y="3445821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dirty="0">
                <a:latin typeface="Optika Black" panose="00000A00000000000000" pitchFamily="50" charset="0"/>
              </a:rPr>
              <a:t>FLUXO DA POLPA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44C69162-0D01-0C02-0F1F-487A746F22F4}"/>
              </a:ext>
            </a:extLst>
          </p:cNvPr>
          <p:cNvSpPr/>
          <p:nvPr/>
        </p:nvSpPr>
        <p:spPr>
          <a:xfrm>
            <a:off x="7992287" y="4431838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latin typeface="Optika Black" panose="00000A00000000000000" pitchFamily="50" charset="0"/>
              </a:rPr>
              <a:t>pH DA POLPA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137745D0-31FE-B8B7-41FD-33939E16D1CA}"/>
              </a:ext>
            </a:extLst>
          </p:cNvPr>
          <p:cNvSpPr/>
          <p:nvPr/>
        </p:nvSpPr>
        <p:spPr>
          <a:xfrm>
            <a:off x="7992287" y="5403172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dirty="0">
                <a:latin typeface="Optika Black" panose="00000A00000000000000" pitchFamily="50" charset="0"/>
              </a:rPr>
              <a:t>DENSIDADE DA POLPA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247647AD-E0CD-135A-3508-C1BE96EA409C}"/>
              </a:ext>
            </a:extLst>
          </p:cNvPr>
          <p:cNvSpPr txBox="1"/>
          <p:nvPr/>
        </p:nvSpPr>
        <p:spPr>
          <a:xfrm>
            <a:off x="1849794" y="1557868"/>
            <a:ext cx="4188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Atua como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depressor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 de sílica. 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E603A8A7-265D-5E05-DBED-7A2EC9DDA926}"/>
              </a:ext>
            </a:extLst>
          </p:cNvPr>
          <p:cNvCxnSpPr>
            <a:cxnSpLocks/>
          </p:cNvCxnSpPr>
          <p:nvPr/>
        </p:nvCxnSpPr>
        <p:spPr>
          <a:xfrm>
            <a:off x="1900272" y="1550379"/>
            <a:ext cx="6092015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A618C4F-1398-8857-F528-BF0EFA372575}"/>
              </a:ext>
            </a:extLst>
          </p:cNvPr>
          <p:cNvSpPr txBox="1"/>
          <p:nvPr/>
        </p:nvSpPr>
        <p:spPr>
          <a:xfrm>
            <a:off x="1849794" y="2475457"/>
            <a:ext cx="4188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Atua como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coletor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 de sílica.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91" name="Conector reto 90">
            <a:extLst>
              <a:ext uri="{FF2B5EF4-FFF2-40B4-BE49-F238E27FC236}">
                <a16:creationId xmlns:a16="http://schemas.microsoft.com/office/drawing/2014/main" id="{82677EFA-12D6-C59F-D78C-B6E365EDD43C}"/>
              </a:ext>
            </a:extLst>
          </p:cNvPr>
          <p:cNvCxnSpPr>
            <a:cxnSpLocks/>
          </p:cNvCxnSpPr>
          <p:nvPr/>
        </p:nvCxnSpPr>
        <p:spPr>
          <a:xfrm>
            <a:off x="1938263" y="2477758"/>
            <a:ext cx="6054024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6F809CAD-0C96-B772-AAEB-E1C8AED0F17E}"/>
              </a:ext>
            </a:extLst>
          </p:cNvPr>
          <p:cNvSpPr txBox="1"/>
          <p:nvPr/>
        </p:nvSpPr>
        <p:spPr>
          <a:xfrm>
            <a:off x="1849793" y="3468406"/>
            <a:ext cx="6142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Taxa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 na qual se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move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 pela planta de flotação.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18563A6B-7D43-E9AB-2A67-4D18DB2995D6}"/>
              </a:ext>
            </a:extLst>
          </p:cNvPr>
          <p:cNvCxnSpPr>
            <a:cxnSpLocks/>
          </p:cNvCxnSpPr>
          <p:nvPr/>
        </p:nvCxnSpPr>
        <p:spPr>
          <a:xfrm>
            <a:off x="1900272" y="3459741"/>
            <a:ext cx="6092015" cy="8665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B727CA49-3EE4-D72F-C9CC-08644627E498}"/>
              </a:ext>
            </a:extLst>
          </p:cNvPr>
          <p:cNvSpPr txBox="1"/>
          <p:nvPr/>
        </p:nvSpPr>
        <p:spPr>
          <a:xfrm>
            <a:off x="1849795" y="4472829"/>
            <a:ext cx="6092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Influencia a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eficácia dos reagentes 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de flotação.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1C8315B1-5087-BF2A-1DE4-A4D50A370DBE}"/>
              </a:ext>
            </a:extLst>
          </p:cNvPr>
          <p:cNvCxnSpPr>
            <a:cxnSpLocks/>
          </p:cNvCxnSpPr>
          <p:nvPr/>
        </p:nvCxnSpPr>
        <p:spPr>
          <a:xfrm>
            <a:off x="1900270" y="4452158"/>
            <a:ext cx="6092017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0A9B1E62-7548-E615-3D35-C9510321A7D1}"/>
              </a:ext>
            </a:extLst>
          </p:cNvPr>
          <p:cNvSpPr txBox="1"/>
          <p:nvPr/>
        </p:nvSpPr>
        <p:spPr>
          <a:xfrm>
            <a:off x="1849794" y="5461767"/>
            <a:ext cx="6092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Concentração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 de sólidos na polpa de minério. 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C428B111-50DB-95B7-00CB-63127338E88A}"/>
              </a:ext>
            </a:extLst>
          </p:cNvPr>
          <p:cNvCxnSpPr>
            <a:cxnSpLocks/>
          </p:cNvCxnSpPr>
          <p:nvPr/>
        </p:nvCxnSpPr>
        <p:spPr>
          <a:xfrm>
            <a:off x="1900272" y="5456582"/>
            <a:ext cx="6092015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6345B24B-3139-993D-845C-16EC4D5A2A29}"/>
              </a:ext>
            </a:extLst>
          </p:cNvPr>
          <p:cNvSpPr txBox="1"/>
          <p:nvPr/>
        </p:nvSpPr>
        <p:spPr>
          <a:xfrm>
            <a:off x="2403734" y="1842667"/>
            <a:ext cx="5538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evita que minerais indesejados flutuem para a superfície.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7510D3FD-645E-4A65-FFAD-4FF44FCA7180}"/>
              </a:ext>
            </a:extLst>
          </p:cNvPr>
          <p:cNvSpPr txBox="1"/>
          <p:nvPr/>
        </p:nvSpPr>
        <p:spPr>
          <a:xfrm>
            <a:off x="2403734" y="2811384"/>
            <a:ext cx="55505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tornam certos minerais hidrofóbicos.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9C2A6EDC-1646-FD24-99F7-11FEE02C0E14}"/>
              </a:ext>
            </a:extLst>
          </p:cNvPr>
          <p:cNvSpPr txBox="1"/>
          <p:nvPr/>
        </p:nvSpPr>
        <p:spPr>
          <a:xfrm>
            <a:off x="2403735" y="4750733"/>
            <a:ext cx="5550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afetam o comportamento dos </a:t>
            </a:r>
            <a:r>
              <a:rPr lang="pt-BR" sz="1600" dirty="0" err="1">
                <a:solidFill>
                  <a:srgbClr val="072151"/>
                </a:solidFill>
                <a:latin typeface="Optika" panose="00000500000000000000" pitchFamily="50" charset="0"/>
              </a:rPr>
              <a:t>depressantes</a:t>
            </a:r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 (amido) e dos coletores (amina).</a:t>
            </a:r>
            <a:endParaRPr lang="pt-BR" sz="14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B962AAAC-22DC-5A20-64B3-E191C1E63C03}"/>
              </a:ext>
            </a:extLst>
          </p:cNvPr>
          <p:cNvSpPr txBox="1"/>
          <p:nvPr/>
        </p:nvSpPr>
        <p:spPr>
          <a:xfrm>
            <a:off x="2479040" y="3776323"/>
            <a:ext cx="5462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72151"/>
                </a:solidFill>
                <a:effectLst/>
                <a:latin typeface="Optika" panose="00000500000000000000" pitchFamily="50" charset="0"/>
                <a:ea typeface="Aptos" panose="020B0004020202020204" pitchFamily="34" charset="0"/>
                <a:cs typeface="Times New Roman" panose="02020603050405020304" pitchFamily="18" charset="0"/>
              </a:rPr>
              <a:t>uma mistura de minério, água e produtos químicos.</a:t>
            </a:r>
            <a:endParaRPr lang="pt-BR" sz="1600" dirty="0">
              <a:latin typeface="Optik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45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7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1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8" grpId="0" animBg="1"/>
      <p:bldP spid="79" grpId="0" animBg="1"/>
      <p:bldP spid="80" grpId="0" animBg="1"/>
      <p:bldP spid="85" grpId="0" animBg="1"/>
      <p:bldP spid="86" grpId="0"/>
      <p:bldP spid="90" grpId="0"/>
      <p:bldP spid="92" grpId="0"/>
      <p:bldP spid="94" grpId="0"/>
      <p:bldP spid="96" grpId="0"/>
      <p:bldP spid="99" grpId="0"/>
      <p:bldP spid="100" grpId="0"/>
      <p:bldP spid="101" grpId="0"/>
      <p:bldP spid="1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AA41-8C2C-7DDC-596A-11AB9183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70A33D09-F5A5-43E4-62DA-BBA7E4F2F3B2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9C796877-1672-8D9E-2768-0EBCD24B7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B096D37-F181-A5CC-BD59-A2E52C834DFD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072151"/>
                </a:solidFill>
                <a:latin typeface="Optika Black" panose="00000A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ANÁLISE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CF6EAD2-3C20-E016-00EA-3CE7A6F4CC04}"/>
              </a:ext>
            </a:extLst>
          </p:cNvPr>
          <p:cNvSpPr txBox="1"/>
          <p:nvPr/>
        </p:nvSpPr>
        <p:spPr>
          <a:xfrm>
            <a:off x="524745" y="445366"/>
            <a:ext cx="11155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PARÂMETROS SECUNDÁRIOS PARA A EFICIÊNCIA DO BENEFICIAMENTO POR FLOTAÇÃO </a:t>
            </a:r>
          </a:p>
        </p:txBody>
      </p:sp>
      <p:sp>
        <p:nvSpPr>
          <p:cNvPr id="79" name="Retângulo 78">
            <a:extLst>
              <a:ext uri="{FF2B5EF4-FFF2-40B4-BE49-F238E27FC236}">
                <a16:creationId xmlns:a16="http://schemas.microsoft.com/office/drawing/2014/main" id="{FC0E53BE-4DBF-7C72-AF2D-82A95786DDBF}"/>
              </a:ext>
            </a:extLst>
          </p:cNvPr>
          <p:cNvSpPr/>
          <p:nvPr/>
        </p:nvSpPr>
        <p:spPr>
          <a:xfrm>
            <a:off x="7992287" y="2645718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dirty="0">
                <a:latin typeface="Optika Black" panose="00000A00000000000000" pitchFamily="50" charset="0"/>
              </a:rPr>
              <a:t>FLUXO DE AR</a:t>
            </a:r>
          </a:p>
        </p:txBody>
      </p:sp>
      <p:sp>
        <p:nvSpPr>
          <p:cNvPr id="80" name="Retângulo 79">
            <a:extLst>
              <a:ext uri="{FF2B5EF4-FFF2-40B4-BE49-F238E27FC236}">
                <a16:creationId xmlns:a16="http://schemas.microsoft.com/office/drawing/2014/main" id="{2B2C307E-DB9A-F0F6-052D-DE260F8897F2}"/>
              </a:ext>
            </a:extLst>
          </p:cNvPr>
          <p:cNvSpPr/>
          <p:nvPr/>
        </p:nvSpPr>
        <p:spPr>
          <a:xfrm>
            <a:off x="7992287" y="3631735"/>
            <a:ext cx="3688083" cy="7560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dirty="0">
                <a:latin typeface="Optika Black" panose="00000A00000000000000" pitchFamily="50" charset="0"/>
              </a:rPr>
              <a:t>NÍVEL DA ESPUMA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A1BC9B3E-32BA-9707-48EF-90C3F8C1350D}"/>
              </a:ext>
            </a:extLst>
          </p:cNvPr>
          <p:cNvSpPr txBox="1"/>
          <p:nvPr/>
        </p:nvSpPr>
        <p:spPr>
          <a:xfrm>
            <a:off x="1849793" y="2668303"/>
            <a:ext cx="6142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Controle da quantidade de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 bolhas de ar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.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1839A2F6-313B-AAA7-E80F-CA1771CC7298}"/>
              </a:ext>
            </a:extLst>
          </p:cNvPr>
          <p:cNvCxnSpPr>
            <a:cxnSpLocks/>
          </p:cNvCxnSpPr>
          <p:nvPr/>
        </p:nvCxnSpPr>
        <p:spPr>
          <a:xfrm>
            <a:off x="1900272" y="2659638"/>
            <a:ext cx="6092015" cy="8665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83BC6D4B-E821-F384-BA0D-E51667562713}"/>
              </a:ext>
            </a:extLst>
          </p:cNvPr>
          <p:cNvSpPr txBox="1"/>
          <p:nvPr/>
        </p:nvSpPr>
        <p:spPr>
          <a:xfrm>
            <a:off x="1849795" y="3672726"/>
            <a:ext cx="6092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Altura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 da espuma na célula de </a:t>
            </a:r>
            <a:r>
              <a:rPr lang="pt-BR" b="1" dirty="0">
                <a:solidFill>
                  <a:srgbClr val="072151"/>
                </a:solidFill>
                <a:latin typeface="Optika" panose="00000500000000000000" pitchFamily="50" charset="0"/>
              </a:rPr>
              <a:t>flotação</a:t>
            </a:r>
            <a:r>
              <a:rPr lang="pt-BR" dirty="0">
                <a:solidFill>
                  <a:srgbClr val="072151"/>
                </a:solidFill>
                <a:latin typeface="Optika" panose="00000500000000000000" pitchFamily="50" charset="0"/>
              </a:rPr>
              <a:t>.</a:t>
            </a:r>
            <a:endParaRPr lang="pt-BR" sz="18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cxnSp>
        <p:nvCxnSpPr>
          <p:cNvPr id="95" name="Conector reto 94">
            <a:extLst>
              <a:ext uri="{FF2B5EF4-FFF2-40B4-BE49-F238E27FC236}">
                <a16:creationId xmlns:a16="http://schemas.microsoft.com/office/drawing/2014/main" id="{A52038DA-F973-4A35-B6D0-670B82B75AF0}"/>
              </a:ext>
            </a:extLst>
          </p:cNvPr>
          <p:cNvCxnSpPr>
            <a:cxnSpLocks/>
          </p:cNvCxnSpPr>
          <p:nvPr/>
        </p:nvCxnSpPr>
        <p:spPr>
          <a:xfrm>
            <a:off x="1900270" y="3652055"/>
            <a:ext cx="6092017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0A26722C-63E7-AA98-7605-FD95DF589740}"/>
              </a:ext>
            </a:extLst>
          </p:cNvPr>
          <p:cNvSpPr txBox="1"/>
          <p:nvPr/>
        </p:nvSpPr>
        <p:spPr>
          <a:xfrm>
            <a:off x="2403735" y="3950630"/>
            <a:ext cx="5550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Espuma </a:t>
            </a:r>
            <a:r>
              <a:rPr lang="pt-BR" sz="1600" b="1" dirty="0">
                <a:solidFill>
                  <a:srgbClr val="072151"/>
                </a:solidFill>
                <a:latin typeface="Optika" panose="00000500000000000000" pitchFamily="50" charset="0"/>
              </a:rPr>
              <a:t>alta</a:t>
            </a:r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 inclui ganga, </a:t>
            </a:r>
            <a:r>
              <a:rPr lang="pt-BR" sz="1600" b="1" dirty="0">
                <a:solidFill>
                  <a:srgbClr val="072151"/>
                </a:solidFill>
                <a:latin typeface="Optika" panose="00000500000000000000" pitchFamily="50" charset="0"/>
              </a:rPr>
              <a:t>reduz</a:t>
            </a:r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 qualidade; espuma </a:t>
            </a:r>
            <a:r>
              <a:rPr lang="pt-BR" sz="1600" b="1" dirty="0">
                <a:solidFill>
                  <a:srgbClr val="072151"/>
                </a:solidFill>
                <a:latin typeface="Optika" panose="00000500000000000000" pitchFamily="50" charset="0"/>
              </a:rPr>
              <a:t>baixa</a:t>
            </a:r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 </a:t>
            </a:r>
            <a:r>
              <a:rPr lang="pt-BR" sz="1600" b="1" dirty="0">
                <a:solidFill>
                  <a:srgbClr val="072151"/>
                </a:solidFill>
                <a:latin typeface="Optika" panose="00000500000000000000" pitchFamily="50" charset="0"/>
              </a:rPr>
              <a:t>perde</a:t>
            </a:r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 </a:t>
            </a:r>
            <a:r>
              <a:rPr lang="pt-BR" sz="1600" b="1" dirty="0">
                <a:solidFill>
                  <a:srgbClr val="072151"/>
                </a:solidFill>
                <a:latin typeface="Optika" panose="00000500000000000000" pitchFamily="50" charset="0"/>
              </a:rPr>
              <a:t>minerais</a:t>
            </a:r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</a:rPr>
              <a:t> valiosos nas rejeitas.</a:t>
            </a:r>
            <a:endParaRPr lang="pt-BR" sz="1400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sp>
        <p:nvSpPr>
          <p:cNvPr id="134" name="CaixaDeTexto 133">
            <a:extLst>
              <a:ext uri="{FF2B5EF4-FFF2-40B4-BE49-F238E27FC236}">
                <a16:creationId xmlns:a16="http://schemas.microsoft.com/office/drawing/2014/main" id="{913F1622-104C-B7D8-DF02-6B428B5CFDFE}"/>
              </a:ext>
            </a:extLst>
          </p:cNvPr>
          <p:cNvSpPr txBox="1"/>
          <p:nvPr/>
        </p:nvSpPr>
        <p:spPr>
          <a:xfrm>
            <a:off x="2479040" y="2976220"/>
            <a:ext cx="5462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72151"/>
                </a:solidFill>
                <a:latin typeface="Optika" panose="00000500000000000000" pitchFamily="50" charset="0"/>
                <a:cs typeface="Times New Roman" panose="02020603050405020304" pitchFamily="18" charset="0"/>
              </a:rPr>
              <a:t>atua para minimizar o arraste e maximizar adesão de impurezas.</a:t>
            </a:r>
            <a:endParaRPr lang="pt-BR" sz="1600" dirty="0">
              <a:latin typeface="Optika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844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8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1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92" grpId="0"/>
      <p:bldP spid="94" grpId="0"/>
      <p:bldP spid="101" grpId="0"/>
      <p:bldP spid="1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6B9BC-A83D-A599-CAA8-A4B7DA6D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4DCA3C5-44AF-115D-F854-4A07B909429C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02CD38AB-5854-A972-1D4C-AC0F2ABA75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CDAAD4C-14B0-011A-1503-5062B9A73E09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3C03CBD-FCBC-4744-873B-CAE23A6E7934}"/>
              </a:ext>
            </a:extLst>
          </p:cNvPr>
          <p:cNvSpPr txBox="1"/>
          <p:nvPr/>
        </p:nvSpPr>
        <p:spPr>
          <a:xfrm>
            <a:off x="524745" y="445366"/>
            <a:ext cx="11155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QUAL DESSES PARÂMETROS PODE CONTRIBUIR PARA REDUÇÃO DE IMPUREZAS?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656097C5-5177-2015-FC02-82AF6411646E}"/>
              </a:ext>
            </a:extLst>
          </p:cNvPr>
          <p:cNvCxnSpPr>
            <a:cxnSpLocks/>
          </p:cNvCxnSpPr>
          <p:nvPr/>
        </p:nvCxnSpPr>
        <p:spPr>
          <a:xfrm>
            <a:off x="2185405" y="2480342"/>
            <a:ext cx="9494966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C416D4F-4806-8B11-32A0-F9BF8CFD27A0}"/>
              </a:ext>
            </a:extLst>
          </p:cNvPr>
          <p:cNvCxnSpPr>
            <a:cxnSpLocks/>
          </p:cNvCxnSpPr>
          <p:nvPr/>
        </p:nvCxnSpPr>
        <p:spPr>
          <a:xfrm>
            <a:off x="2185407" y="3561212"/>
            <a:ext cx="9494964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C428A00-29AD-671C-2838-CF736FFDB80F}"/>
              </a:ext>
            </a:extLst>
          </p:cNvPr>
          <p:cNvSpPr txBox="1"/>
          <p:nvPr/>
        </p:nvSpPr>
        <p:spPr>
          <a:xfrm>
            <a:off x="2688870" y="2662026"/>
            <a:ext cx="89915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rgbClr val="072151"/>
                </a:solidFill>
                <a:latin typeface="Optika" panose="00000500000000000000" pitchFamily="50" charset="0"/>
              </a:rPr>
              <a:t>A </a:t>
            </a:r>
            <a:r>
              <a:rPr lang="pt-BR" sz="2000" b="1" dirty="0">
                <a:solidFill>
                  <a:srgbClr val="072151"/>
                </a:solidFill>
                <a:latin typeface="Optika" panose="00000500000000000000" pitchFamily="50" charset="0"/>
              </a:rPr>
              <a:t>redução</a:t>
            </a:r>
            <a:r>
              <a:rPr lang="pt-BR" sz="2000" dirty="0">
                <a:solidFill>
                  <a:srgbClr val="072151"/>
                </a:solidFill>
                <a:latin typeface="Optika" panose="00000500000000000000" pitchFamily="50" charset="0"/>
              </a:rPr>
              <a:t> de impurezas está diretamente impactada pelo fluxo de </a:t>
            </a:r>
            <a:r>
              <a:rPr lang="pt-BR" sz="2000" b="1" dirty="0">
                <a:solidFill>
                  <a:srgbClr val="072151"/>
                </a:solidFill>
                <a:latin typeface="Optika" panose="00000500000000000000" pitchFamily="50" charset="0"/>
              </a:rPr>
              <a:t>amido/amina</a:t>
            </a:r>
            <a:r>
              <a:rPr lang="pt-BR" sz="2000" dirty="0">
                <a:solidFill>
                  <a:srgbClr val="072151"/>
                </a:solidFill>
                <a:latin typeface="Optika" panose="00000500000000000000" pitchFamily="50" charset="0"/>
              </a:rPr>
              <a:t> nas colunas de flotação?</a:t>
            </a:r>
            <a:endParaRPr lang="pt-BR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219A1EC-CA4D-EDAC-AA2A-8D2B1EC8EF6D}"/>
              </a:ext>
            </a:extLst>
          </p:cNvPr>
          <p:cNvSpPr txBox="1"/>
          <p:nvPr/>
        </p:nvSpPr>
        <p:spPr>
          <a:xfrm>
            <a:off x="1861666" y="2545549"/>
            <a:ext cx="29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72151"/>
                </a:solidFill>
                <a:latin typeface="Optika Black" panose="00000A00000000000000" pitchFamily="50" charset="0"/>
              </a:rPr>
              <a:t>1</a:t>
            </a:r>
            <a:endParaRPr lang="pt-BR" sz="4000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849AE2A8-2865-4EDB-EF02-35DB6E795BDF}"/>
              </a:ext>
            </a:extLst>
          </p:cNvPr>
          <p:cNvCxnSpPr>
            <a:cxnSpLocks/>
          </p:cNvCxnSpPr>
          <p:nvPr/>
        </p:nvCxnSpPr>
        <p:spPr>
          <a:xfrm>
            <a:off x="2185405" y="4153333"/>
            <a:ext cx="9494966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DFCB3B2-1819-266A-5BAB-656838B43B0A}"/>
              </a:ext>
            </a:extLst>
          </p:cNvPr>
          <p:cNvCxnSpPr>
            <a:cxnSpLocks/>
          </p:cNvCxnSpPr>
          <p:nvPr/>
        </p:nvCxnSpPr>
        <p:spPr>
          <a:xfrm>
            <a:off x="2185407" y="5234203"/>
            <a:ext cx="9494964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C8A3CA8-D194-38EC-E57C-EE12AEE1FADA}"/>
              </a:ext>
            </a:extLst>
          </p:cNvPr>
          <p:cNvSpPr txBox="1"/>
          <p:nvPr/>
        </p:nvSpPr>
        <p:spPr>
          <a:xfrm>
            <a:off x="2688870" y="4335017"/>
            <a:ext cx="89915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solidFill>
                  <a:srgbClr val="072151"/>
                </a:solidFill>
                <a:latin typeface="Optika" panose="00000500000000000000" pitchFamily="50" charset="0"/>
              </a:rPr>
              <a:t>A </a:t>
            </a:r>
            <a:r>
              <a:rPr lang="pt-BR" sz="2000" b="1" dirty="0">
                <a:solidFill>
                  <a:srgbClr val="072151"/>
                </a:solidFill>
                <a:latin typeface="Optika" panose="00000500000000000000" pitchFamily="50" charset="0"/>
              </a:rPr>
              <a:t>qualidade</a:t>
            </a:r>
            <a:r>
              <a:rPr lang="pt-BR" sz="2000" dirty="0">
                <a:solidFill>
                  <a:srgbClr val="072151"/>
                </a:solidFill>
                <a:latin typeface="Optika" panose="00000500000000000000" pitchFamily="50" charset="0"/>
              </a:rPr>
              <a:t> do minério é diretamente impactada pelo </a:t>
            </a:r>
            <a:r>
              <a:rPr lang="pt-BR" sz="2000" b="1" dirty="0">
                <a:solidFill>
                  <a:srgbClr val="072151"/>
                </a:solidFill>
                <a:latin typeface="Optika" panose="00000500000000000000" pitchFamily="50" charset="0"/>
              </a:rPr>
              <a:t>pH</a:t>
            </a:r>
            <a:r>
              <a:rPr lang="pt-BR" sz="2000" dirty="0">
                <a:solidFill>
                  <a:srgbClr val="072151"/>
                </a:solidFill>
                <a:latin typeface="Optika" panose="00000500000000000000" pitchFamily="50" charset="0"/>
              </a:rPr>
              <a:t> da polpa?</a:t>
            </a:r>
            <a:endParaRPr lang="pt-BR" dirty="0">
              <a:solidFill>
                <a:srgbClr val="072151"/>
              </a:solidFill>
              <a:latin typeface="Optika" panose="00000500000000000000" pitchFamily="50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5C6D32-63B5-1AFF-402E-1CF685CDCDA1}"/>
              </a:ext>
            </a:extLst>
          </p:cNvPr>
          <p:cNvSpPr txBox="1"/>
          <p:nvPr/>
        </p:nvSpPr>
        <p:spPr>
          <a:xfrm>
            <a:off x="1861666" y="4218540"/>
            <a:ext cx="29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72151"/>
                </a:solidFill>
                <a:latin typeface="Optika Black" panose="00000A00000000000000" pitchFamily="50" charset="0"/>
              </a:rPr>
              <a:t>2</a:t>
            </a:r>
            <a:endParaRPr lang="pt-BR" sz="4000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61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2A11A-2AEE-7495-6ED6-CAC3C7FA1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10BB1DE-C803-9AE6-78CD-3BE554AAEE75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4FBE6532-248A-0B4F-9CA2-CBFCFDB29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A4B5A2E-89AC-27CC-2361-AA0743847412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C61085E-26D9-8030-A130-0BB734EA0D0E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  <p:sp>
        <p:nvSpPr>
          <p:cNvPr id="3" name="Google Shape;979;p28">
            <a:extLst>
              <a:ext uri="{FF2B5EF4-FFF2-40B4-BE49-F238E27FC236}">
                <a16:creationId xmlns:a16="http://schemas.microsoft.com/office/drawing/2014/main" id="{445D5D47-A789-48B7-B4FF-FBCBC195D9F9}"/>
              </a:ext>
            </a:extLst>
          </p:cNvPr>
          <p:cNvSpPr/>
          <p:nvPr/>
        </p:nvSpPr>
        <p:spPr>
          <a:xfrm>
            <a:off x="2000046" y="3124675"/>
            <a:ext cx="1822582" cy="17742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grpSp>
        <p:nvGrpSpPr>
          <p:cNvPr id="4" name="Google Shape;980;p28">
            <a:extLst>
              <a:ext uri="{FF2B5EF4-FFF2-40B4-BE49-F238E27FC236}">
                <a16:creationId xmlns:a16="http://schemas.microsoft.com/office/drawing/2014/main" id="{E6F6CACA-65DA-6403-03B3-ABE70FC739E3}"/>
              </a:ext>
            </a:extLst>
          </p:cNvPr>
          <p:cNvGrpSpPr/>
          <p:nvPr/>
        </p:nvGrpSpPr>
        <p:grpSpPr>
          <a:xfrm>
            <a:off x="2013565" y="3509203"/>
            <a:ext cx="1795544" cy="1005151"/>
            <a:chOff x="-2274414" y="1330575"/>
            <a:chExt cx="2426739" cy="1005151"/>
          </a:xfrm>
          <a:solidFill>
            <a:srgbClr val="072151"/>
          </a:solidFill>
        </p:grpSpPr>
        <p:sp>
          <p:nvSpPr>
            <p:cNvPr id="11" name="Google Shape;981;p28">
              <a:extLst>
                <a:ext uri="{FF2B5EF4-FFF2-40B4-BE49-F238E27FC236}">
                  <a16:creationId xmlns:a16="http://schemas.microsoft.com/office/drawing/2014/main" id="{F03CE323-BC30-F8E4-AC21-6A8FE50C7549}"/>
                </a:ext>
              </a:extLst>
            </p:cNvPr>
            <p:cNvSpPr txBox="1"/>
            <p:nvPr/>
          </p:nvSpPr>
          <p:spPr>
            <a:xfrm>
              <a:off x="-2082427" y="1330575"/>
              <a:ext cx="1980300" cy="348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 b="1" dirty="0">
                  <a:solidFill>
                    <a:schemeClr val="bg1"/>
                  </a:solidFill>
                  <a:latin typeface="Optika" panose="00000500000000000000" pitchFamily="50" charset="0"/>
                  <a:ea typeface="Fira Sans Extra Condensed"/>
                  <a:cs typeface="Fira Sans Extra Condensed"/>
                  <a:sym typeface="Fira Sans Extra Condensed"/>
                </a:rPr>
                <a:t>COLETA</a:t>
              </a:r>
              <a:endParaRPr sz="1800" b="1" dirty="0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2" name="Google Shape;982;p28">
              <a:extLst>
                <a:ext uri="{FF2B5EF4-FFF2-40B4-BE49-F238E27FC236}">
                  <a16:creationId xmlns:a16="http://schemas.microsoft.com/office/drawing/2014/main" id="{1F8E974E-72FC-F85D-C2B4-BB80E172DE1A}"/>
                </a:ext>
              </a:extLst>
            </p:cNvPr>
            <p:cNvSpPr txBox="1"/>
            <p:nvPr/>
          </p:nvSpPr>
          <p:spPr>
            <a:xfrm>
              <a:off x="-2274414" y="1609426"/>
              <a:ext cx="2426739" cy="726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bg1"/>
                  </a:solidFill>
                  <a:latin typeface="Optika" panose="00000500000000000000" pitchFamily="50" charset="0"/>
                  <a:ea typeface="Roboto"/>
                  <a:cs typeface="Roboto"/>
                  <a:sym typeface="Roboto"/>
                </a:rPr>
                <a:t>D</a:t>
              </a:r>
              <a:r>
                <a:rPr lang="en" sz="1200" dirty="0">
                  <a:solidFill>
                    <a:schemeClr val="bg1"/>
                  </a:solidFill>
                  <a:latin typeface="Optika" panose="00000500000000000000" pitchFamily="50" charset="0"/>
                  <a:ea typeface="Roboto"/>
                  <a:cs typeface="Roboto"/>
                  <a:sym typeface="Roboto"/>
                </a:rPr>
                <a:t>ados necessários para a </a:t>
              </a:r>
              <a:r>
                <a:rPr lang="pt-BR" sz="1200" dirty="0">
                  <a:solidFill>
                    <a:schemeClr val="bg1"/>
                  </a:solidFill>
                  <a:latin typeface="Optika" panose="00000500000000000000" pitchFamily="50" charset="0"/>
                  <a:ea typeface="Roboto"/>
                  <a:cs typeface="Roboto"/>
                  <a:sym typeface="Roboto"/>
                </a:rPr>
                <a:t>análise </a:t>
              </a:r>
              <a:endParaRPr sz="1200" dirty="0">
                <a:solidFill>
                  <a:schemeClr val="bg1"/>
                </a:solidFill>
                <a:latin typeface="Optika" panose="00000500000000000000" pitchFamily="50" charset="0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0" name="Google Shape;984;p28">
            <a:extLst>
              <a:ext uri="{FF2B5EF4-FFF2-40B4-BE49-F238E27FC236}">
                <a16:creationId xmlns:a16="http://schemas.microsoft.com/office/drawing/2014/main" id="{35B0A02E-C938-A411-EDCF-F75222D3B013}"/>
              </a:ext>
            </a:extLst>
          </p:cNvPr>
          <p:cNvSpPr/>
          <p:nvPr/>
        </p:nvSpPr>
        <p:spPr>
          <a:xfrm>
            <a:off x="2624987" y="4975302"/>
            <a:ext cx="572700" cy="5727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rPr>
              <a:t>1</a:t>
            </a:r>
            <a:endParaRPr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cxnSp>
        <p:nvCxnSpPr>
          <p:cNvPr id="13" name="Google Shape;985;p28">
            <a:extLst>
              <a:ext uri="{FF2B5EF4-FFF2-40B4-BE49-F238E27FC236}">
                <a16:creationId xmlns:a16="http://schemas.microsoft.com/office/drawing/2014/main" id="{616C41D9-BBDD-7BDD-F08D-0FD7E27AC244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1617554" y="5261652"/>
            <a:ext cx="1007433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987;p28">
            <a:extLst>
              <a:ext uri="{FF2B5EF4-FFF2-40B4-BE49-F238E27FC236}">
                <a16:creationId xmlns:a16="http://schemas.microsoft.com/office/drawing/2014/main" id="{B6BDDAF9-7DF1-A786-F288-3A89AFE07A05}"/>
              </a:ext>
            </a:extLst>
          </p:cNvPr>
          <p:cNvSpPr/>
          <p:nvPr/>
        </p:nvSpPr>
        <p:spPr>
          <a:xfrm>
            <a:off x="3923642" y="3124675"/>
            <a:ext cx="2071342" cy="17742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grpSp>
        <p:nvGrpSpPr>
          <p:cNvPr id="16" name="Google Shape;988;p28">
            <a:extLst>
              <a:ext uri="{FF2B5EF4-FFF2-40B4-BE49-F238E27FC236}">
                <a16:creationId xmlns:a16="http://schemas.microsoft.com/office/drawing/2014/main" id="{1F9B271F-4FB3-1902-CA6C-29DEFDE17FF3}"/>
              </a:ext>
            </a:extLst>
          </p:cNvPr>
          <p:cNvGrpSpPr/>
          <p:nvPr/>
        </p:nvGrpSpPr>
        <p:grpSpPr>
          <a:xfrm>
            <a:off x="3980947" y="3509203"/>
            <a:ext cx="1956733" cy="1005151"/>
            <a:chOff x="-2082462" y="1330575"/>
            <a:chExt cx="1980335" cy="1005151"/>
          </a:xfrm>
          <a:solidFill>
            <a:srgbClr val="072151"/>
          </a:solidFill>
        </p:grpSpPr>
        <p:sp>
          <p:nvSpPr>
            <p:cNvPr id="19" name="Google Shape;989;p28">
              <a:extLst>
                <a:ext uri="{FF2B5EF4-FFF2-40B4-BE49-F238E27FC236}">
                  <a16:creationId xmlns:a16="http://schemas.microsoft.com/office/drawing/2014/main" id="{A0621A9B-413B-070D-9F36-051F9C4B1D0C}"/>
                </a:ext>
              </a:extLst>
            </p:cNvPr>
            <p:cNvSpPr txBox="1"/>
            <p:nvPr/>
          </p:nvSpPr>
          <p:spPr>
            <a:xfrm>
              <a:off x="-2082427" y="1330575"/>
              <a:ext cx="1980300" cy="348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 b="1" dirty="0">
                  <a:solidFill>
                    <a:schemeClr val="bg1"/>
                  </a:solidFill>
                  <a:latin typeface="Optika" panose="00000500000000000000" pitchFamily="50" charset="0"/>
                  <a:ea typeface="Fira Sans Extra Condensed"/>
                  <a:cs typeface="Fira Sans Extra Condensed"/>
                  <a:sym typeface="Fira Sans Extra Condensed"/>
                </a:rPr>
                <a:t>LIMPEZA </a:t>
              </a:r>
              <a:endParaRPr sz="1800" b="1" dirty="0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" name="Google Shape;990;p28">
              <a:extLst>
                <a:ext uri="{FF2B5EF4-FFF2-40B4-BE49-F238E27FC236}">
                  <a16:creationId xmlns:a16="http://schemas.microsoft.com/office/drawing/2014/main" id="{7396501F-3522-FCED-95C1-4AD7CB70F23E}"/>
                </a:ext>
              </a:extLst>
            </p:cNvPr>
            <p:cNvSpPr txBox="1"/>
            <p:nvPr/>
          </p:nvSpPr>
          <p:spPr>
            <a:xfrm>
              <a:off x="-2082462" y="1609426"/>
              <a:ext cx="1980300" cy="726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bg1"/>
                  </a:solidFill>
                  <a:latin typeface="Optika" panose="00000500000000000000" pitchFamily="50" charset="0"/>
                  <a:ea typeface="Roboto"/>
                  <a:cs typeface="Roboto"/>
                  <a:sym typeface="Roboto"/>
                </a:rPr>
                <a:t>Inconsistências, erros ou informações incompletas são tratadas.</a:t>
              </a:r>
              <a:endParaRPr sz="1200" dirty="0">
                <a:solidFill>
                  <a:schemeClr val="bg1"/>
                </a:solidFill>
                <a:latin typeface="Optika" panose="00000500000000000000" pitchFamily="50" charset="0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8" name="Google Shape;992;p28">
            <a:extLst>
              <a:ext uri="{FF2B5EF4-FFF2-40B4-BE49-F238E27FC236}">
                <a16:creationId xmlns:a16="http://schemas.microsoft.com/office/drawing/2014/main" id="{498D2472-B664-C5D6-6B5B-778EB9D5DF9F}"/>
              </a:ext>
            </a:extLst>
          </p:cNvPr>
          <p:cNvSpPr/>
          <p:nvPr/>
        </p:nvSpPr>
        <p:spPr>
          <a:xfrm>
            <a:off x="4672963" y="4975302"/>
            <a:ext cx="572700" cy="5727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rPr>
              <a:t>2</a:t>
            </a:r>
            <a:endParaRPr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sp>
        <p:nvSpPr>
          <p:cNvPr id="22" name="Google Shape;994;p28">
            <a:extLst>
              <a:ext uri="{FF2B5EF4-FFF2-40B4-BE49-F238E27FC236}">
                <a16:creationId xmlns:a16="http://schemas.microsoft.com/office/drawing/2014/main" id="{4AA98D33-773D-01A6-F398-65F2E0738043}"/>
              </a:ext>
            </a:extLst>
          </p:cNvPr>
          <p:cNvSpPr/>
          <p:nvPr/>
        </p:nvSpPr>
        <p:spPr>
          <a:xfrm>
            <a:off x="6095998" y="3124675"/>
            <a:ext cx="2232000" cy="17742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grpSp>
        <p:nvGrpSpPr>
          <p:cNvPr id="23" name="Google Shape;995;p28">
            <a:extLst>
              <a:ext uri="{FF2B5EF4-FFF2-40B4-BE49-F238E27FC236}">
                <a16:creationId xmlns:a16="http://schemas.microsoft.com/office/drawing/2014/main" id="{9CBE9228-7DCB-FAFD-E8A9-4AF69BF9B822}"/>
              </a:ext>
            </a:extLst>
          </p:cNvPr>
          <p:cNvGrpSpPr/>
          <p:nvPr/>
        </p:nvGrpSpPr>
        <p:grpSpPr>
          <a:xfrm>
            <a:off x="6095988" y="3509203"/>
            <a:ext cx="2222195" cy="1005151"/>
            <a:chOff x="-3001117" y="1330575"/>
            <a:chExt cx="3003372" cy="1005151"/>
          </a:xfrm>
          <a:solidFill>
            <a:srgbClr val="072151"/>
          </a:solidFill>
        </p:grpSpPr>
        <p:sp>
          <p:nvSpPr>
            <p:cNvPr id="26" name="Google Shape;996;p28">
              <a:extLst>
                <a:ext uri="{FF2B5EF4-FFF2-40B4-BE49-F238E27FC236}">
                  <a16:creationId xmlns:a16="http://schemas.microsoft.com/office/drawing/2014/main" id="{DCCC1DCE-2799-E7BF-5A53-DA4EA0177728}"/>
                </a:ext>
              </a:extLst>
            </p:cNvPr>
            <p:cNvSpPr txBox="1"/>
            <p:nvPr/>
          </p:nvSpPr>
          <p:spPr>
            <a:xfrm>
              <a:off x="-3001117" y="1330575"/>
              <a:ext cx="3003359" cy="348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 b="1" dirty="0">
                  <a:solidFill>
                    <a:schemeClr val="bg1"/>
                  </a:solidFill>
                  <a:latin typeface="Optika" panose="00000500000000000000" pitchFamily="50" charset="0"/>
                  <a:ea typeface="Fira Sans Extra Condensed"/>
                  <a:cs typeface="Fira Sans Extra Condensed"/>
                  <a:sym typeface="Fira Sans Extra Condensed"/>
                </a:rPr>
                <a:t>EXPLORAÇÃO</a:t>
              </a:r>
              <a:endParaRPr sz="1800" b="1" dirty="0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7" name="Google Shape;997;p28">
              <a:extLst>
                <a:ext uri="{FF2B5EF4-FFF2-40B4-BE49-F238E27FC236}">
                  <a16:creationId xmlns:a16="http://schemas.microsoft.com/office/drawing/2014/main" id="{55FDE9F0-0970-4BC9-96CC-F7A1456A5E09}"/>
                </a:ext>
              </a:extLst>
            </p:cNvPr>
            <p:cNvSpPr txBox="1"/>
            <p:nvPr/>
          </p:nvSpPr>
          <p:spPr>
            <a:xfrm>
              <a:off x="-3001109" y="1609426"/>
              <a:ext cx="3003364" cy="726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bg1"/>
                  </a:solidFill>
                  <a:latin typeface="Optika" panose="00000500000000000000" pitchFamily="50" charset="0"/>
                  <a:ea typeface="Roboto"/>
                  <a:cs typeface="Roboto"/>
                  <a:sym typeface="Roboto"/>
                </a:rPr>
                <a:t>Aplicação de técnicas estatísticas e visualizações para entender os dados.</a:t>
              </a:r>
              <a:endParaRPr sz="1200" dirty="0">
                <a:solidFill>
                  <a:schemeClr val="bg1"/>
                </a:solidFill>
                <a:latin typeface="Optika" panose="00000500000000000000" pitchFamily="50" charset="0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4" name="Google Shape;998;p28">
            <a:extLst>
              <a:ext uri="{FF2B5EF4-FFF2-40B4-BE49-F238E27FC236}">
                <a16:creationId xmlns:a16="http://schemas.microsoft.com/office/drawing/2014/main" id="{3E214B21-342A-055E-64A9-AD34D0060CBB}"/>
              </a:ext>
            </a:extLst>
          </p:cNvPr>
          <p:cNvSpPr/>
          <p:nvPr/>
        </p:nvSpPr>
        <p:spPr>
          <a:xfrm>
            <a:off x="6709543" y="2053151"/>
            <a:ext cx="995100" cy="9951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sp>
        <p:nvSpPr>
          <p:cNvPr id="25" name="Google Shape;999;p28">
            <a:extLst>
              <a:ext uri="{FF2B5EF4-FFF2-40B4-BE49-F238E27FC236}">
                <a16:creationId xmlns:a16="http://schemas.microsoft.com/office/drawing/2014/main" id="{2469A667-FCEF-6F32-F9CE-5C440C1136C1}"/>
              </a:ext>
            </a:extLst>
          </p:cNvPr>
          <p:cNvSpPr/>
          <p:nvPr/>
        </p:nvSpPr>
        <p:spPr>
          <a:xfrm>
            <a:off x="6920743" y="4975302"/>
            <a:ext cx="572700" cy="5727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rPr>
              <a:t>3</a:t>
            </a:r>
            <a:endParaRPr sz="1800"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sp>
        <p:nvSpPr>
          <p:cNvPr id="29" name="Google Shape;1001;p28">
            <a:extLst>
              <a:ext uri="{FF2B5EF4-FFF2-40B4-BE49-F238E27FC236}">
                <a16:creationId xmlns:a16="http://schemas.microsoft.com/office/drawing/2014/main" id="{6E035939-4D77-614C-94EB-A2DBECEEC5F7}"/>
              </a:ext>
            </a:extLst>
          </p:cNvPr>
          <p:cNvSpPr/>
          <p:nvPr/>
        </p:nvSpPr>
        <p:spPr>
          <a:xfrm>
            <a:off x="8466910" y="3124675"/>
            <a:ext cx="2412000" cy="17742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grpSp>
        <p:nvGrpSpPr>
          <p:cNvPr id="30" name="Google Shape;1002;p28">
            <a:extLst>
              <a:ext uri="{FF2B5EF4-FFF2-40B4-BE49-F238E27FC236}">
                <a16:creationId xmlns:a16="http://schemas.microsoft.com/office/drawing/2014/main" id="{A5B9C91F-210C-7D85-1787-3091E2D75D2C}"/>
              </a:ext>
            </a:extLst>
          </p:cNvPr>
          <p:cNvGrpSpPr/>
          <p:nvPr/>
        </p:nvGrpSpPr>
        <p:grpSpPr>
          <a:xfrm>
            <a:off x="8469129" y="3509203"/>
            <a:ext cx="2407562" cy="1005151"/>
            <a:chOff x="-2291240" y="1330575"/>
            <a:chExt cx="3253904" cy="1005151"/>
          </a:xfrm>
          <a:solidFill>
            <a:srgbClr val="072151"/>
          </a:solidFill>
        </p:grpSpPr>
        <p:sp>
          <p:nvSpPr>
            <p:cNvPr id="33" name="Google Shape;1003;p28">
              <a:extLst>
                <a:ext uri="{FF2B5EF4-FFF2-40B4-BE49-F238E27FC236}">
                  <a16:creationId xmlns:a16="http://schemas.microsoft.com/office/drawing/2014/main" id="{61153555-89AA-D31F-0324-F15614EC94D9}"/>
                </a:ext>
              </a:extLst>
            </p:cNvPr>
            <p:cNvSpPr txBox="1"/>
            <p:nvPr/>
          </p:nvSpPr>
          <p:spPr>
            <a:xfrm>
              <a:off x="-2291240" y="1330575"/>
              <a:ext cx="3253903" cy="3486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b="1" dirty="0">
                  <a:solidFill>
                    <a:schemeClr val="bg1"/>
                  </a:solidFill>
                  <a:latin typeface="Optika" panose="00000500000000000000" pitchFamily="50" charset="0"/>
                  <a:ea typeface="Fira Sans Extra Condensed"/>
                  <a:cs typeface="Fira Sans Extra Condensed"/>
                  <a:sym typeface="Fira Sans Extra Condensed"/>
                </a:rPr>
                <a:t>INTERPRETAÇÃO</a:t>
              </a:r>
              <a:endParaRPr sz="1800" b="1" dirty="0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34" name="Google Shape;1004;p28">
              <a:extLst>
                <a:ext uri="{FF2B5EF4-FFF2-40B4-BE49-F238E27FC236}">
                  <a16:creationId xmlns:a16="http://schemas.microsoft.com/office/drawing/2014/main" id="{AC4E9666-223E-1491-E5FD-18719C5EC95C}"/>
                </a:ext>
              </a:extLst>
            </p:cNvPr>
            <p:cNvSpPr txBox="1"/>
            <p:nvPr/>
          </p:nvSpPr>
          <p:spPr>
            <a:xfrm>
              <a:off x="-2245564" y="1609426"/>
              <a:ext cx="3208228" cy="7263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chemeClr val="bg1"/>
                  </a:solidFill>
                  <a:latin typeface="Optika" panose="00000500000000000000" pitchFamily="50" charset="0"/>
                  <a:ea typeface="Roboto"/>
                  <a:cs typeface="Roboto"/>
                  <a:sym typeface="Roboto"/>
                </a:rPr>
                <a:t>Gerar insights e avaliar se as conclusões obtidas.</a:t>
              </a:r>
              <a:endParaRPr sz="1200" dirty="0">
                <a:solidFill>
                  <a:schemeClr val="bg1"/>
                </a:solidFill>
                <a:latin typeface="Optika" panose="00000500000000000000" pitchFamily="50" charset="0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2" name="Google Shape;1006;p28">
            <a:extLst>
              <a:ext uri="{FF2B5EF4-FFF2-40B4-BE49-F238E27FC236}">
                <a16:creationId xmlns:a16="http://schemas.microsoft.com/office/drawing/2014/main" id="{48D9B3A1-A820-4100-18F3-7C3BD975D310}"/>
              </a:ext>
            </a:extLst>
          </p:cNvPr>
          <p:cNvSpPr/>
          <p:nvPr/>
        </p:nvSpPr>
        <p:spPr>
          <a:xfrm>
            <a:off x="9396392" y="4975302"/>
            <a:ext cx="572700" cy="572700"/>
          </a:xfrm>
          <a:prstGeom prst="rect">
            <a:avLst/>
          </a:prstGeom>
          <a:solidFill>
            <a:srgbClr val="0721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chemeClr val="bg1"/>
                </a:solidFill>
                <a:latin typeface="Optika" panose="00000500000000000000" pitchFamily="50" charset="0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dirty="0"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cxnSp>
        <p:nvCxnSpPr>
          <p:cNvPr id="35" name="Google Shape;1007;p28">
            <a:extLst>
              <a:ext uri="{FF2B5EF4-FFF2-40B4-BE49-F238E27FC236}">
                <a16:creationId xmlns:a16="http://schemas.microsoft.com/office/drawing/2014/main" id="{DD87994D-F7E1-9DB7-B4EA-1027098D0E4B}"/>
              </a:ext>
            </a:extLst>
          </p:cNvPr>
          <p:cNvCxnSpPr>
            <a:cxnSpLocks/>
            <a:endCxn id="32" idx="3"/>
          </p:cNvCxnSpPr>
          <p:nvPr/>
        </p:nvCxnSpPr>
        <p:spPr>
          <a:xfrm flipH="1">
            <a:off x="9969092" y="5261652"/>
            <a:ext cx="11905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1008;p28">
            <a:extLst>
              <a:ext uri="{FF2B5EF4-FFF2-40B4-BE49-F238E27FC236}">
                <a16:creationId xmlns:a16="http://schemas.microsoft.com/office/drawing/2014/main" id="{B097DA0C-665C-445E-347C-D2E2048B51DF}"/>
              </a:ext>
            </a:extLst>
          </p:cNvPr>
          <p:cNvCxnSpPr>
            <a:cxnSpLocks/>
            <a:stCxn id="32" idx="1"/>
            <a:endCxn id="25" idx="3"/>
          </p:cNvCxnSpPr>
          <p:nvPr/>
        </p:nvCxnSpPr>
        <p:spPr>
          <a:xfrm flipH="1">
            <a:off x="7493443" y="5261652"/>
            <a:ext cx="190294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1009;p28">
            <a:extLst>
              <a:ext uri="{FF2B5EF4-FFF2-40B4-BE49-F238E27FC236}">
                <a16:creationId xmlns:a16="http://schemas.microsoft.com/office/drawing/2014/main" id="{CAAFE5AB-6BD8-C338-5F07-F3543E52139B}"/>
              </a:ext>
            </a:extLst>
          </p:cNvPr>
          <p:cNvCxnSpPr>
            <a:cxnSpLocks/>
            <a:stCxn id="25" idx="1"/>
            <a:endCxn id="18" idx="3"/>
          </p:cNvCxnSpPr>
          <p:nvPr/>
        </p:nvCxnSpPr>
        <p:spPr>
          <a:xfrm flipH="1">
            <a:off x="5245663" y="5261652"/>
            <a:ext cx="167508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1010;p28">
            <a:extLst>
              <a:ext uri="{FF2B5EF4-FFF2-40B4-BE49-F238E27FC236}">
                <a16:creationId xmlns:a16="http://schemas.microsoft.com/office/drawing/2014/main" id="{D0AFED14-0814-3C01-6421-E8916AED420C}"/>
              </a:ext>
            </a:extLst>
          </p:cNvPr>
          <p:cNvCxnSpPr>
            <a:cxnSpLocks/>
            <a:stCxn id="18" idx="1"/>
            <a:endCxn id="10" idx="3"/>
          </p:cNvCxnSpPr>
          <p:nvPr/>
        </p:nvCxnSpPr>
        <p:spPr>
          <a:xfrm flipH="1">
            <a:off x="3197687" y="5261652"/>
            <a:ext cx="1475276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BE821C98-354E-1ABA-2959-689BDCFB4D26}"/>
              </a:ext>
            </a:extLst>
          </p:cNvPr>
          <p:cNvGrpSpPr/>
          <p:nvPr/>
        </p:nvGrpSpPr>
        <p:grpSpPr>
          <a:xfrm>
            <a:off x="9175360" y="2033400"/>
            <a:ext cx="995100" cy="995100"/>
            <a:chOff x="8856464" y="2053151"/>
            <a:chExt cx="995100" cy="995100"/>
          </a:xfrm>
        </p:grpSpPr>
        <p:sp>
          <p:nvSpPr>
            <p:cNvPr id="31" name="Google Shape;1005;p28">
              <a:extLst>
                <a:ext uri="{FF2B5EF4-FFF2-40B4-BE49-F238E27FC236}">
                  <a16:creationId xmlns:a16="http://schemas.microsoft.com/office/drawing/2014/main" id="{77CB0C8D-CB3A-7863-D9B8-658541B92375}"/>
                </a:ext>
              </a:extLst>
            </p:cNvPr>
            <p:cNvSpPr/>
            <p:nvPr/>
          </p:nvSpPr>
          <p:spPr>
            <a:xfrm>
              <a:off x="8856464" y="2053151"/>
              <a:ext cx="995100" cy="995100"/>
            </a:xfrm>
            <a:prstGeom prst="rect">
              <a:avLst/>
            </a:prstGeom>
            <a:solidFill>
              <a:srgbClr val="072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bg1"/>
                </a:solidFill>
                <a:latin typeface="Optika" panose="00000500000000000000" pitchFamily="50" charset="0"/>
              </a:endParaRPr>
            </a:p>
          </p:txBody>
        </p:sp>
        <p:grpSp>
          <p:nvGrpSpPr>
            <p:cNvPr id="52" name="Google Shape;1024;p28">
              <a:extLst>
                <a:ext uri="{FF2B5EF4-FFF2-40B4-BE49-F238E27FC236}">
                  <a16:creationId xmlns:a16="http://schemas.microsoft.com/office/drawing/2014/main" id="{E5670ABB-31CB-89EA-495B-29BF1376D424}"/>
                </a:ext>
              </a:extLst>
            </p:cNvPr>
            <p:cNvGrpSpPr/>
            <p:nvPr/>
          </p:nvGrpSpPr>
          <p:grpSpPr>
            <a:xfrm>
              <a:off x="9105942" y="2330728"/>
              <a:ext cx="496156" cy="439947"/>
              <a:chOff x="-1177497" y="1509364"/>
              <a:chExt cx="496156" cy="439947"/>
            </a:xfrm>
          </p:grpSpPr>
          <p:sp>
            <p:nvSpPr>
              <p:cNvPr id="53" name="Google Shape;1025;p28">
                <a:extLst>
                  <a:ext uri="{FF2B5EF4-FFF2-40B4-BE49-F238E27FC236}">
                    <a16:creationId xmlns:a16="http://schemas.microsoft.com/office/drawing/2014/main" id="{BAA932FD-BADD-BE67-7EF8-802E7D1B6913}"/>
                  </a:ext>
                </a:extLst>
              </p:cNvPr>
              <p:cNvSpPr/>
              <p:nvPr/>
            </p:nvSpPr>
            <p:spPr>
              <a:xfrm>
                <a:off x="-982452" y="1546510"/>
                <a:ext cx="102179" cy="46022"/>
              </a:xfrm>
              <a:custGeom>
                <a:avLst/>
                <a:gdLst/>
                <a:ahLst/>
                <a:cxnLst/>
                <a:rect l="l" t="t" r="r" b="b"/>
                <a:pathLst>
                  <a:path w="1865" h="840" extrusionOk="0">
                    <a:moveTo>
                      <a:pt x="687" y="1"/>
                    </a:moveTo>
                    <a:cubicBezTo>
                      <a:pt x="366" y="1"/>
                      <a:pt x="90" y="215"/>
                      <a:pt x="0" y="509"/>
                    </a:cubicBezTo>
                    <a:lnTo>
                      <a:pt x="18" y="509"/>
                    </a:lnTo>
                    <a:lnTo>
                      <a:pt x="1865" y="840"/>
                    </a:lnTo>
                    <a:lnTo>
                      <a:pt x="1865" y="715"/>
                    </a:lnTo>
                    <a:cubicBezTo>
                      <a:pt x="1865" y="322"/>
                      <a:pt x="1544" y="1"/>
                      <a:pt x="11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026;p28">
                <a:extLst>
                  <a:ext uri="{FF2B5EF4-FFF2-40B4-BE49-F238E27FC236}">
                    <a16:creationId xmlns:a16="http://schemas.microsoft.com/office/drawing/2014/main" id="{DD274ECC-DC55-6754-77B4-E775218B93BC}"/>
                  </a:ext>
                </a:extLst>
              </p:cNvPr>
              <p:cNvSpPr/>
              <p:nvPr/>
            </p:nvSpPr>
            <p:spPr>
              <a:xfrm>
                <a:off x="-818253" y="1548483"/>
                <a:ext cx="102233" cy="39173"/>
              </a:xfrm>
              <a:custGeom>
                <a:avLst/>
                <a:gdLst/>
                <a:ahLst/>
                <a:cxnLst/>
                <a:rect l="l" t="t" r="r" b="b"/>
                <a:pathLst>
                  <a:path w="1866" h="715" extrusionOk="0">
                    <a:moveTo>
                      <a:pt x="706" y="1"/>
                    </a:moveTo>
                    <a:cubicBezTo>
                      <a:pt x="322" y="1"/>
                      <a:pt x="1" y="313"/>
                      <a:pt x="1" y="697"/>
                    </a:cubicBezTo>
                    <a:lnTo>
                      <a:pt x="1" y="714"/>
                    </a:lnTo>
                    <a:lnTo>
                      <a:pt x="1865" y="714"/>
                    </a:lnTo>
                    <a:lnTo>
                      <a:pt x="1865" y="697"/>
                    </a:lnTo>
                    <a:cubicBezTo>
                      <a:pt x="1865" y="313"/>
                      <a:pt x="1553" y="1"/>
                      <a:pt x="11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027;p28">
                <a:extLst>
                  <a:ext uri="{FF2B5EF4-FFF2-40B4-BE49-F238E27FC236}">
                    <a16:creationId xmlns:a16="http://schemas.microsoft.com/office/drawing/2014/main" id="{960E68FF-CAC1-88CE-C4C5-EF7F45CDCBF3}"/>
                  </a:ext>
                </a:extLst>
              </p:cNvPr>
              <p:cNvSpPr/>
              <p:nvPr/>
            </p:nvSpPr>
            <p:spPr>
              <a:xfrm>
                <a:off x="-1177497" y="1604695"/>
                <a:ext cx="492266" cy="139818"/>
              </a:xfrm>
              <a:custGeom>
                <a:avLst/>
                <a:gdLst/>
                <a:ahLst/>
                <a:cxnLst/>
                <a:rect l="l" t="t" r="r" b="b"/>
                <a:pathLst>
                  <a:path w="8985" h="2552" extrusionOk="0">
                    <a:moveTo>
                      <a:pt x="3525" y="1"/>
                    </a:moveTo>
                    <a:lnTo>
                      <a:pt x="3525" y="313"/>
                    </a:lnTo>
                    <a:cubicBezTo>
                      <a:pt x="3525" y="313"/>
                      <a:pt x="3783" y="1044"/>
                      <a:pt x="4122" y="1187"/>
                    </a:cubicBezTo>
                    <a:lnTo>
                      <a:pt x="3864" y="1187"/>
                    </a:lnTo>
                    <a:cubicBezTo>
                      <a:pt x="3364" y="1187"/>
                      <a:pt x="2972" y="1589"/>
                      <a:pt x="2963" y="2079"/>
                    </a:cubicBezTo>
                    <a:lnTo>
                      <a:pt x="2963" y="2136"/>
                    </a:lnTo>
                    <a:lnTo>
                      <a:pt x="2963" y="2136"/>
                    </a:lnTo>
                    <a:cubicBezTo>
                      <a:pt x="2954" y="1643"/>
                      <a:pt x="2071" y="1250"/>
                      <a:pt x="2071" y="1250"/>
                    </a:cubicBezTo>
                    <a:lnTo>
                      <a:pt x="1830" y="1250"/>
                    </a:lnTo>
                    <a:cubicBezTo>
                      <a:pt x="2169" y="1116"/>
                      <a:pt x="2401" y="777"/>
                      <a:pt x="2401" y="393"/>
                    </a:cubicBezTo>
                    <a:lnTo>
                      <a:pt x="2401" y="250"/>
                    </a:lnTo>
                    <a:lnTo>
                      <a:pt x="545" y="250"/>
                    </a:lnTo>
                    <a:lnTo>
                      <a:pt x="545" y="393"/>
                    </a:lnTo>
                    <a:cubicBezTo>
                      <a:pt x="545" y="777"/>
                      <a:pt x="777" y="1116"/>
                      <a:pt x="1116" y="1250"/>
                    </a:cubicBezTo>
                    <a:lnTo>
                      <a:pt x="893" y="1250"/>
                    </a:lnTo>
                    <a:cubicBezTo>
                      <a:pt x="402" y="1250"/>
                      <a:pt x="1" y="1651"/>
                      <a:pt x="1" y="2151"/>
                    </a:cubicBezTo>
                    <a:lnTo>
                      <a:pt x="1" y="2329"/>
                    </a:lnTo>
                    <a:cubicBezTo>
                      <a:pt x="1" y="2454"/>
                      <a:pt x="99" y="2552"/>
                      <a:pt x="224" y="2552"/>
                    </a:cubicBezTo>
                    <a:lnTo>
                      <a:pt x="2749" y="2552"/>
                    </a:lnTo>
                    <a:cubicBezTo>
                      <a:pt x="2873" y="2552"/>
                      <a:pt x="2972" y="2454"/>
                      <a:pt x="2972" y="2329"/>
                    </a:cubicBezTo>
                    <a:cubicBezTo>
                      <a:pt x="2972" y="2454"/>
                      <a:pt x="3070" y="2552"/>
                      <a:pt x="3195" y="2552"/>
                    </a:cubicBezTo>
                    <a:lnTo>
                      <a:pt x="5773" y="2552"/>
                    </a:lnTo>
                    <a:cubicBezTo>
                      <a:pt x="5898" y="2552"/>
                      <a:pt x="5996" y="2454"/>
                      <a:pt x="5996" y="2329"/>
                    </a:cubicBezTo>
                    <a:cubicBezTo>
                      <a:pt x="5996" y="2454"/>
                      <a:pt x="6103" y="2552"/>
                      <a:pt x="6228" y="2552"/>
                    </a:cubicBezTo>
                    <a:lnTo>
                      <a:pt x="8761" y="2552"/>
                    </a:lnTo>
                    <a:cubicBezTo>
                      <a:pt x="8886" y="2552"/>
                      <a:pt x="8984" y="2454"/>
                      <a:pt x="8984" y="2329"/>
                    </a:cubicBezTo>
                    <a:lnTo>
                      <a:pt x="8984" y="2079"/>
                    </a:lnTo>
                    <a:cubicBezTo>
                      <a:pt x="8984" y="1589"/>
                      <a:pt x="8583" y="1187"/>
                      <a:pt x="8083" y="1187"/>
                    </a:cubicBezTo>
                    <a:lnTo>
                      <a:pt x="7851" y="1187"/>
                    </a:lnTo>
                    <a:cubicBezTo>
                      <a:pt x="8181" y="1044"/>
                      <a:pt x="8422" y="714"/>
                      <a:pt x="8422" y="322"/>
                    </a:cubicBezTo>
                    <a:lnTo>
                      <a:pt x="8422" y="250"/>
                    </a:lnTo>
                    <a:lnTo>
                      <a:pt x="6558" y="250"/>
                    </a:lnTo>
                    <a:lnTo>
                      <a:pt x="6558" y="331"/>
                    </a:lnTo>
                    <a:cubicBezTo>
                      <a:pt x="6558" y="714"/>
                      <a:pt x="6799" y="1044"/>
                      <a:pt x="7138" y="1187"/>
                    </a:cubicBezTo>
                    <a:lnTo>
                      <a:pt x="6897" y="1187"/>
                    </a:lnTo>
                    <a:cubicBezTo>
                      <a:pt x="6897" y="1187"/>
                      <a:pt x="5996" y="1589"/>
                      <a:pt x="5996" y="2088"/>
                    </a:cubicBezTo>
                    <a:lnTo>
                      <a:pt x="5996" y="2079"/>
                    </a:lnTo>
                    <a:cubicBezTo>
                      <a:pt x="5996" y="1599"/>
                      <a:pt x="5611" y="1204"/>
                      <a:pt x="5135" y="1204"/>
                    </a:cubicBezTo>
                    <a:cubicBezTo>
                      <a:pt x="5125" y="1204"/>
                      <a:pt x="5114" y="1205"/>
                      <a:pt x="5104" y="1205"/>
                    </a:cubicBezTo>
                    <a:lnTo>
                      <a:pt x="4845" y="1205"/>
                    </a:lnTo>
                    <a:cubicBezTo>
                      <a:pt x="5184" y="1044"/>
                      <a:pt x="5425" y="714"/>
                      <a:pt x="5425" y="331"/>
                    </a:cubicBezTo>
                    <a:cubicBezTo>
                      <a:pt x="5416" y="331"/>
                      <a:pt x="5398" y="331"/>
                      <a:pt x="5380" y="322"/>
                    </a:cubicBezTo>
                    <a:lnTo>
                      <a:pt x="352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028;p28">
                <a:extLst>
                  <a:ext uri="{FF2B5EF4-FFF2-40B4-BE49-F238E27FC236}">
                    <a16:creationId xmlns:a16="http://schemas.microsoft.com/office/drawing/2014/main" id="{6E5607CA-848B-9747-1F74-D3C89A7A6974}"/>
                  </a:ext>
                </a:extLst>
              </p:cNvPr>
              <p:cNvSpPr/>
              <p:nvPr/>
            </p:nvSpPr>
            <p:spPr>
              <a:xfrm>
                <a:off x="-1147199" y="1509364"/>
                <a:ext cx="101740" cy="78291"/>
              </a:xfrm>
              <a:custGeom>
                <a:avLst/>
                <a:gdLst/>
                <a:ahLst/>
                <a:cxnLst/>
                <a:rect l="l" t="t" r="r" b="b"/>
                <a:pathLst>
                  <a:path w="1857" h="1429" extrusionOk="0">
                    <a:moveTo>
                      <a:pt x="908" y="1"/>
                    </a:moveTo>
                    <a:cubicBezTo>
                      <a:pt x="440" y="1"/>
                      <a:pt x="65" y="504"/>
                      <a:pt x="224" y="947"/>
                    </a:cubicBezTo>
                    <a:lnTo>
                      <a:pt x="233" y="947"/>
                    </a:lnTo>
                    <a:cubicBezTo>
                      <a:pt x="99" y="1072"/>
                      <a:pt x="10" y="1241"/>
                      <a:pt x="1" y="1428"/>
                    </a:cubicBezTo>
                    <a:lnTo>
                      <a:pt x="1857" y="1428"/>
                    </a:lnTo>
                    <a:cubicBezTo>
                      <a:pt x="1839" y="1232"/>
                      <a:pt x="1741" y="1045"/>
                      <a:pt x="1598" y="929"/>
                    </a:cubicBezTo>
                    <a:cubicBezTo>
                      <a:pt x="1625" y="848"/>
                      <a:pt x="1625" y="813"/>
                      <a:pt x="1625" y="724"/>
                    </a:cubicBezTo>
                    <a:cubicBezTo>
                      <a:pt x="1625" y="331"/>
                      <a:pt x="1312" y="10"/>
                      <a:pt x="920" y="1"/>
                    </a:cubicBezTo>
                    <a:cubicBezTo>
                      <a:pt x="916" y="1"/>
                      <a:pt x="912" y="1"/>
                      <a:pt x="9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1029;p28">
                <a:extLst>
                  <a:ext uri="{FF2B5EF4-FFF2-40B4-BE49-F238E27FC236}">
                    <a16:creationId xmlns:a16="http://schemas.microsoft.com/office/drawing/2014/main" id="{7EC0A58F-01AE-5FAC-FE61-CDD77828DF71}"/>
                  </a:ext>
                </a:extLst>
              </p:cNvPr>
              <p:cNvSpPr/>
              <p:nvPr/>
            </p:nvSpPr>
            <p:spPr>
              <a:xfrm>
                <a:off x="-1177497" y="1785387"/>
                <a:ext cx="496156" cy="163924"/>
              </a:xfrm>
              <a:custGeom>
                <a:avLst/>
                <a:gdLst/>
                <a:ahLst/>
                <a:cxnLst/>
                <a:rect l="l" t="t" r="r" b="b"/>
                <a:pathLst>
                  <a:path w="9056" h="2992" extrusionOk="0">
                    <a:moveTo>
                      <a:pt x="3277" y="0"/>
                    </a:moveTo>
                    <a:cubicBezTo>
                      <a:pt x="2879" y="0"/>
                      <a:pt x="2486" y="132"/>
                      <a:pt x="2187" y="405"/>
                    </a:cubicBezTo>
                    <a:lnTo>
                      <a:pt x="1874" y="672"/>
                    </a:lnTo>
                    <a:cubicBezTo>
                      <a:pt x="1767" y="771"/>
                      <a:pt x="1633" y="815"/>
                      <a:pt x="1500" y="815"/>
                    </a:cubicBezTo>
                    <a:lnTo>
                      <a:pt x="411" y="806"/>
                    </a:lnTo>
                    <a:cubicBezTo>
                      <a:pt x="179" y="806"/>
                      <a:pt x="1" y="985"/>
                      <a:pt x="1" y="1217"/>
                    </a:cubicBezTo>
                    <a:lnTo>
                      <a:pt x="1" y="2689"/>
                    </a:lnTo>
                    <a:cubicBezTo>
                      <a:pt x="1" y="2858"/>
                      <a:pt x="135" y="2992"/>
                      <a:pt x="304" y="2992"/>
                    </a:cubicBezTo>
                    <a:lnTo>
                      <a:pt x="6683" y="2992"/>
                    </a:lnTo>
                    <a:cubicBezTo>
                      <a:pt x="7048" y="2992"/>
                      <a:pt x="7387" y="2822"/>
                      <a:pt x="7619" y="2537"/>
                    </a:cubicBezTo>
                    <a:lnTo>
                      <a:pt x="8842" y="1065"/>
                    </a:lnTo>
                    <a:cubicBezTo>
                      <a:pt x="9038" y="824"/>
                      <a:pt x="9056" y="512"/>
                      <a:pt x="8806" y="333"/>
                    </a:cubicBezTo>
                    <a:cubicBezTo>
                      <a:pt x="8797" y="325"/>
                      <a:pt x="8788" y="316"/>
                      <a:pt x="8779" y="316"/>
                    </a:cubicBezTo>
                    <a:cubicBezTo>
                      <a:pt x="8664" y="231"/>
                      <a:pt x="8552" y="195"/>
                      <a:pt x="8450" y="195"/>
                    </a:cubicBezTo>
                    <a:cubicBezTo>
                      <a:pt x="8315" y="195"/>
                      <a:pt x="8196" y="259"/>
                      <a:pt x="8110" y="360"/>
                    </a:cubicBezTo>
                    <a:lnTo>
                      <a:pt x="6924" y="1788"/>
                    </a:lnTo>
                    <a:cubicBezTo>
                      <a:pt x="6870" y="1850"/>
                      <a:pt x="6790" y="1886"/>
                      <a:pt x="6709" y="1886"/>
                    </a:cubicBezTo>
                    <a:lnTo>
                      <a:pt x="4024" y="1886"/>
                    </a:lnTo>
                    <a:cubicBezTo>
                      <a:pt x="3971" y="1886"/>
                      <a:pt x="3917" y="1868"/>
                      <a:pt x="3882" y="1823"/>
                    </a:cubicBezTo>
                    <a:cubicBezTo>
                      <a:pt x="3694" y="1591"/>
                      <a:pt x="3855" y="1324"/>
                      <a:pt x="4078" y="1324"/>
                    </a:cubicBezTo>
                    <a:lnTo>
                      <a:pt x="6183" y="1324"/>
                    </a:lnTo>
                    <a:cubicBezTo>
                      <a:pt x="6754" y="1306"/>
                      <a:pt x="6754" y="485"/>
                      <a:pt x="6183" y="467"/>
                    </a:cubicBezTo>
                    <a:lnTo>
                      <a:pt x="4809" y="467"/>
                    </a:lnTo>
                    <a:cubicBezTo>
                      <a:pt x="4720" y="467"/>
                      <a:pt x="4631" y="449"/>
                      <a:pt x="4551" y="405"/>
                    </a:cubicBezTo>
                    <a:lnTo>
                      <a:pt x="4051" y="173"/>
                    </a:lnTo>
                    <a:cubicBezTo>
                      <a:pt x="3808" y="59"/>
                      <a:pt x="3541" y="0"/>
                      <a:pt x="327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8" name="Google Shape;1030;p28">
            <a:extLst>
              <a:ext uri="{FF2B5EF4-FFF2-40B4-BE49-F238E27FC236}">
                <a16:creationId xmlns:a16="http://schemas.microsoft.com/office/drawing/2014/main" id="{E08B665F-A3E3-8A79-5B4C-ABAB16F1667B}"/>
              </a:ext>
            </a:extLst>
          </p:cNvPr>
          <p:cNvGrpSpPr/>
          <p:nvPr/>
        </p:nvGrpSpPr>
        <p:grpSpPr>
          <a:xfrm>
            <a:off x="6972437" y="2304404"/>
            <a:ext cx="469312" cy="492595"/>
            <a:chOff x="-571434" y="1483121"/>
            <a:chExt cx="469312" cy="492595"/>
          </a:xfrm>
        </p:grpSpPr>
        <p:sp>
          <p:nvSpPr>
            <p:cNvPr id="59" name="Google Shape;1031;p28">
              <a:extLst>
                <a:ext uri="{FF2B5EF4-FFF2-40B4-BE49-F238E27FC236}">
                  <a16:creationId xmlns:a16="http://schemas.microsoft.com/office/drawing/2014/main" id="{B4395315-19F7-33D4-761D-6FE4F2BD5F3A}"/>
                </a:ext>
              </a:extLst>
            </p:cNvPr>
            <p:cNvSpPr/>
            <p:nvPr/>
          </p:nvSpPr>
          <p:spPr>
            <a:xfrm>
              <a:off x="-368554" y="1551935"/>
              <a:ext cx="33749" cy="35721"/>
            </a:xfrm>
            <a:custGeom>
              <a:avLst/>
              <a:gdLst/>
              <a:ahLst/>
              <a:cxnLst/>
              <a:rect l="l" t="t" r="r" b="b"/>
              <a:pathLst>
                <a:path w="616" h="652" extrusionOk="0">
                  <a:moveTo>
                    <a:pt x="0" y="0"/>
                  </a:moveTo>
                  <a:cubicBezTo>
                    <a:pt x="214" y="143"/>
                    <a:pt x="366" y="384"/>
                    <a:pt x="384" y="651"/>
                  </a:cubicBezTo>
                  <a:lnTo>
                    <a:pt x="518" y="526"/>
                  </a:lnTo>
                  <a:cubicBezTo>
                    <a:pt x="589" y="455"/>
                    <a:pt x="616" y="339"/>
                    <a:pt x="580" y="241"/>
                  </a:cubicBezTo>
                  <a:cubicBezTo>
                    <a:pt x="553" y="143"/>
                    <a:pt x="464" y="63"/>
                    <a:pt x="357" y="5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032;p28">
              <a:extLst>
                <a:ext uri="{FF2B5EF4-FFF2-40B4-BE49-F238E27FC236}">
                  <a16:creationId xmlns:a16="http://schemas.microsoft.com/office/drawing/2014/main" id="{0622B902-CACB-0FD1-743B-42C782C66292}"/>
                </a:ext>
              </a:extLst>
            </p:cNvPr>
            <p:cNvSpPr/>
            <p:nvPr/>
          </p:nvSpPr>
          <p:spPr>
            <a:xfrm>
              <a:off x="-523494" y="1574398"/>
              <a:ext cx="354859" cy="401318"/>
            </a:xfrm>
            <a:custGeom>
              <a:avLst/>
              <a:gdLst/>
              <a:ahLst/>
              <a:cxnLst/>
              <a:rect l="l" t="t" r="r" b="b"/>
              <a:pathLst>
                <a:path w="6477" h="7325" extrusionOk="0">
                  <a:moveTo>
                    <a:pt x="2342" y="0"/>
                  </a:moveTo>
                  <a:cubicBezTo>
                    <a:pt x="2184" y="0"/>
                    <a:pt x="2025" y="108"/>
                    <a:pt x="2016" y="322"/>
                  </a:cubicBezTo>
                  <a:lnTo>
                    <a:pt x="2016" y="4140"/>
                  </a:lnTo>
                  <a:cubicBezTo>
                    <a:pt x="2016" y="4247"/>
                    <a:pt x="1963" y="4354"/>
                    <a:pt x="1865" y="4399"/>
                  </a:cubicBezTo>
                  <a:cubicBezTo>
                    <a:pt x="1823" y="4421"/>
                    <a:pt x="1779" y="4431"/>
                    <a:pt x="1736" y="4431"/>
                  </a:cubicBezTo>
                  <a:cubicBezTo>
                    <a:pt x="1640" y="4431"/>
                    <a:pt x="1548" y="4380"/>
                    <a:pt x="1499" y="4300"/>
                  </a:cubicBezTo>
                  <a:lnTo>
                    <a:pt x="982" y="3480"/>
                  </a:lnTo>
                  <a:cubicBezTo>
                    <a:pt x="874" y="3301"/>
                    <a:pt x="696" y="3185"/>
                    <a:pt x="491" y="3159"/>
                  </a:cubicBezTo>
                  <a:cubicBezTo>
                    <a:pt x="467" y="3156"/>
                    <a:pt x="444" y="3155"/>
                    <a:pt x="420" y="3155"/>
                  </a:cubicBezTo>
                  <a:cubicBezTo>
                    <a:pt x="284" y="3155"/>
                    <a:pt x="150" y="3197"/>
                    <a:pt x="36" y="3266"/>
                  </a:cubicBezTo>
                  <a:lnTo>
                    <a:pt x="0" y="3283"/>
                  </a:lnTo>
                  <a:cubicBezTo>
                    <a:pt x="321" y="3872"/>
                    <a:pt x="1160" y="5424"/>
                    <a:pt x="1561" y="6272"/>
                  </a:cubicBezTo>
                  <a:cubicBezTo>
                    <a:pt x="1561" y="6290"/>
                    <a:pt x="1570" y="6299"/>
                    <a:pt x="1579" y="6317"/>
                  </a:cubicBezTo>
                  <a:cubicBezTo>
                    <a:pt x="1874" y="6932"/>
                    <a:pt x="2516" y="7325"/>
                    <a:pt x="3203" y="7325"/>
                  </a:cubicBezTo>
                  <a:lnTo>
                    <a:pt x="4612" y="7325"/>
                  </a:lnTo>
                  <a:cubicBezTo>
                    <a:pt x="4612" y="7325"/>
                    <a:pt x="6468" y="6477"/>
                    <a:pt x="6459" y="5487"/>
                  </a:cubicBezTo>
                  <a:lnTo>
                    <a:pt x="6477" y="3542"/>
                  </a:lnTo>
                  <a:lnTo>
                    <a:pt x="6477" y="3078"/>
                  </a:lnTo>
                  <a:cubicBezTo>
                    <a:pt x="6477" y="2882"/>
                    <a:pt x="6316" y="2721"/>
                    <a:pt x="6111" y="2721"/>
                  </a:cubicBezTo>
                  <a:cubicBezTo>
                    <a:pt x="5915" y="2721"/>
                    <a:pt x="5754" y="2882"/>
                    <a:pt x="5754" y="3078"/>
                  </a:cubicBezTo>
                  <a:lnTo>
                    <a:pt x="5754" y="3551"/>
                  </a:lnTo>
                  <a:cubicBezTo>
                    <a:pt x="5745" y="3729"/>
                    <a:pt x="5614" y="3819"/>
                    <a:pt x="5482" y="3819"/>
                  </a:cubicBezTo>
                  <a:cubicBezTo>
                    <a:pt x="5351" y="3819"/>
                    <a:pt x="5219" y="3729"/>
                    <a:pt x="5210" y="3551"/>
                  </a:cubicBezTo>
                  <a:lnTo>
                    <a:pt x="5210" y="2561"/>
                  </a:lnTo>
                  <a:cubicBezTo>
                    <a:pt x="5201" y="2320"/>
                    <a:pt x="5027" y="2200"/>
                    <a:pt x="4852" y="2200"/>
                  </a:cubicBezTo>
                  <a:cubicBezTo>
                    <a:pt x="4677" y="2200"/>
                    <a:pt x="4501" y="2320"/>
                    <a:pt x="4488" y="2561"/>
                  </a:cubicBezTo>
                  <a:lnTo>
                    <a:pt x="4488" y="3542"/>
                  </a:lnTo>
                  <a:cubicBezTo>
                    <a:pt x="4483" y="3729"/>
                    <a:pt x="4347" y="3823"/>
                    <a:pt x="4210" y="3823"/>
                  </a:cubicBezTo>
                  <a:cubicBezTo>
                    <a:pt x="4073" y="3823"/>
                    <a:pt x="3934" y="3729"/>
                    <a:pt x="3925" y="3542"/>
                  </a:cubicBezTo>
                  <a:lnTo>
                    <a:pt x="3925" y="2258"/>
                  </a:lnTo>
                  <a:cubicBezTo>
                    <a:pt x="3917" y="2021"/>
                    <a:pt x="3743" y="1903"/>
                    <a:pt x="3569" y="1903"/>
                  </a:cubicBezTo>
                  <a:cubicBezTo>
                    <a:pt x="3395" y="1903"/>
                    <a:pt x="3221" y="2021"/>
                    <a:pt x="3212" y="2258"/>
                  </a:cubicBezTo>
                  <a:lnTo>
                    <a:pt x="3212" y="3551"/>
                  </a:lnTo>
                  <a:cubicBezTo>
                    <a:pt x="3203" y="3729"/>
                    <a:pt x="3069" y="3819"/>
                    <a:pt x="2936" y="3819"/>
                  </a:cubicBezTo>
                  <a:cubicBezTo>
                    <a:pt x="2804" y="3819"/>
                    <a:pt x="2672" y="3729"/>
                    <a:pt x="2668" y="3551"/>
                  </a:cubicBezTo>
                  <a:lnTo>
                    <a:pt x="2668" y="322"/>
                  </a:lnTo>
                  <a:cubicBezTo>
                    <a:pt x="2659" y="108"/>
                    <a:pt x="2500" y="0"/>
                    <a:pt x="23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033;p28">
              <a:extLst>
                <a:ext uri="{FF2B5EF4-FFF2-40B4-BE49-F238E27FC236}">
                  <a16:creationId xmlns:a16="http://schemas.microsoft.com/office/drawing/2014/main" id="{E92D3713-6366-C03C-29EA-1EBAF8AD6A30}"/>
                </a:ext>
              </a:extLst>
            </p:cNvPr>
            <p:cNvSpPr/>
            <p:nvPr/>
          </p:nvSpPr>
          <p:spPr>
            <a:xfrm>
              <a:off x="-571434" y="1483504"/>
              <a:ext cx="160856" cy="221232"/>
            </a:xfrm>
            <a:custGeom>
              <a:avLst/>
              <a:gdLst/>
              <a:ahLst/>
              <a:cxnLst/>
              <a:rect l="l" t="t" r="r" b="b"/>
              <a:pathLst>
                <a:path w="2936" h="4038" extrusionOk="0">
                  <a:moveTo>
                    <a:pt x="2196" y="0"/>
                  </a:moveTo>
                  <a:cubicBezTo>
                    <a:pt x="2088" y="0"/>
                    <a:pt x="1990" y="63"/>
                    <a:pt x="1946" y="152"/>
                  </a:cubicBezTo>
                  <a:lnTo>
                    <a:pt x="1464" y="1115"/>
                  </a:lnTo>
                  <a:cubicBezTo>
                    <a:pt x="1455" y="1151"/>
                    <a:pt x="1419" y="1169"/>
                    <a:pt x="1384" y="1178"/>
                  </a:cubicBezTo>
                  <a:lnTo>
                    <a:pt x="322" y="1329"/>
                  </a:lnTo>
                  <a:cubicBezTo>
                    <a:pt x="90" y="1365"/>
                    <a:pt x="1" y="1651"/>
                    <a:pt x="170" y="1811"/>
                  </a:cubicBezTo>
                  <a:lnTo>
                    <a:pt x="938" y="2561"/>
                  </a:lnTo>
                  <a:cubicBezTo>
                    <a:pt x="964" y="2578"/>
                    <a:pt x="973" y="2614"/>
                    <a:pt x="964" y="2650"/>
                  </a:cubicBezTo>
                  <a:lnTo>
                    <a:pt x="786" y="3702"/>
                  </a:lnTo>
                  <a:cubicBezTo>
                    <a:pt x="751" y="3887"/>
                    <a:pt x="896" y="4038"/>
                    <a:pt x="1064" y="4038"/>
                  </a:cubicBezTo>
                  <a:cubicBezTo>
                    <a:pt x="1108" y="4038"/>
                    <a:pt x="1153" y="4028"/>
                    <a:pt x="1196" y="4006"/>
                  </a:cubicBezTo>
                  <a:lnTo>
                    <a:pt x="2142" y="3506"/>
                  </a:lnTo>
                  <a:cubicBezTo>
                    <a:pt x="2160" y="3497"/>
                    <a:pt x="2178" y="3493"/>
                    <a:pt x="2194" y="3493"/>
                  </a:cubicBezTo>
                  <a:cubicBezTo>
                    <a:pt x="2211" y="3493"/>
                    <a:pt x="2227" y="3497"/>
                    <a:pt x="2240" y="3506"/>
                  </a:cubicBezTo>
                  <a:lnTo>
                    <a:pt x="2329" y="3551"/>
                  </a:lnTo>
                  <a:lnTo>
                    <a:pt x="2329" y="1981"/>
                  </a:lnTo>
                  <a:cubicBezTo>
                    <a:pt x="2329" y="1597"/>
                    <a:pt x="2579" y="1267"/>
                    <a:pt x="2936" y="1151"/>
                  </a:cubicBezTo>
                  <a:lnTo>
                    <a:pt x="2445" y="152"/>
                  </a:lnTo>
                  <a:cubicBezTo>
                    <a:pt x="2401" y="63"/>
                    <a:pt x="2303" y="0"/>
                    <a:pt x="21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034;p28">
              <a:extLst>
                <a:ext uri="{FF2B5EF4-FFF2-40B4-BE49-F238E27FC236}">
                  <a16:creationId xmlns:a16="http://schemas.microsoft.com/office/drawing/2014/main" id="{2F7140E2-55F8-8FA4-7254-923932BC9715}"/>
                </a:ext>
              </a:extLst>
            </p:cNvPr>
            <p:cNvSpPr/>
            <p:nvPr/>
          </p:nvSpPr>
          <p:spPr>
            <a:xfrm>
              <a:off x="-249774" y="1483121"/>
              <a:ext cx="147652" cy="139105"/>
            </a:xfrm>
            <a:custGeom>
              <a:avLst/>
              <a:gdLst/>
              <a:ahLst/>
              <a:cxnLst/>
              <a:rect l="l" t="t" r="r" b="b"/>
              <a:pathLst>
                <a:path w="2695" h="2539" extrusionOk="0">
                  <a:moveTo>
                    <a:pt x="1347" y="0"/>
                  </a:moveTo>
                  <a:cubicBezTo>
                    <a:pt x="1276" y="0"/>
                    <a:pt x="1204" y="38"/>
                    <a:pt x="1169" y="114"/>
                  </a:cubicBezTo>
                  <a:lnTo>
                    <a:pt x="883" y="685"/>
                  </a:lnTo>
                  <a:cubicBezTo>
                    <a:pt x="874" y="712"/>
                    <a:pt x="856" y="730"/>
                    <a:pt x="830" y="730"/>
                  </a:cubicBezTo>
                  <a:lnTo>
                    <a:pt x="196" y="819"/>
                  </a:lnTo>
                  <a:cubicBezTo>
                    <a:pt x="134" y="828"/>
                    <a:pt x="80" y="864"/>
                    <a:pt x="54" y="908"/>
                  </a:cubicBezTo>
                  <a:cubicBezTo>
                    <a:pt x="0" y="988"/>
                    <a:pt x="18" y="1096"/>
                    <a:pt x="80" y="1158"/>
                  </a:cubicBezTo>
                  <a:lnTo>
                    <a:pt x="544" y="1604"/>
                  </a:lnTo>
                  <a:cubicBezTo>
                    <a:pt x="562" y="1622"/>
                    <a:pt x="571" y="1649"/>
                    <a:pt x="562" y="1675"/>
                  </a:cubicBezTo>
                  <a:lnTo>
                    <a:pt x="455" y="2300"/>
                  </a:lnTo>
                  <a:cubicBezTo>
                    <a:pt x="446" y="2362"/>
                    <a:pt x="464" y="2425"/>
                    <a:pt x="500" y="2469"/>
                  </a:cubicBezTo>
                  <a:cubicBezTo>
                    <a:pt x="539" y="2515"/>
                    <a:pt x="593" y="2538"/>
                    <a:pt x="648" y="2538"/>
                  </a:cubicBezTo>
                  <a:cubicBezTo>
                    <a:pt x="679" y="2538"/>
                    <a:pt x="711" y="2530"/>
                    <a:pt x="740" y="2514"/>
                  </a:cubicBezTo>
                  <a:lnTo>
                    <a:pt x="1311" y="2220"/>
                  </a:lnTo>
                  <a:cubicBezTo>
                    <a:pt x="1320" y="2211"/>
                    <a:pt x="1331" y="2206"/>
                    <a:pt x="1344" y="2206"/>
                  </a:cubicBezTo>
                  <a:cubicBezTo>
                    <a:pt x="1356" y="2206"/>
                    <a:pt x="1369" y="2211"/>
                    <a:pt x="1383" y="2220"/>
                  </a:cubicBezTo>
                  <a:lnTo>
                    <a:pt x="1954" y="2514"/>
                  </a:lnTo>
                  <a:cubicBezTo>
                    <a:pt x="1983" y="2530"/>
                    <a:pt x="2015" y="2538"/>
                    <a:pt x="2047" y="2538"/>
                  </a:cubicBezTo>
                  <a:cubicBezTo>
                    <a:pt x="2101" y="2538"/>
                    <a:pt x="2155" y="2515"/>
                    <a:pt x="2195" y="2469"/>
                  </a:cubicBezTo>
                  <a:cubicBezTo>
                    <a:pt x="2230" y="2425"/>
                    <a:pt x="2248" y="2362"/>
                    <a:pt x="2239" y="2309"/>
                  </a:cubicBezTo>
                  <a:lnTo>
                    <a:pt x="2132" y="1675"/>
                  </a:lnTo>
                  <a:cubicBezTo>
                    <a:pt x="2123" y="1649"/>
                    <a:pt x="2132" y="1622"/>
                    <a:pt x="2150" y="1604"/>
                  </a:cubicBezTo>
                  <a:lnTo>
                    <a:pt x="2614" y="1158"/>
                  </a:lnTo>
                  <a:cubicBezTo>
                    <a:pt x="2676" y="1096"/>
                    <a:pt x="2694" y="988"/>
                    <a:pt x="2641" y="908"/>
                  </a:cubicBezTo>
                  <a:cubicBezTo>
                    <a:pt x="2614" y="864"/>
                    <a:pt x="2560" y="828"/>
                    <a:pt x="2498" y="819"/>
                  </a:cubicBezTo>
                  <a:lnTo>
                    <a:pt x="1865" y="730"/>
                  </a:lnTo>
                  <a:cubicBezTo>
                    <a:pt x="1838" y="730"/>
                    <a:pt x="1820" y="712"/>
                    <a:pt x="1811" y="685"/>
                  </a:cubicBezTo>
                  <a:lnTo>
                    <a:pt x="1526" y="114"/>
                  </a:lnTo>
                  <a:cubicBezTo>
                    <a:pt x="1490" y="38"/>
                    <a:pt x="1418" y="0"/>
                    <a:pt x="1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3" name="Google Shape;1035;p28">
            <a:extLst>
              <a:ext uri="{FF2B5EF4-FFF2-40B4-BE49-F238E27FC236}">
                <a16:creationId xmlns:a16="http://schemas.microsoft.com/office/drawing/2014/main" id="{49D56BA6-9BB4-E57C-1E7B-4C7D3595AEF0}"/>
              </a:ext>
            </a:extLst>
          </p:cNvPr>
          <p:cNvCxnSpPr>
            <a:cxnSpLocks/>
            <a:stCxn id="10" idx="0"/>
            <a:endCxn id="3" idx="2"/>
          </p:cNvCxnSpPr>
          <p:nvPr/>
        </p:nvCxnSpPr>
        <p:spPr>
          <a:xfrm flipV="1">
            <a:off x="2911337" y="4898875"/>
            <a:ext cx="0" cy="764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" name="Agrupar 108">
            <a:extLst>
              <a:ext uri="{FF2B5EF4-FFF2-40B4-BE49-F238E27FC236}">
                <a16:creationId xmlns:a16="http://schemas.microsoft.com/office/drawing/2014/main" id="{8A8F26AA-BD5D-94D0-F913-790AFE047FDA}"/>
              </a:ext>
            </a:extLst>
          </p:cNvPr>
          <p:cNvGrpSpPr/>
          <p:nvPr/>
        </p:nvGrpSpPr>
        <p:grpSpPr>
          <a:xfrm>
            <a:off x="2413787" y="2053151"/>
            <a:ext cx="995100" cy="1071524"/>
            <a:chOff x="2389597" y="2053151"/>
            <a:chExt cx="995100" cy="1071524"/>
          </a:xfrm>
        </p:grpSpPr>
        <p:sp>
          <p:nvSpPr>
            <p:cNvPr id="9" name="Google Shape;983;p28">
              <a:extLst>
                <a:ext uri="{FF2B5EF4-FFF2-40B4-BE49-F238E27FC236}">
                  <a16:creationId xmlns:a16="http://schemas.microsoft.com/office/drawing/2014/main" id="{E846A092-00F5-BC08-FFC0-28F412B3E49A}"/>
                </a:ext>
              </a:extLst>
            </p:cNvPr>
            <p:cNvSpPr/>
            <p:nvPr/>
          </p:nvSpPr>
          <p:spPr>
            <a:xfrm>
              <a:off x="2389597" y="2053151"/>
              <a:ext cx="995100" cy="995100"/>
            </a:xfrm>
            <a:prstGeom prst="rect">
              <a:avLst/>
            </a:prstGeom>
            <a:solidFill>
              <a:srgbClr val="072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  <a:latin typeface="Optika" panose="00000500000000000000" pitchFamily="50" charset="0"/>
              </a:endParaRPr>
            </a:p>
          </p:txBody>
        </p:sp>
        <p:grpSp>
          <p:nvGrpSpPr>
            <p:cNvPr id="39" name="Google Shape;1011;p28">
              <a:extLst>
                <a:ext uri="{FF2B5EF4-FFF2-40B4-BE49-F238E27FC236}">
                  <a16:creationId xmlns:a16="http://schemas.microsoft.com/office/drawing/2014/main" id="{497DC72B-1324-3EDE-30A8-D6356165CE1D}"/>
                </a:ext>
              </a:extLst>
            </p:cNvPr>
            <p:cNvGrpSpPr/>
            <p:nvPr/>
          </p:nvGrpSpPr>
          <p:grpSpPr>
            <a:xfrm>
              <a:off x="2607699" y="2304703"/>
              <a:ext cx="558888" cy="491996"/>
              <a:chOff x="-2373460" y="1483340"/>
              <a:chExt cx="558888" cy="491996"/>
            </a:xfrm>
          </p:grpSpPr>
          <p:sp>
            <p:nvSpPr>
              <p:cNvPr id="40" name="Google Shape;1012;p28">
                <a:extLst>
                  <a:ext uri="{FF2B5EF4-FFF2-40B4-BE49-F238E27FC236}">
                    <a16:creationId xmlns:a16="http://schemas.microsoft.com/office/drawing/2014/main" id="{41CDE56F-110F-8174-D5CD-E929F56B6AE7}"/>
                  </a:ext>
                </a:extLst>
              </p:cNvPr>
              <p:cNvSpPr/>
              <p:nvPr/>
            </p:nvSpPr>
            <p:spPr>
              <a:xfrm>
                <a:off x="-2187291" y="1551935"/>
                <a:ext cx="241503" cy="241996"/>
              </a:xfrm>
              <a:custGeom>
                <a:avLst/>
                <a:gdLst/>
                <a:ahLst/>
                <a:cxnLst/>
                <a:rect l="l" t="t" r="r" b="b"/>
                <a:pathLst>
                  <a:path w="4408" h="4417" extrusionOk="0">
                    <a:moveTo>
                      <a:pt x="2204" y="1927"/>
                    </a:moveTo>
                    <a:cubicBezTo>
                      <a:pt x="2579" y="1936"/>
                      <a:pt x="2579" y="2480"/>
                      <a:pt x="2204" y="2489"/>
                    </a:cubicBezTo>
                    <a:cubicBezTo>
                      <a:pt x="1830" y="2480"/>
                      <a:pt x="1830" y="1936"/>
                      <a:pt x="2204" y="1927"/>
                    </a:cubicBezTo>
                    <a:close/>
                    <a:moveTo>
                      <a:pt x="1928" y="0"/>
                    </a:moveTo>
                    <a:cubicBezTo>
                      <a:pt x="1928" y="0"/>
                      <a:pt x="99" y="964"/>
                      <a:pt x="1" y="1909"/>
                    </a:cubicBezTo>
                    <a:lnTo>
                      <a:pt x="938" y="1927"/>
                    </a:lnTo>
                    <a:cubicBezTo>
                      <a:pt x="1312" y="1945"/>
                      <a:pt x="1312" y="2480"/>
                      <a:pt x="938" y="2489"/>
                    </a:cubicBezTo>
                    <a:lnTo>
                      <a:pt x="28" y="2489"/>
                    </a:lnTo>
                    <a:cubicBezTo>
                      <a:pt x="126" y="3444"/>
                      <a:pt x="956" y="4291"/>
                      <a:pt x="1910" y="4389"/>
                    </a:cubicBezTo>
                    <a:lnTo>
                      <a:pt x="1919" y="3461"/>
                    </a:lnTo>
                    <a:cubicBezTo>
                      <a:pt x="1919" y="3301"/>
                      <a:pt x="2044" y="3176"/>
                      <a:pt x="2196" y="3176"/>
                    </a:cubicBezTo>
                    <a:cubicBezTo>
                      <a:pt x="2347" y="3176"/>
                      <a:pt x="2472" y="3301"/>
                      <a:pt x="2472" y="3461"/>
                    </a:cubicBezTo>
                    <a:lnTo>
                      <a:pt x="2472" y="4416"/>
                    </a:lnTo>
                    <a:cubicBezTo>
                      <a:pt x="2472" y="4416"/>
                      <a:pt x="4301" y="3453"/>
                      <a:pt x="4408" y="2471"/>
                    </a:cubicBezTo>
                    <a:lnTo>
                      <a:pt x="4408" y="2471"/>
                    </a:lnTo>
                    <a:lnTo>
                      <a:pt x="3468" y="2489"/>
                    </a:lnTo>
                    <a:lnTo>
                      <a:pt x="3468" y="2489"/>
                    </a:lnTo>
                    <a:cubicBezTo>
                      <a:pt x="3088" y="2477"/>
                      <a:pt x="3089" y="1927"/>
                      <a:pt x="3471" y="1909"/>
                    </a:cubicBezTo>
                    <a:lnTo>
                      <a:pt x="4381" y="1909"/>
                    </a:lnTo>
                    <a:cubicBezTo>
                      <a:pt x="4283" y="964"/>
                      <a:pt x="3453" y="116"/>
                      <a:pt x="2490" y="9"/>
                    </a:cubicBezTo>
                    <a:lnTo>
                      <a:pt x="2490" y="946"/>
                    </a:lnTo>
                    <a:cubicBezTo>
                      <a:pt x="2490" y="1106"/>
                      <a:pt x="2365" y="1231"/>
                      <a:pt x="2213" y="1231"/>
                    </a:cubicBezTo>
                    <a:cubicBezTo>
                      <a:pt x="2053" y="1231"/>
                      <a:pt x="1928" y="1106"/>
                      <a:pt x="1928" y="946"/>
                    </a:cubicBezTo>
                    <a:lnTo>
                      <a:pt x="19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13;p28">
                <a:extLst>
                  <a:ext uri="{FF2B5EF4-FFF2-40B4-BE49-F238E27FC236}">
                    <a16:creationId xmlns:a16="http://schemas.microsoft.com/office/drawing/2014/main" id="{AEFB96EA-D857-28DF-3DB0-61A7A5E65DF5}"/>
                  </a:ext>
                </a:extLst>
              </p:cNvPr>
              <p:cNvSpPr/>
              <p:nvPr/>
            </p:nvSpPr>
            <p:spPr>
              <a:xfrm>
                <a:off x="-2373460" y="1852009"/>
                <a:ext cx="127107" cy="123327"/>
              </a:xfrm>
              <a:custGeom>
                <a:avLst/>
                <a:gdLst/>
                <a:ahLst/>
                <a:cxnLst/>
                <a:rect l="l" t="t" r="r" b="b"/>
                <a:pathLst>
                  <a:path w="2320" h="2251" extrusionOk="0">
                    <a:moveTo>
                      <a:pt x="1320" y="1"/>
                    </a:moveTo>
                    <a:lnTo>
                      <a:pt x="277" y="1053"/>
                    </a:lnTo>
                    <a:cubicBezTo>
                      <a:pt x="0" y="1321"/>
                      <a:pt x="0" y="1767"/>
                      <a:pt x="277" y="2044"/>
                    </a:cubicBezTo>
                    <a:cubicBezTo>
                      <a:pt x="415" y="2182"/>
                      <a:pt x="596" y="2251"/>
                      <a:pt x="775" y="2251"/>
                    </a:cubicBezTo>
                    <a:cubicBezTo>
                      <a:pt x="955" y="2251"/>
                      <a:pt x="1133" y="2182"/>
                      <a:pt x="1267" y="2044"/>
                    </a:cubicBezTo>
                    <a:lnTo>
                      <a:pt x="2320" y="1000"/>
                    </a:lnTo>
                    <a:lnTo>
                      <a:pt x="132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14;p28">
                <a:extLst>
                  <a:ext uri="{FF2B5EF4-FFF2-40B4-BE49-F238E27FC236}">
                    <a16:creationId xmlns:a16="http://schemas.microsoft.com/office/drawing/2014/main" id="{C56E351B-59BE-CE0F-39B9-62723A715915}"/>
                  </a:ext>
                </a:extLst>
              </p:cNvPr>
              <p:cNvSpPr/>
              <p:nvPr/>
            </p:nvSpPr>
            <p:spPr>
              <a:xfrm>
                <a:off x="-2318453" y="1483340"/>
                <a:ext cx="503881" cy="379020"/>
              </a:xfrm>
              <a:custGeom>
                <a:avLst/>
                <a:gdLst/>
                <a:ahLst/>
                <a:cxnLst/>
                <a:rect l="l" t="t" r="r" b="b"/>
                <a:pathLst>
                  <a:path w="9197" h="6918" extrusionOk="0">
                    <a:moveTo>
                      <a:pt x="4553" y="663"/>
                    </a:moveTo>
                    <a:cubicBezTo>
                      <a:pt x="4568" y="663"/>
                      <a:pt x="4583" y="663"/>
                      <a:pt x="4598" y="663"/>
                    </a:cubicBezTo>
                    <a:cubicBezTo>
                      <a:pt x="7150" y="708"/>
                      <a:pt x="8274" y="3705"/>
                      <a:pt x="6570" y="5436"/>
                    </a:cubicBezTo>
                    <a:cubicBezTo>
                      <a:pt x="6019" y="5987"/>
                      <a:pt x="5308" y="6252"/>
                      <a:pt x="4601" y="6252"/>
                    </a:cubicBezTo>
                    <a:cubicBezTo>
                      <a:pt x="3878" y="6252"/>
                      <a:pt x="3160" y="5973"/>
                      <a:pt x="2627" y="5436"/>
                    </a:cubicBezTo>
                    <a:cubicBezTo>
                      <a:pt x="2092" y="4901"/>
                      <a:pt x="1824" y="4196"/>
                      <a:pt x="1815" y="3491"/>
                    </a:cubicBezTo>
                    <a:cubicBezTo>
                      <a:pt x="1815" y="3482"/>
                      <a:pt x="1806" y="3473"/>
                      <a:pt x="1806" y="3465"/>
                    </a:cubicBezTo>
                    <a:cubicBezTo>
                      <a:pt x="1806" y="3456"/>
                      <a:pt x="1815" y="3447"/>
                      <a:pt x="1815" y="3438"/>
                    </a:cubicBezTo>
                    <a:cubicBezTo>
                      <a:pt x="1797" y="1972"/>
                      <a:pt x="3065" y="663"/>
                      <a:pt x="4553" y="663"/>
                    </a:cubicBezTo>
                    <a:close/>
                    <a:moveTo>
                      <a:pt x="4598" y="1"/>
                    </a:moveTo>
                    <a:cubicBezTo>
                      <a:pt x="3697" y="1"/>
                      <a:pt x="2796" y="338"/>
                      <a:pt x="2154" y="1011"/>
                    </a:cubicBezTo>
                    <a:cubicBezTo>
                      <a:pt x="0" y="3165"/>
                      <a:pt x="1531" y="6917"/>
                      <a:pt x="4577" y="6917"/>
                    </a:cubicBezTo>
                    <a:cubicBezTo>
                      <a:pt x="4584" y="6917"/>
                      <a:pt x="4591" y="6917"/>
                      <a:pt x="4598" y="6917"/>
                    </a:cubicBezTo>
                    <a:cubicBezTo>
                      <a:pt x="4606" y="6917"/>
                      <a:pt x="4613" y="6917"/>
                      <a:pt x="4620" y="6917"/>
                    </a:cubicBezTo>
                    <a:cubicBezTo>
                      <a:pt x="7666" y="6917"/>
                      <a:pt x="9197" y="3165"/>
                      <a:pt x="7043" y="1011"/>
                    </a:cubicBezTo>
                    <a:cubicBezTo>
                      <a:pt x="6401" y="338"/>
                      <a:pt x="5500" y="1"/>
                      <a:pt x="45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015;p28">
                <a:extLst>
                  <a:ext uri="{FF2B5EF4-FFF2-40B4-BE49-F238E27FC236}">
                    <a16:creationId xmlns:a16="http://schemas.microsoft.com/office/drawing/2014/main" id="{D75CD5D4-3C34-74F6-4B73-FA4DB86E5131}"/>
                  </a:ext>
                </a:extLst>
              </p:cNvPr>
              <p:cNvSpPr/>
              <p:nvPr/>
            </p:nvSpPr>
            <p:spPr>
              <a:xfrm>
                <a:off x="-2279170" y="1798755"/>
                <a:ext cx="85633" cy="86071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71" extrusionOk="0">
                    <a:moveTo>
                      <a:pt x="572" y="0"/>
                    </a:moveTo>
                    <a:lnTo>
                      <a:pt x="1" y="571"/>
                    </a:lnTo>
                    <a:lnTo>
                      <a:pt x="1000" y="1570"/>
                    </a:lnTo>
                    <a:lnTo>
                      <a:pt x="1562" y="999"/>
                    </a:lnTo>
                    <a:cubicBezTo>
                      <a:pt x="1187" y="732"/>
                      <a:pt x="839" y="384"/>
                      <a:pt x="5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4" name="Google Shape;1036;p28">
              <a:extLst>
                <a:ext uri="{FF2B5EF4-FFF2-40B4-BE49-F238E27FC236}">
                  <a16:creationId xmlns:a16="http://schemas.microsoft.com/office/drawing/2014/main" id="{3A2B7FE0-6239-96BE-37DA-8493D790DCD8}"/>
                </a:ext>
              </a:extLst>
            </p:cNvPr>
            <p:cNvCxnSpPr>
              <a:cxnSpLocks/>
              <a:stCxn id="9" idx="4"/>
              <a:endCxn id="3" idx="0"/>
            </p:cNvCxnSpPr>
            <p:nvPr/>
          </p:nvCxnSpPr>
          <p:spPr>
            <a:xfrm>
              <a:off x="2887147" y="3048251"/>
              <a:ext cx="0" cy="7642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9" name="Agrupar 98">
            <a:extLst>
              <a:ext uri="{FF2B5EF4-FFF2-40B4-BE49-F238E27FC236}">
                <a16:creationId xmlns:a16="http://schemas.microsoft.com/office/drawing/2014/main" id="{049C9252-E06C-5A5E-BA62-20721F24A71A}"/>
              </a:ext>
            </a:extLst>
          </p:cNvPr>
          <p:cNvGrpSpPr/>
          <p:nvPr/>
        </p:nvGrpSpPr>
        <p:grpSpPr>
          <a:xfrm>
            <a:off x="4461763" y="2053151"/>
            <a:ext cx="995100" cy="1071524"/>
            <a:chOff x="4528834" y="2053151"/>
            <a:chExt cx="995100" cy="1071524"/>
          </a:xfrm>
        </p:grpSpPr>
        <p:sp>
          <p:nvSpPr>
            <p:cNvPr id="17" name="Google Shape;991;p28">
              <a:extLst>
                <a:ext uri="{FF2B5EF4-FFF2-40B4-BE49-F238E27FC236}">
                  <a16:creationId xmlns:a16="http://schemas.microsoft.com/office/drawing/2014/main" id="{F113D5F7-35B1-6F52-08E3-24C6C1166F1F}"/>
                </a:ext>
              </a:extLst>
            </p:cNvPr>
            <p:cNvSpPr/>
            <p:nvPr/>
          </p:nvSpPr>
          <p:spPr>
            <a:xfrm>
              <a:off x="4528834" y="2053151"/>
              <a:ext cx="995100" cy="995100"/>
            </a:xfrm>
            <a:prstGeom prst="rect">
              <a:avLst/>
            </a:prstGeom>
            <a:solidFill>
              <a:srgbClr val="0721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  <a:latin typeface="Optika" panose="00000500000000000000" pitchFamily="50" charset="0"/>
              </a:endParaRPr>
            </a:p>
          </p:txBody>
        </p:sp>
        <p:sp>
          <p:nvSpPr>
            <p:cNvPr id="45" name="Google Shape;1017;p28">
              <a:extLst>
                <a:ext uri="{FF2B5EF4-FFF2-40B4-BE49-F238E27FC236}">
                  <a16:creationId xmlns:a16="http://schemas.microsoft.com/office/drawing/2014/main" id="{70E40176-EBEF-DAC7-9FC0-CF9A9B2ACB8B}"/>
                </a:ext>
              </a:extLst>
            </p:cNvPr>
            <p:cNvSpPr/>
            <p:nvPr/>
          </p:nvSpPr>
          <p:spPr>
            <a:xfrm>
              <a:off x="4887293" y="2595494"/>
              <a:ext cx="95330" cy="93467"/>
            </a:xfrm>
            <a:custGeom>
              <a:avLst/>
              <a:gdLst/>
              <a:ahLst/>
              <a:cxnLst/>
              <a:rect l="l" t="t" r="r" b="b"/>
              <a:pathLst>
                <a:path w="1740" h="1706" extrusionOk="0">
                  <a:moveTo>
                    <a:pt x="47" y="0"/>
                  </a:moveTo>
                  <a:cubicBezTo>
                    <a:pt x="31" y="0"/>
                    <a:pt x="16" y="1"/>
                    <a:pt x="1" y="1"/>
                  </a:cubicBezTo>
                  <a:cubicBezTo>
                    <a:pt x="126" y="385"/>
                    <a:pt x="340" y="751"/>
                    <a:pt x="652" y="1063"/>
                  </a:cubicBezTo>
                  <a:cubicBezTo>
                    <a:pt x="955" y="1366"/>
                    <a:pt x="1321" y="1580"/>
                    <a:pt x="1714" y="1705"/>
                  </a:cubicBezTo>
                  <a:cubicBezTo>
                    <a:pt x="1740" y="908"/>
                    <a:pt x="856" y="0"/>
                    <a:pt x="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018;p28">
              <a:extLst>
                <a:ext uri="{FF2B5EF4-FFF2-40B4-BE49-F238E27FC236}">
                  <a16:creationId xmlns:a16="http://schemas.microsoft.com/office/drawing/2014/main" id="{1F3F8473-15E2-2F0B-84E8-7B8B2A865782}"/>
                </a:ext>
              </a:extLst>
            </p:cNvPr>
            <p:cNvSpPr/>
            <p:nvPr/>
          </p:nvSpPr>
          <p:spPr>
            <a:xfrm>
              <a:off x="5069627" y="2595494"/>
              <a:ext cx="94399" cy="93467"/>
            </a:xfrm>
            <a:custGeom>
              <a:avLst/>
              <a:gdLst/>
              <a:ahLst/>
              <a:cxnLst/>
              <a:rect l="l" t="t" r="r" b="b"/>
              <a:pathLst>
                <a:path w="1723" h="1706" extrusionOk="0">
                  <a:moveTo>
                    <a:pt x="1674" y="0"/>
                  </a:moveTo>
                  <a:cubicBezTo>
                    <a:pt x="1302" y="0"/>
                    <a:pt x="887" y="195"/>
                    <a:pt x="553" y="536"/>
                  </a:cubicBezTo>
                  <a:cubicBezTo>
                    <a:pt x="197" y="884"/>
                    <a:pt x="0" y="1321"/>
                    <a:pt x="18" y="1705"/>
                  </a:cubicBezTo>
                  <a:cubicBezTo>
                    <a:pt x="402" y="1580"/>
                    <a:pt x="767" y="1366"/>
                    <a:pt x="1071" y="1063"/>
                  </a:cubicBezTo>
                  <a:cubicBezTo>
                    <a:pt x="1383" y="751"/>
                    <a:pt x="1597" y="385"/>
                    <a:pt x="1722" y="1"/>
                  </a:cubicBezTo>
                  <a:cubicBezTo>
                    <a:pt x="1706" y="0"/>
                    <a:pt x="1690" y="0"/>
                    <a:pt x="16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019;p28">
              <a:extLst>
                <a:ext uri="{FF2B5EF4-FFF2-40B4-BE49-F238E27FC236}">
                  <a16:creationId xmlns:a16="http://schemas.microsoft.com/office/drawing/2014/main" id="{0E61E6AD-C57F-A0AD-1CC5-57020CFC1643}"/>
                </a:ext>
              </a:extLst>
            </p:cNvPr>
            <p:cNvSpPr/>
            <p:nvPr/>
          </p:nvSpPr>
          <p:spPr>
            <a:xfrm>
              <a:off x="4887293" y="2412227"/>
              <a:ext cx="93906" cy="93413"/>
            </a:xfrm>
            <a:custGeom>
              <a:avLst/>
              <a:gdLst/>
              <a:ahLst/>
              <a:cxnLst/>
              <a:rect l="l" t="t" r="r" b="b"/>
              <a:pathLst>
                <a:path w="1714" h="1705" extrusionOk="0">
                  <a:moveTo>
                    <a:pt x="1705" y="1"/>
                  </a:moveTo>
                  <a:lnTo>
                    <a:pt x="1705" y="1"/>
                  </a:lnTo>
                  <a:cubicBezTo>
                    <a:pt x="920" y="242"/>
                    <a:pt x="242" y="929"/>
                    <a:pt x="1" y="1705"/>
                  </a:cubicBezTo>
                  <a:cubicBezTo>
                    <a:pt x="9" y="1705"/>
                    <a:pt x="17" y="1705"/>
                    <a:pt x="26" y="1705"/>
                  </a:cubicBezTo>
                  <a:cubicBezTo>
                    <a:pt x="403" y="1705"/>
                    <a:pt x="820" y="1510"/>
                    <a:pt x="1169" y="1169"/>
                  </a:cubicBezTo>
                  <a:cubicBezTo>
                    <a:pt x="1517" y="813"/>
                    <a:pt x="1714" y="384"/>
                    <a:pt x="17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020;p28">
              <a:extLst>
                <a:ext uri="{FF2B5EF4-FFF2-40B4-BE49-F238E27FC236}">
                  <a16:creationId xmlns:a16="http://schemas.microsoft.com/office/drawing/2014/main" id="{86BAEBB7-F6DE-1683-89C8-F6AD16B4DDC2}"/>
                </a:ext>
              </a:extLst>
            </p:cNvPr>
            <p:cNvSpPr/>
            <p:nvPr/>
          </p:nvSpPr>
          <p:spPr>
            <a:xfrm>
              <a:off x="5068696" y="2412227"/>
              <a:ext cx="95330" cy="93467"/>
            </a:xfrm>
            <a:custGeom>
              <a:avLst/>
              <a:gdLst/>
              <a:ahLst/>
              <a:cxnLst/>
              <a:rect l="l" t="t" r="r" b="b"/>
              <a:pathLst>
                <a:path w="1740" h="1706" extrusionOk="0">
                  <a:moveTo>
                    <a:pt x="35" y="1"/>
                  </a:moveTo>
                  <a:lnTo>
                    <a:pt x="35" y="1"/>
                  </a:lnTo>
                  <a:cubicBezTo>
                    <a:pt x="0" y="780"/>
                    <a:pt x="911" y="1706"/>
                    <a:pt x="1695" y="1706"/>
                  </a:cubicBezTo>
                  <a:cubicBezTo>
                    <a:pt x="1710" y="1706"/>
                    <a:pt x="1724" y="1705"/>
                    <a:pt x="1739" y="1705"/>
                  </a:cubicBezTo>
                  <a:cubicBezTo>
                    <a:pt x="1498" y="929"/>
                    <a:pt x="820" y="242"/>
                    <a:pt x="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021;p28">
              <a:extLst>
                <a:ext uri="{FF2B5EF4-FFF2-40B4-BE49-F238E27FC236}">
                  <a16:creationId xmlns:a16="http://schemas.microsoft.com/office/drawing/2014/main" id="{72734DBC-957C-26AD-0815-F40BAFF36FAA}"/>
                </a:ext>
              </a:extLst>
            </p:cNvPr>
            <p:cNvSpPr/>
            <p:nvPr/>
          </p:nvSpPr>
          <p:spPr>
            <a:xfrm>
              <a:off x="5000211" y="2527611"/>
              <a:ext cx="50898" cy="46076"/>
            </a:xfrm>
            <a:custGeom>
              <a:avLst/>
              <a:gdLst/>
              <a:ahLst/>
              <a:cxnLst/>
              <a:rect l="l" t="t" r="r" b="b"/>
              <a:pathLst>
                <a:path w="929" h="841" extrusionOk="0">
                  <a:moveTo>
                    <a:pt x="464" y="0"/>
                  </a:moveTo>
                  <a:cubicBezTo>
                    <a:pt x="357" y="0"/>
                    <a:pt x="250" y="45"/>
                    <a:pt x="170" y="125"/>
                  </a:cubicBezTo>
                  <a:cubicBezTo>
                    <a:pt x="0" y="286"/>
                    <a:pt x="0" y="553"/>
                    <a:pt x="170" y="714"/>
                  </a:cubicBezTo>
                  <a:cubicBezTo>
                    <a:pt x="250" y="799"/>
                    <a:pt x="357" y="841"/>
                    <a:pt x="464" y="841"/>
                  </a:cubicBezTo>
                  <a:cubicBezTo>
                    <a:pt x="571" y="841"/>
                    <a:pt x="678" y="799"/>
                    <a:pt x="759" y="714"/>
                  </a:cubicBezTo>
                  <a:cubicBezTo>
                    <a:pt x="928" y="553"/>
                    <a:pt x="928" y="286"/>
                    <a:pt x="759" y="125"/>
                  </a:cubicBezTo>
                  <a:cubicBezTo>
                    <a:pt x="678" y="45"/>
                    <a:pt x="571" y="0"/>
                    <a:pt x="4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022;p28">
              <a:extLst>
                <a:ext uri="{FF2B5EF4-FFF2-40B4-BE49-F238E27FC236}">
                  <a16:creationId xmlns:a16="http://schemas.microsoft.com/office/drawing/2014/main" id="{90979B9B-FCFE-9584-968F-D02BC2EEE74E}"/>
                </a:ext>
              </a:extLst>
            </p:cNvPr>
            <p:cNvSpPr/>
            <p:nvPr/>
          </p:nvSpPr>
          <p:spPr>
            <a:xfrm>
              <a:off x="4879952" y="2405160"/>
              <a:ext cx="291360" cy="290867"/>
            </a:xfrm>
            <a:custGeom>
              <a:avLst/>
              <a:gdLst/>
              <a:ahLst/>
              <a:cxnLst/>
              <a:rect l="l" t="t" r="r" b="b"/>
              <a:pathLst>
                <a:path w="5318" h="5309" extrusionOk="0">
                  <a:moveTo>
                    <a:pt x="2656" y="1711"/>
                  </a:moveTo>
                  <a:cubicBezTo>
                    <a:pt x="2898" y="1711"/>
                    <a:pt x="3141" y="1802"/>
                    <a:pt x="3328" y="1985"/>
                  </a:cubicBezTo>
                  <a:cubicBezTo>
                    <a:pt x="3694" y="2351"/>
                    <a:pt x="3694" y="2958"/>
                    <a:pt x="3328" y="3324"/>
                  </a:cubicBezTo>
                  <a:cubicBezTo>
                    <a:pt x="3141" y="3511"/>
                    <a:pt x="2898" y="3605"/>
                    <a:pt x="2656" y="3605"/>
                  </a:cubicBezTo>
                  <a:cubicBezTo>
                    <a:pt x="2414" y="3605"/>
                    <a:pt x="2173" y="3511"/>
                    <a:pt x="1990" y="3324"/>
                  </a:cubicBezTo>
                  <a:cubicBezTo>
                    <a:pt x="1616" y="2958"/>
                    <a:pt x="1616" y="2351"/>
                    <a:pt x="1990" y="1985"/>
                  </a:cubicBezTo>
                  <a:cubicBezTo>
                    <a:pt x="2173" y="1802"/>
                    <a:pt x="2414" y="1711"/>
                    <a:pt x="2656" y="1711"/>
                  </a:cubicBezTo>
                  <a:close/>
                  <a:moveTo>
                    <a:pt x="2656" y="0"/>
                  </a:moveTo>
                  <a:cubicBezTo>
                    <a:pt x="2555" y="0"/>
                    <a:pt x="2454" y="5"/>
                    <a:pt x="2356" y="14"/>
                  </a:cubicBezTo>
                  <a:cubicBezTo>
                    <a:pt x="2454" y="924"/>
                    <a:pt x="1633" y="1994"/>
                    <a:pt x="724" y="2271"/>
                  </a:cubicBezTo>
                  <a:cubicBezTo>
                    <a:pt x="524" y="2330"/>
                    <a:pt x="337" y="2365"/>
                    <a:pt x="141" y="2365"/>
                  </a:cubicBezTo>
                  <a:cubicBezTo>
                    <a:pt x="101" y="2365"/>
                    <a:pt x="60" y="2363"/>
                    <a:pt x="19" y="2360"/>
                  </a:cubicBezTo>
                  <a:cubicBezTo>
                    <a:pt x="1" y="2556"/>
                    <a:pt x="1" y="2753"/>
                    <a:pt x="19" y="2949"/>
                  </a:cubicBezTo>
                  <a:cubicBezTo>
                    <a:pt x="68" y="2944"/>
                    <a:pt x="118" y="2942"/>
                    <a:pt x="168" y="2942"/>
                  </a:cubicBezTo>
                  <a:cubicBezTo>
                    <a:pt x="1303" y="2942"/>
                    <a:pt x="2485" y="4176"/>
                    <a:pt x="2365" y="5295"/>
                  </a:cubicBezTo>
                  <a:cubicBezTo>
                    <a:pt x="2463" y="5304"/>
                    <a:pt x="2561" y="5308"/>
                    <a:pt x="2659" y="5308"/>
                  </a:cubicBezTo>
                  <a:cubicBezTo>
                    <a:pt x="2758" y="5308"/>
                    <a:pt x="2856" y="5304"/>
                    <a:pt x="2954" y="5295"/>
                  </a:cubicBezTo>
                  <a:cubicBezTo>
                    <a:pt x="2909" y="4742"/>
                    <a:pt x="3159" y="4117"/>
                    <a:pt x="3641" y="3636"/>
                  </a:cubicBezTo>
                  <a:cubicBezTo>
                    <a:pt x="3917" y="3359"/>
                    <a:pt x="4247" y="3154"/>
                    <a:pt x="4586" y="3038"/>
                  </a:cubicBezTo>
                  <a:cubicBezTo>
                    <a:pt x="4780" y="2974"/>
                    <a:pt x="4974" y="2944"/>
                    <a:pt x="5163" y="2944"/>
                  </a:cubicBezTo>
                  <a:cubicBezTo>
                    <a:pt x="5209" y="2944"/>
                    <a:pt x="5255" y="2945"/>
                    <a:pt x="5300" y="2949"/>
                  </a:cubicBezTo>
                  <a:cubicBezTo>
                    <a:pt x="5318" y="2753"/>
                    <a:pt x="5318" y="2556"/>
                    <a:pt x="5291" y="2351"/>
                  </a:cubicBezTo>
                  <a:cubicBezTo>
                    <a:pt x="5255" y="2360"/>
                    <a:pt x="5211" y="2360"/>
                    <a:pt x="5166" y="2360"/>
                  </a:cubicBezTo>
                  <a:cubicBezTo>
                    <a:pt x="4649" y="2360"/>
                    <a:pt x="4087" y="2110"/>
                    <a:pt x="3650" y="1673"/>
                  </a:cubicBezTo>
                  <a:cubicBezTo>
                    <a:pt x="3364" y="1388"/>
                    <a:pt x="3159" y="1058"/>
                    <a:pt x="3043" y="719"/>
                  </a:cubicBezTo>
                  <a:cubicBezTo>
                    <a:pt x="2972" y="478"/>
                    <a:pt x="2936" y="246"/>
                    <a:pt x="2963" y="14"/>
                  </a:cubicBezTo>
                  <a:cubicBezTo>
                    <a:pt x="2860" y="5"/>
                    <a:pt x="2758" y="0"/>
                    <a:pt x="26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023;p28">
              <a:extLst>
                <a:ext uri="{FF2B5EF4-FFF2-40B4-BE49-F238E27FC236}">
                  <a16:creationId xmlns:a16="http://schemas.microsoft.com/office/drawing/2014/main" id="{B4E4F4A4-399E-3AF1-EF78-98C9652317A4}"/>
                </a:ext>
              </a:extLst>
            </p:cNvPr>
            <p:cNvSpPr/>
            <p:nvPr/>
          </p:nvSpPr>
          <p:spPr>
            <a:xfrm>
              <a:off x="4779306" y="2304459"/>
              <a:ext cx="494183" cy="492485"/>
            </a:xfrm>
            <a:custGeom>
              <a:avLst/>
              <a:gdLst/>
              <a:ahLst/>
              <a:cxnLst/>
              <a:rect l="l" t="t" r="r" b="b"/>
              <a:pathLst>
                <a:path w="9020" h="8989" extrusionOk="0">
                  <a:moveTo>
                    <a:pt x="4522" y="1317"/>
                  </a:moveTo>
                  <a:cubicBezTo>
                    <a:pt x="5312" y="1317"/>
                    <a:pt x="6111" y="1608"/>
                    <a:pt x="6744" y="2244"/>
                  </a:cubicBezTo>
                  <a:cubicBezTo>
                    <a:pt x="7191" y="2690"/>
                    <a:pt x="7476" y="3226"/>
                    <a:pt x="7601" y="3797"/>
                  </a:cubicBezTo>
                  <a:cubicBezTo>
                    <a:pt x="7601" y="3806"/>
                    <a:pt x="7601" y="3806"/>
                    <a:pt x="7601" y="3814"/>
                  </a:cubicBezTo>
                  <a:cubicBezTo>
                    <a:pt x="7610" y="3832"/>
                    <a:pt x="7610" y="3850"/>
                    <a:pt x="7610" y="3868"/>
                  </a:cubicBezTo>
                  <a:cubicBezTo>
                    <a:pt x="7815" y="4876"/>
                    <a:pt x="7530" y="5964"/>
                    <a:pt x="6744" y="6741"/>
                  </a:cubicBezTo>
                  <a:cubicBezTo>
                    <a:pt x="6124" y="7361"/>
                    <a:pt x="5315" y="7674"/>
                    <a:pt x="4491" y="7674"/>
                  </a:cubicBezTo>
                  <a:cubicBezTo>
                    <a:pt x="4285" y="7674"/>
                    <a:pt x="4077" y="7654"/>
                    <a:pt x="3872" y="7615"/>
                  </a:cubicBezTo>
                  <a:cubicBezTo>
                    <a:pt x="3854" y="7606"/>
                    <a:pt x="3836" y="7606"/>
                    <a:pt x="3818" y="7597"/>
                  </a:cubicBezTo>
                  <a:cubicBezTo>
                    <a:pt x="2650" y="7374"/>
                    <a:pt x="1615" y="6339"/>
                    <a:pt x="1392" y="5170"/>
                  </a:cubicBezTo>
                  <a:cubicBezTo>
                    <a:pt x="1383" y="5153"/>
                    <a:pt x="1383" y="5144"/>
                    <a:pt x="1383" y="5126"/>
                  </a:cubicBezTo>
                  <a:cubicBezTo>
                    <a:pt x="1294" y="4707"/>
                    <a:pt x="1294" y="4278"/>
                    <a:pt x="1383" y="3859"/>
                  </a:cubicBezTo>
                  <a:cubicBezTo>
                    <a:pt x="1383" y="3841"/>
                    <a:pt x="1383" y="3823"/>
                    <a:pt x="1392" y="3806"/>
                  </a:cubicBezTo>
                  <a:cubicBezTo>
                    <a:pt x="1729" y="2249"/>
                    <a:pt x="3110" y="1317"/>
                    <a:pt x="4522" y="1317"/>
                  </a:cubicBezTo>
                  <a:close/>
                  <a:moveTo>
                    <a:pt x="4487" y="1"/>
                  </a:moveTo>
                  <a:cubicBezTo>
                    <a:pt x="4169" y="1"/>
                    <a:pt x="3850" y="32"/>
                    <a:pt x="3542" y="94"/>
                  </a:cubicBezTo>
                  <a:cubicBezTo>
                    <a:pt x="3435" y="121"/>
                    <a:pt x="3355" y="210"/>
                    <a:pt x="3337" y="317"/>
                  </a:cubicBezTo>
                  <a:lnTo>
                    <a:pt x="3265" y="755"/>
                  </a:lnTo>
                  <a:cubicBezTo>
                    <a:pt x="3256" y="799"/>
                    <a:pt x="3230" y="826"/>
                    <a:pt x="3194" y="844"/>
                  </a:cubicBezTo>
                  <a:cubicBezTo>
                    <a:pt x="3069" y="888"/>
                    <a:pt x="2944" y="942"/>
                    <a:pt x="2828" y="995"/>
                  </a:cubicBezTo>
                  <a:cubicBezTo>
                    <a:pt x="2812" y="1003"/>
                    <a:pt x="2794" y="1008"/>
                    <a:pt x="2776" y="1008"/>
                  </a:cubicBezTo>
                  <a:cubicBezTo>
                    <a:pt x="2754" y="1008"/>
                    <a:pt x="2732" y="1001"/>
                    <a:pt x="2712" y="986"/>
                  </a:cubicBezTo>
                  <a:lnTo>
                    <a:pt x="2346" y="728"/>
                  </a:lnTo>
                  <a:cubicBezTo>
                    <a:pt x="2300" y="695"/>
                    <a:pt x="2247" y="680"/>
                    <a:pt x="2193" y="680"/>
                  </a:cubicBezTo>
                  <a:cubicBezTo>
                    <a:pt x="2144" y="680"/>
                    <a:pt x="2095" y="693"/>
                    <a:pt x="2052" y="719"/>
                  </a:cubicBezTo>
                  <a:cubicBezTo>
                    <a:pt x="1793" y="897"/>
                    <a:pt x="1544" y="1094"/>
                    <a:pt x="1321" y="1317"/>
                  </a:cubicBezTo>
                  <a:cubicBezTo>
                    <a:pt x="1115" y="1531"/>
                    <a:pt x="928" y="1754"/>
                    <a:pt x="758" y="1995"/>
                  </a:cubicBezTo>
                  <a:cubicBezTo>
                    <a:pt x="669" y="2119"/>
                    <a:pt x="678" y="2298"/>
                    <a:pt x="767" y="2423"/>
                  </a:cubicBezTo>
                  <a:lnTo>
                    <a:pt x="982" y="2717"/>
                  </a:lnTo>
                  <a:cubicBezTo>
                    <a:pt x="1008" y="2753"/>
                    <a:pt x="1008" y="2797"/>
                    <a:pt x="990" y="2833"/>
                  </a:cubicBezTo>
                  <a:cubicBezTo>
                    <a:pt x="937" y="2949"/>
                    <a:pt x="883" y="3074"/>
                    <a:pt x="839" y="3199"/>
                  </a:cubicBezTo>
                  <a:cubicBezTo>
                    <a:pt x="830" y="3235"/>
                    <a:pt x="794" y="3270"/>
                    <a:pt x="758" y="3270"/>
                  </a:cubicBezTo>
                  <a:lnTo>
                    <a:pt x="312" y="3351"/>
                  </a:lnTo>
                  <a:cubicBezTo>
                    <a:pt x="205" y="3368"/>
                    <a:pt x="116" y="3449"/>
                    <a:pt x="98" y="3556"/>
                  </a:cubicBezTo>
                  <a:cubicBezTo>
                    <a:pt x="36" y="3859"/>
                    <a:pt x="0" y="4180"/>
                    <a:pt x="0" y="4492"/>
                  </a:cubicBezTo>
                  <a:cubicBezTo>
                    <a:pt x="0" y="4787"/>
                    <a:pt x="27" y="5081"/>
                    <a:pt x="80" y="5367"/>
                  </a:cubicBezTo>
                  <a:cubicBezTo>
                    <a:pt x="116" y="5518"/>
                    <a:pt x="241" y="5643"/>
                    <a:pt x="393" y="5661"/>
                  </a:cubicBezTo>
                  <a:lnTo>
                    <a:pt x="758" y="5724"/>
                  </a:lnTo>
                  <a:cubicBezTo>
                    <a:pt x="794" y="5732"/>
                    <a:pt x="830" y="5759"/>
                    <a:pt x="848" y="5795"/>
                  </a:cubicBezTo>
                  <a:cubicBezTo>
                    <a:pt x="892" y="5920"/>
                    <a:pt x="937" y="6045"/>
                    <a:pt x="999" y="6161"/>
                  </a:cubicBezTo>
                  <a:cubicBezTo>
                    <a:pt x="1017" y="6196"/>
                    <a:pt x="1008" y="6241"/>
                    <a:pt x="990" y="6277"/>
                  </a:cubicBezTo>
                  <a:lnTo>
                    <a:pt x="767" y="6580"/>
                  </a:lnTo>
                  <a:cubicBezTo>
                    <a:pt x="678" y="6705"/>
                    <a:pt x="678" y="6874"/>
                    <a:pt x="767" y="7008"/>
                  </a:cubicBezTo>
                  <a:cubicBezTo>
                    <a:pt x="1106" y="7499"/>
                    <a:pt x="1552" y="7945"/>
                    <a:pt x="2061" y="8275"/>
                  </a:cubicBezTo>
                  <a:cubicBezTo>
                    <a:pt x="2104" y="8301"/>
                    <a:pt x="2153" y="8314"/>
                    <a:pt x="2202" y="8314"/>
                  </a:cubicBezTo>
                  <a:cubicBezTo>
                    <a:pt x="2255" y="8314"/>
                    <a:pt x="2309" y="8298"/>
                    <a:pt x="2355" y="8266"/>
                  </a:cubicBezTo>
                  <a:lnTo>
                    <a:pt x="2721" y="8007"/>
                  </a:lnTo>
                  <a:cubicBezTo>
                    <a:pt x="2736" y="7993"/>
                    <a:pt x="2756" y="7986"/>
                    <a:pt x="2777" y="7986"/>
                  </a:cubicBezTo>
                  <a:cubicBezTo>
                    <a:pt x="2794" y="7986"/>
                    <a:pt x="2812" y="7990"/>
                    <a:pt x="2828" y="7998"/>
                  </a:cubicBezTo>
                  <a:cubicBezTo>
                    <a:pt x="2953" y="8052"/>
                    <a:pt x="3078" y="8105"/>
                    <a:pt x="3203" y="8150"/>
                  </a:cubicBezTo>
                  <a:cubicBezTo>
                    <a:pt x="3239" y="8159"/>
                    <a:pt x="3265" y="8195"/>
                    <a:pt x="3274" y="8239"/>
                  </a:cubicBezTo>
                  <a:lnTo>
                    <a:pt x="3337" y="8605"/>
                  </a:lnTo>
                  <a:cubicBezTo>
                    <a:pt x="3363" y="8757"/>
                    <a:pt x="3479" y="8882"/>
                    <a:pt x="3640" y="8908"/>
                  </a:cubicBezTo>
                  <a:cubicBezTo>
                    <a:pt x="3917" y="8962"/>
                    <a:pt x="4211" y="8989"/>
                    <a:pt x="4496" y="8989"/>
                  </a:cubicBezTo>
                  <a:cubicBezTo>
                    <a:pt x="4791" y="8989"/>
                    <a:pt x="5085" y="8962"/>
                    <a:pt x="5371" y="8908"/>
                  </a:cubicBezTo>
                  <a:cubicBezTo>
                    <a:pt x="5522" y="8873"/>
                    <a:pt x="5647" y="8748"/>
                    <a:pt x="5665" y="8596"/>
                  </a:cubicBezTo>
                  <a:lnTo>
                    <a:pt x="5727" y="8230"/>
                  </a:lnTo>
                  <a:cubicBezTo>
                    <a:pt x="5736" y="8195"/>
                    <a:pt x="5763" y="8159"/>
                    <a:pt x="5799" y="8141"/>
                  </a:cubicBezTo>
                  <a:cubicBezTo>
                    <a:pt x="5924" y="8097"/>
                    <a:pt x="6049" y="8052"/>
                    <a:pt x="6165" y="7989"/>
                  </a:cubicBezTo>
                  <a:cubicBezTo>
                    <a:pt x="6178" y="7983"/>
                    <a:pt x="6193" y="7980"/>
                    <a:pt x="6208" y="7980"/>
                  </a:cubicBezTo>
                  <a:cubicBezTo>
                    <a:pt x="6233" y="7980"/>
                    <a:pt x="6259" y="7987"/>
                    <a:pt x="6281" y="7998"/>
                  </a:cubicBezTo>
                  <a:lnTo>
                    <a:pt x="6646" y="8266"/>
                  </a:lnTo>
                  <a:cubicBezTo>
                    <a:pt x="6691" y="8297"/>
                    <a:pt x="6742" y="8313"/>
                    <a:pt x="6794" y="8313"/>
                  </a:cubicBezTo>
                  <a:cubicBezTo>
                    <a:pt x="6845" y="8313"/>
                    <a:pt x="6896" y="8297"/>
                    <a:pt x="6941" y="8266"/>
                  </a:cubicBezTo>
                  <a:cubicBezTo>
                    <a:pt x="7208" y="8097"/>
                    <a:pt x="7449" y="7891"/>
                    <a:pt x="7672" y="7668"/>
                  </a:cubicBezTo>
                  <a:cubicBezTo>
                    <a:pt x="7886" y="7463"/>
                    <a:pt x="8074" y="7240"/>
                    <a:pt x="8234" y="6999"/>
                  </a:cubicBezTo>
                  <a:cubicBezTo>
                    <a:pt x="8324" y="6865"/>
                    <a:pt x="8324" y="6696"/>
                    <a:pt x="8225" y="6571"/>
                  </a:cubicBezTo>
                  <a:lnTo>
                    <a:pt x="8011" y="6268"/>
                  </a:lnTo>
                  <a:cubicBezTo>
                    <a:pt x="7985" y="6232"/>
                    <a:pt x="7985" y="6187"/>
                    <a:pt x="8002" y="6152"/>
                  </a:cubicBezTo>
                  <a:cubicBezTo>
                    <a:pt x="8056" y="6036"/>
                    <a:pt x="8109" y="5911"/>
                    <a:pt x="8154" y="5786"/>
                  </a:cubicBezTo>
                  <a:cubicBezTo>
                    <a:pt x="8163" y="5750"/>
                    <a:pt x="8199" y="5724"/>
                    <a:pt x="8234" y="5715"/>
                  </a:cubicBezTo>
                  <a:lnTo>
                    <a:pt x="8680" y="5643"/>
                  </a:lnTo>
                  <a:cubicBezTo>
                    <a:pt x="8787" y="5625"/>
                    <a:pt x="8877" y="5536"/>
                    <a:pt x="8894" y="5429"/>
                  </a:cubicBezTo>
                  <a:cubicBezTo>
                    <a:pt x="9010" y="4840"/>
                    <a:pt x="9019" y="4216"/>
                    <a:pt x="8903" y="3618"/>
                  </a:cubicBezTo>
                  <a:cubicBezTo>
                    <a:pt x="8877" y="3467"/>
                    <a:pt x="8752" y="3351"/>
                    <a:pt x="8600" y="3324"/>
                  </a:cubicBezTo>
                  <a:lnTo>
                    <a:pt x="8234" y="3261"/>
                  </a:lnTo>
                  <a:cubicBezTo>
                    <a:pt x="8199" y="3261"/>
                    <a:pt x="8163" y="3226"/>
                    <a:pt x="8145" y="3190"/>
                  </a:cubicBezTo>
                  <a:cubicBezTo>
                    <a:pt x="8100" y="3065"/>
                    <a:pt x="8047" y="2940"/>
                    <a:pt x="7993" y="2815"/>
                  </a:cubicBezTo>
                  <a:cubicBezTo>
                    <a:pt x="7976" y="2780"/>
                    <a:pt x="7976" y="2744"/>
                    <a:pt x="8002" y="2708"/>
                  </a:cubicBezTo>
                  <a:lnTo>
                    <a:pt x="8216" y="2405"/>
                  </a:lnTo>
                  <a:cubicBezTo>
                    <a:pt x="8306" y="2280"/>
                    <a:pt x="8315" y="2111"/>
                    <a:pt x="8225" y="1977"/>
                  </a:cubicBezTo>
                  <a:cubicBezTo>
                    <a:pt x="8056" y="1745"/>
                    <a:pt x="7877" y="1522"/>
                    <a:pt x="7672" y="1317"/>
                  </a:cubicBezTo>
                  <a:cubicBezTo>
                    <a:pt x="7440" y="1085"/>
                    <a:pt x="7191" y="879"/>
                    <a:pt x="6932" y="710"/>
                  </a:cubicBezTo>
                  <a:cubicBezTo>
                    <a:pt x="6884" y="680"/>
                    <a:pt x="6833" y="664"/>
                    <a:pt x="6782" y="664"/>
                  </a:cubicBezTo>
                  <a:cubicBezTo>
                    <a:pt x="6728" y="664"/>
                    <a:pt x="6675" y="682"/>
                    <a:pt x="6629" y="719"/>
                  </a:cubicBezTo>
                  <a:lnTo>
                    <a:pt x="6263" y="978"/>
                  </a:lnTo>
                  <a:cubicBezTo>
                    <a:pt x="6248" y="992"/>
                    <a:pt x="6228" y="999"/>
                    <a:pt x="6207" y="999"/>
                  </a:cubicBezTo>
                  <a:cubicBezTo>
                    <a:pt x="6190" y="999"/>
                    <a:pt x="6172" y="995"/>
                    <a:pt x="6156" y="986"/>
                  </a:cubicBezTo>
                  <a:cubicBezTo>
                    <a:pt x="6031" y="933"/>
                    <a:pt x="5915" y="879"/>
                    <a:pt x="5790" y="835"/>
                  </a:cubicBezTo>
                  <a:cubicBezTo>
                    <a:pt x="5754" y="826"/>
                    <a:pt x="5719" y="790"/>
                    <a:pt x="5719" y="755"/>
                  </a:cubicBezTo>
                  <a:lnTo>
                    <a:pt x="5638" y="308"/>
                  </a:lnTo>
                  <a:cubicBezTo>
                    <a:pt x="5620" y="201"/>
                    <a:pt x="5540" y="121"/>
                    <a:pt x="5433" y="94"/>
                  </a:cubicBezTo>
                  <a:cubicBezTo>
                    <a:pt x="5125" y="32"/>
                    <a:pt x="4806" y="1"/>
                    <a:pt x="44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" name="Google Shape;1037;p28">
              <a:extLst>
                <a:ext uri="{FF2B5EF4-FFF2-40B4-BE49-F238E27FC236}">
                  <a16:creationId xmlns:a16="http://schemas.microsoft.com/office/drawing/2014/main" id="{37146486-3992-574A-94F2-8D398A880E10}"/>
                </a:ext>
              </a:extLst>
            </p:cNvPr>
            <p:cNvCxnSpPr>
              <a:cxnSpLocks/>
              <a:stCxn id="17" idx="2"/>
              <a:endCxn id="15" idx="0"/>
            </p:cNvCxnSpPr>
            <p:nvPr/>
          </p:nvCxnSpPr>
          <p:spPr>
            <a:xfrm>
              <a:off x="5026384" y="3048251"/>
              <a:ext cx="0" cy="7642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6" name="Google Shape;1038;p28">
            <a:extLst>
              <a:ext uri="{FF2B5EF4-FFF2-40B4-BE49-F238E27FC236}">
                <a16:creationId xmlns:a16="http://schemas.microsoft.com/office/drawing/2014/main" id="{43A33962-E1A7-D3DC-DA3A-5D8732CFA5EF}"/>
              </a:ext>
            </a:extLst>
          </p:cNvPr>
          <p:cNvCxnSpPr>
            <a:cxnSpLocks/>
            <a:stCxn id="15" idx="2"/>
            <a:endCxn id="18" idx="0"/>
          </p:cNvCxnSpPr>
          <p:nvPr/>
        </p:nvCxnSpPr>
        <p:spPr>
          <a:xfrm>
            <a:off x="4959313" y="4898875"/>
            <a:ext cx="0" cy="764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1039;p28">
            <a:extLst>
              <a:ext uri="{FF2B5EF4-FFF2-40B4-BE49-F238E27FC236}">
                <a16:creationId xmlns:a16="http://schemas.microsoft.com/office/drawing/2014/main" id="{8AF4FB3D-A907-4449-D7EC-AFEA793F57D2}"/>
              </a:ext>
            </a:extLst>
          </p:cNvPr>
          <p:cNvCxnSpPr>
            <a:cxnSpLocks/>
            <a:stCxn id="24" idx="2"/>
            <a:endCxn id="22" idx="0"/>
          </p:cNvCxnSpPr>
          <p:nvPr/>
        </p:nvCxnSpPr>
        <p:spPr>
          <a:xfrm>
            <a:off x="7207093" y="3048251"/>
            <a:ext cx="4905" cy="764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Google Shape;1040;p28">
            <a:extLst>
              <a:ext uri="{FF2B5EF4-FFF2-40B4-BE49-F238E27FC236}">
                <a16:creationId xmlns:a16="http://schemas.microsoft.com/office/drawing/2014/main" id="{3600DC16-B2D0-3B9E-D7B1-FF9B0F72FAB4}"/>
              </a:ext>
            </a:extLst>
          </p:cNvPr>
          <p:cNvCxnSpPr>
            <a:cxnSpLocks/>
            <a:stCxn id="25" idx="0"/>
            <a:endCxn id="22" idx="2"/>
          </p:cNvCxnSpPr>
          <p:nvPr/>
        </p:nvCxnSpPr>
        <p:spPr>
          <a:xfrm flipV="1">
            <a:off x="7207093" y="4898875"/>
            <a:ext cx="4905" cy="764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1041;p28">
            <a:extLst>
              <a:ext uri="{FF2B5EF4-FFF2-40B4-BE49-F238E27FC236}">
                <a16:creationId xmlns:a16="http://schemas.microsoft.com/office/drawing/2014/main" id="{9846EE94-B68E-F3ED-1227-5653B7335D63}"/>
              </a:ext>
            </a:extLst>
          </p:cNvPr>
          <p:cNvCxnSpPr>
            <a:cxnSpLocks/>
          </p:cNvCxnSpPr>
          <p:nvPr/>
        </p:nvCxnSpPr>
        <p:spPr>
          <a:xfrm>
            <a:off x="9672910" y="3028500"/>
            <a:ext cx="0" cy="961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1042;p28">
            <a:extLst>
              <a:ext uri="{FF2B5EF4-FFF2-40B4-BE49-F238E27FC236}">
                <a16:creationId xmlns:a16="http://schemas.microsoft.com/office/drawing/2014/main" id="{2C997026-EA9F-1CDA-D5A5-233EDC3F7ADC}"/>
              </a:ext>
            </a:extLst>
          </p:cNvPr>
          <p:cNvCxnSpPr>
            <a:cxnSpLocks/>
          </p:cNvCxnSpPr>
          <p:nvPr/>
        </p:nvCxnSpPr>
        <p:spPr>
          <a:xfrm>
            <a:off x="9672910" y="4898875"/>
            <a:ext cx="0" cy="764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0985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 animBg="1"/>
      <p:bldP spid="22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1726-E67C-5B6C-6AC7-36EDA11E6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Gráfico, Histograma&#10;&#10;Descrição gerada automaticamente">
            <a:extLst>
              <a:ext uri="{FF2B5EF4-FFF2-40B4-BE49-F238E27FC236}">
                <a16:creationId xmlns:a16="http://schemas.microsoft.com/office/drawing/2014/main" id="{4BDFB220-3773-56CF-3C8F-4F8967E5B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846" y="3252514"/>
            <a:ext cx="4943143" cy="2471571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1992A126-4F61-07EC-0621-F2BA5B41BCA4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F1116792-44AF-F9F4-0886-84769067D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3CC9018-F4DC-9BB0-4459-33B131143649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E1E8267-77C5-53C6-9E5F-17D7C16CF604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AUMENTO DO CONCETRADO DE FERRO</a:t>
            </a:r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40F5EAD5-AE30-BE70-67D6-772491D28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871" y="1133915"/>
            <a:ext cx="8822256" cy="4962519"/>
          </a:xfrm>
          <a:prstGeom prst="rect">
            <a:avLst/>
          </a:prstGeom>
        </p:spPr>
      </p:pic>
      <p:sp>
        <p:nvSpPr>
          <p:cNvPr id="12" name="Seta: para Cima 11">
            <a:extLst>
              <a:ext uri="{FF2B5EF4-FFF2-40B4-BE49-F238E27FC236}">
                <a16:creationId xmlns:a16="http://schemas.microsoft.com/office/drawing/2014/main" id="{A13F5247-59B9-8CE9-1569-87FAF509113D}"/>
              </a:ext>
            </a:extLst>
          </p:cNvPr>
          <p:cNvSpPr/>
          <p:nvPr/>
        </p:nvSpPr>
        <p:spPr>
          <a:xfrm>
            <a:off x="10103704" y="2939796"/>
            <a:ext cx="484632" cy="978408"/>
          </a:xfrm>
          <a:prstGeom prst="up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932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75C0-B7C9-06F4-327E-5155CE30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284413D-4103-5066-FE9A-C2D3C6FCACB7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BB97C28C-0999-7A6B-66B0-ED603C873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79F1CAF-0AE8-7960-5510-68DE1D111092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5A1082-4ABF-00DA-D405-FD27F6385EFD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AUMENTO DO CONCETRADO DE FERRO</a:t>
            </a:r>
          </a:p>
        </p:txBody>
      </p:sp>
      <p:pic>
        <p:nvPicPr>
          <p:cNvPr id="3" name="Imagem 2" descr="Gráfico&#10;&#10;Descrição gerada automaticamente">
            <a:extLst>
              <a:ext uri="{FF2B5EF4-FFF2-40B4-BE49-F238E27FC236}">
                <a16:creationId xmlns:a16="http://schemas.microsoft.com/office/drawing/2014/main" id="{62CC63B4-654B-EAC9-0C63-506672B5EC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662" y="3429000"/>
            <a:ext cx="4575849" cy="2573915"/>
          </a:xfrm>
          <a:prstGeom prst="rect">
            <a:avLst/>
          </a:prstGeom>
        </p:spPr>
      </p:pic>
      <p:pic>
        <p:nvPicPr>
          <p:cNvPr id="11" name="Imagem 10" descr="Gráfico, Histograma&#10;&#10;Descrição gerada automaticamente">
            <a:extLst>
              <a:ext uri="{FF2B5EF4-FFF2-40B4-BE49-F238E27FC236}">
                <a16:creationId xmlns:a16="http://schemas.microsoft.com/office/drawing/2014/main" id="{BB9D5495-A9A6-5E62-3C7F-8D055558C8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042" y="1182248"/>
            <a:ext cx="7338884" cy="366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76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2EFF-3E62-0A85-759E-99AE71D5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Gráfico, Histograma&#10;&#10;Descrição gerada automaticamente">
            <a:extLst>
              <a:ext uri="{FF2B5EF4-FFF2-40B4-BE49-F238E27FC236}">
                <a16:creationId xmlns:a16="http://schemas.microsoft.com/office/drawing/2014/main" id="{4A255670-9B89-83FC-2A21-E76DA3810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865" y="2431673"/>
            <a:ext cx="7315215" cy="3657607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403DF9A-4241-39EB-0AD6-C21613FB3C8C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CA7F427A-32FC-707A-ED2A-9D902F7766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7B2CB8E-409A-BDFB-2D2E-680440B98E63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DFE36F-EC5E-4E55-7229-F58CA0050547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REDUÇÃO DO CONCETRADO DE SÍLICA</a:t>
            </a:r>
          </a:p>
        </p:txBody>
      </p:sp>
      <p:pic>
        <p:nvPicPr>
          <p:cNvPr id="9" name="Imagem 8" descr="Gráfico, Histograma&#10;&#10;Descrição gerada automaticamente">
            <a:extLst>
              <a:ext uri="{FF2B5EF4-FFF2-40B4-BE49-F238E27FC236}">
                <a16:creationId xmlns:a16="http://schemas.microsoft.com/office/drawing/2014/main" id="{C49C5E95-9BDB-5766-F9CD-699E5B4498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26" y="1132974"/>
            <a:ext cx="8825600" cy="4964400"/>
          </a:xfrm>
          <a:prstGeom prst="rect">
            <a:avLst/>
          </a:prstGeom>
        </p:spPr>
      </p:pic>
      <p:sp>
        <p:nvSpPr>
          <p:cNvPr id="10" name="Seta: para Baixo 9">
            <a:extLst>
              <a:ext uri="{FF2B5EF4-FFF2-40B4-BE49-F238E27FC236}">
                <a16:creationId xmlns:a16="http://schemas.microsoft.com/office/drawing/2014/main" id="{469ADEEA-BC87-A999-F155-397E7B0B2909}"/>
              </a:ext>
            </a:extLst>
          </p:cNvPr>
          <p:cNvSpPr/>
          <p:nvPr/>
        </p:nvSpPr>
        <p:spPr>
          <a:xfrm>
            <a:off x="9912926" y="4125191"/>
            <a:ext cx="484632" cy="978408"/>
          </a:xfrm>
          <a:prstGeom prst="downArrow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501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1370A-C6E6-F565-2C0C-4E5D68F4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E862562-3F4A-FA77-4579-3709487EFA40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4008AF8E-3FE1-2F96-ECF2-1FCE5F84E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8085E30-D18B-F9D1-42A6-048C979968A8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9D64552-E60C-3C8F-7854-80354D605B32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REDUÇÃO DO CONCETRADO DE SÍLICA</a:t>
            </a:r>
          </a:p>
        </p:txBody>
      </p:sp>
      <p:pic>
        <p:nvPicPr>
          <p:cNvPr id="9" name="Imagem 8" descr="Gráfico, Histograma&#10;&#10;Descrição gerada automaticamente">
            <a:extLst>
              <a:ext uri="{FF2B5EF4-FFF2-40B4-BE49-F238E27FC236}">
                <a16:creationId xmlns:a16="http://schemas.microsoft.com/office/drawing/2014/main" id="{44F22BBD-3A50-8566-D2ED-63EA67A88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108" y="3553693"/>
            <a:ext cx="4576000" cy="2574000"/>
          </a:xfrm>
          <a:prstGeom prst="rect">
            <a:avLst/>
          </a:prstGeom>
        </p:spPr>
      </p:pic>
      <p:pic>
        <p:nvPicPr>
          <p:cNvPr id="4" name="Imagem 3" descr="Gráfico, Histograma&#10;&#10;Descrição gerada automaticamente">
            <a:extLst>
              <a:ext uri="{FF2B5EF4-FFF2-40B4-BE49-F238E27FC236}">
                <a16:creationId xmlns:a16="http://schemas.microsoft.com/office/drawing/2014/main" id="{697692E7-B4FC-A7A9-D609-1DC1AA9A4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677" y="1198550"/>
            <a:ext cx="7315215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22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EC5AA-4068-BBB9-3AD6-00732EC7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00A9D79A-B26B-F94C-7CD1-B89E8DB40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48" y="947804"/>
            <a:ext cx="4736275" cy="532831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D10CB76D-7028-753F-0405-410DC08498E6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4B5AAF20-40F5-7078-FEF5-BB8ED1AC58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52FD64C-F3A8-B0CF-1BBD-B0CCDCC2D576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BD82C30-E70D-8636-A5E2-32939C3FC5F4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</p:spTree>
    <p:extLst>
      <p:ext uri="{BB962C8B-B14F-4D97-AF65-F5344CB8AC3E}">
        <p14:creationId xmlns:p14="http://schemas.microsoft.com/office/powerpoint/2010/main" val="2431518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8E4C0-2DAC-90A5-6FCB-B555293F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83F4714D-73E5-4D04-06CF-3171CAD8E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49" y="3813464"/>
            <a:ext cx="2189022" cy="246265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CF98F030-EE51-9A58-2200-E8524C853A2E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4753298C-D458-AE76-B389-AF387E8AED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69350B0-3519-D96A-CBB7-53EA854C5E2F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E8D183-D482-B769-8944-FFAAAC9BE76B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  <p:pic>
        <p:nvPicPr>
          <p:cNvPr id="19" name="Imagem 18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A37A738E-3403-487B-3A93-63E1BE840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176"/>
          <a:stretch/>
        </p:blipFill>
        <p:spPr>
          <a:xfrm>
            <a:off x="2702003" y="1528447"/>
            <a:ext cx="8525523" cy="2285017"/>
          </a:xfrm>
          <a:prstGeom prst="rect">
            <a:avLst/>
          </a:prstGeom>
        </p:spPr>
      </p:pic>
      <p:pic>
        <p:nvPicPr>
          <p:cNvPr id="2" name="Imagem 1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1E9AE919-10EE-DB58-6600-6469597236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62"/>
          <a:stretch/>
        </p:blipFill>
        <p:spPr>
          <a:xfrm>
            <a:off x="2702003" y="3571086"/>
            <a:ext cx="8525523" cy="191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082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5116-1178-38EF-47AD-B9EF878A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92A008C7-F97E-F44F-87DC-C133B1A77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49" y="3813464"/>
            <a:ext cx="2189022" cy="246265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A4BCEF3-5829-FB39-08F3-75A5D4545098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0E501BDE-ED54-38C4-E505-134F38DA3A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0756408-7F72-A1D6-79AA-F32E15B68D73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C67629D-9825-0ACC-C1AE-92615CEE589D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  <p:pic>
        <p:nvPicPr>
          <p:cNvPr id="3" name="Imagem 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F53EA912-D872-EFB4-A604-82EF4000A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5" b="58113"/>
          <a:stretch/>
        </p:blipFill>
        <p:spPr>
          <a:xfrm>
            <a:off x="2702003" y="1790528"/>
            <a:ext cx="8525523" cy="1795598"/>
          </a:xfrm>
          <a:prstGeom prst="rect">
            <a:avLst/>
          </a:prstGeom>
        </p:spPr>
      </p:pic>
      <p:pic>
        <p:nvPicPr>
          <p:cNvPr id="2" name="Imagem 1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29FC9016-1E00-0C59-907F-D2F2E9AC2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62"/>
          <a:stretch/>
        </p:blipFill>
        <p:spPr>
          <a:xfrm>
            <a:off x="2702003" y="3420755"/>
            <a:ext cx="8525523" cy="191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587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810A0-8219-566D-B7D4-42DB0BD9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02158612-A36A-0476-BF11-DBF29CE19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49" y="3813464"/>
            <a:ext cx="2189022" cy="246265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2CBEA59-69C5-A3FA-6EF9-B42358FF0E48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D53A539C-264D-FF4F-8631-D7316E4B37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398A674-978D-7A33-8550-DFA97D724ED1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D43FF3A-715C-E0C4-973D-BCFEEC2CD2A6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  <p:pic>
        <p:nvPicPr>
          <p:cNvPr id="4" name="Imagem 3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B60EDD18-8C6B-E2E8-D56D-86A779B5B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15" b="38808"/>
          <a:stretch/>
        </p:blipFill>
        <p:spPr>
          <a:xfrm>
            <a:off x="2702003" y="1864696"/>
            <a:ext cx="8525523" cy="1762597"/>
          </a:xfrm>
          <a:prstGeom prst="rect">
            <a:avLst/>
          </a:prstGeom>
        </p:spPr>
      </p:pic>
      <p:pic>
        <p:nvPicPr>
          <p:cNvPr id="2" name="Imagem 1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6ED65AA0-6B88-8506-73CB-684CD6D37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62"/>
          <a:stretch/>
        </p:blipFill>
        <p:spPr>
          <a:xfrm>
            <a:off x="2702003" y="3271073"/>
            <a:ext cx="8525523" cy="191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1657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423AF-99D1-1AFA-32C1-15896A23F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D706D14A-6E4D-2399-E3A7-D6AF9447D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249" y="3813464"/>
            <a:ext cx="2189022" cy="2462650"/>
          </a:xfrm>
          <a:prstGeom prst="rect">
            <a:avLst/>
          </a:prstGeom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7A1F0C9-52D7-A15D-DC13-5CEE675E5FA1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D8482BA1-9AB8-C712-ADB3-DC24DB568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0F6ABB3-0E80-4E91-BAA6-A931BCDE3D6B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ANÁLISE</a:t>
            </a:r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B644F31-7BE6-51EA-5564-C7082D173611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  <p:pic>
        <p:nvPicPr>
          <p:cNvPr id="3" name="Imagem 2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203F5F76-36C3-309D-8B0A-F75487156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582" b="20509"/>
          <a:stretch/>
        </p:blipFill>
        <p:spPr>
          <a:xfrm>
            <a:off x="2702003" y="1597338"/>
            <a:ext cx="8525523" cy="1717700"/>
          </a:xfrm>
          <a:prstGeom prst="rect">
            <a:avLst/>
          </a:prstGeom>
        </p:spPr>
      </p:pic>
      <p:pic>
        <p:nvPicPr>
          <p:cNvPr id="2" name="Imagem 1" descr="Uma imagem contendo ao ar livre, colorido, grupo&#10;&#10;Descrição gerada automaticamente">
            <a:extLst>
              <a:ext uri="{FF2B5EF4-FFF2-40B4-BE49-F238E27FC236}">
                <a16:creationId xmlns:a16="http://schemas.microsoft.com/office/drawing/2014/main" id="{C75740D1-8C32-15D0-DF7E-CCCA3F20A1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62"/>
          <a:stretch/>
        </p:blipFill>
        <p:spPr>
          <a:xfrm>
            <a:off x="2702003" y="3125334"/>
            <a:ext cx="8525523" cy="1912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492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CF4FA-F059-57DA-BEAA-C99E1819E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54B8C64-80A1-CD51-C51D-2039F020C1BD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F230B916-C28D-90F3-FAA8-EA2D2A7CE0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C87C7D7-C5B2-E424-910B-C0609B4425F2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ANÁLISE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0BBBF9E-1514-212C-8121-E29FFB91EB4C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ETAPAS DO PROCESSO DE ANÁLISE DE DADOS</a:t>
            </a:r>
          </a:p>
        </p:txBody>
      </p:sp>
    </p:spTree>
    <p:extLst>
      <p:ext uri="{BB962C8B-B14F-4D97-AF65-F5344CB8AC3E}">
        <p14:creationId xmlns:p14="http://schemas.microsoft.com/office/powerpoint/2010/main" val="2639479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097C2-5FEB-7777-EBE5-5ACC29D13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48E7EB90-784B-7CE1-821D-EF85E801DD03}"/>
              </a:ext>
            </a:extLst>
          </p:cNvPr>
          <p:cNvCxnSpPr/>
          <p:nvPr/>
        </p:nvCxnSpPr>
        <p:spPr>
          <a:xfrm>
            <a:off x="0" y="6261763"/>
            <a:ext cx="12192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A8D0D084-E1A0-DE77-BB59-55B6290243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34" b="27340"/>
          <a:stretch/>
        </p:blipFill>
        <p:spPr>
          <a:xfrm>
            <a:off x="9912926" y="6348851"/>
            <a:ext cx="2016000" cy="43312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708E71B-20AB-4578-80D1-E56255918FC9}"/>
              </a:ext>
            </a:extLst>
          </p:cNvPr>
          <p:cNvSpPr txBox="1"/>
          <p:nvPr/>
        </p:nvSpPr>
        <p:spPr>
          <a:xfrm>
            <a:off x="113392" y="2501013"/>
            <a:ext cx="12162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072151"/>
                </a:solidFill>
                <a:latin typeface="Optika" panose="00000500000000000000" pitchFamily="50" charset="0"/>
              </a:rPr>
              <a:t>SITUAÇÃO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ANÁLISE 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Light" panose="00000400000000000000" pitchFamily="50" charset="0"/>
              </a:rPr>
              <a:t>INSIGHTS</a:t>
            </a: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endParaRPr lang="pt-BR" sz="1200" dirty="0">
              <a:solidFill>
                <a:srgbClr val="072151"/>
              </a:solidFill>
              <a:latin typeface="Optika Light" panose="00000400000000000000" pitchFamily="50" charset="0"/>
            </a:endParaRPr>
          </a:p>
          <a:p>
            <a:r>
              <a:rPr lang="pt-BR" sz="1200" dirty="0">
                <a:solidFill>
                  <a:srgbClr val="072151"/>
                </a:solidFill>
                <a:latin typeface="Optika Black" panose="00000A00000000000000" pitchFamily="50" charset="0"/>
              </a:rPr>
              <a:t>IMPACTO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1694F9-6C35-8217-7123-8F500DB9A38E}"/>
              </a:ext>
            </a:extLst>
          </p:cNvPr>
          <p:cNvSpPr txBox="1"/>
          <p:nvPr/>
        </p:nvSpPr>
        <p:spPr>
          <a:xfrm>
            <a:off x="524745" y="445366"/>
            <a:ext cx="11155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rgbClr val="072151"/>
                </a:solidFill>
                <a:latin typeface="Optika Black" panose="00000A00000000000000" pitchFamily="50" charset="0"/>
              </a:rPr>
              <a:t>O IMPACTO DO USO DA CIÊNCIA DE DADOS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4038371-E5BE-41FE-F57A-8DC59896174F}"/>
              </a:ext>
            </a:extLst>
          </p:cNvPr>
          <p:cNvSpPr/>
          <p:nvPr/>
        </p:nvSpPr>
        <p:spPr>
          <a:xfrm>
            <a:off x="1517073" y="1361208"/>
            <a:ext cx="3190009" cy="4696691"/>
          </a:xfrm>
          <a:prstGeom prst="rect">
            <a:avLst/>
          </a:prstGeom>
          <a:solidFill>
            <a:srgbClr val="0721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latin typeface="Optika Black" panose="00000A00000000000000" pitchFamily="50" charset="0"/>
              </a:rPr>
              <a:t>CIÊNCIA  DE DADOS</a:t>
            </a:r>
          </a:p>
          <a:p>
            <a:pPr algn="ctr"/>
            <a:endParaRPr lang="pt-BR" dirty="0">
              <a:solidFill>
                <a:schemeClr val="bg1"/>
              </a:solidFill>
              <a:latin typeface="Optika" panose="00000500000000000000" pitchFamily="50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BEFFAF7-BD9E-D4F1-2C72-20056CC31E5D}"/>
              </a:ext>
            </a:extLst>
          </p:cNvPr>
          <p:cNvSpPr/>
          <p:nvPr/>
        </p:nvSpPr>
        <p:spPr>
          <a:xfrm>
            <a:off x="5237393" y="1516022"/>
            <a:ext cx="6286125" cy="75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72151"/>
                </a:solidFill>
                <a:latin typeface="Optika Black" panose="00000A00000000000000" pitchFamily="50" charset="0"/>
              </a:rPr>
              <a:t>OTIMIZAÇÃO DE PROCESSOS E REDUÇÃO DE CUSTOS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E52D03C-6BB4-885F-F8C1-2971A65B41B9}"/>
              </a:ext>
            </a:extLst>
          </p:cNvPr>
          <p:cNvSpPr/>
          <p:nvPr/>
        </p:nvSpPr>
        <p:spPr>
          <a:xfrm>
            <a:off x="5237393" y="2848586"/>
            <a:ext cx="6286125" cy="75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72151"/>
                </a:solidFill>
                <a:latin typeface="Optika Black" panose="00000A00000000000000" pitchFamily="50" charset="0"/>
              </a:rPr>
              <a:t>PREVISÃO E MONITORAMENTO PARA DECISÕES MAIS ASSERTIVAS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E0E332B-C6E9-0FC0-DC5D-3495C4323456}"/>
              </a:ext>
            </a:extLst>
          </p:cNvPr>
          <p:cNvSpPr/>
          <p:nvPr/>
        </p:nvSpPr>
        <p:spPr>
          <a:xfrm>
            <a:off x="5237393" y="4158709"/>
            <a:ext cx="6286125" cy="75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72151"/>
                </a:solidFill>
                <a:latin typeface="Optika Black" panose="00000A00000000000000" pitchFamily="50" charset="0"/>
              </a:rPr>
              <a:t>MELHORIA DA QUALIDADE E CONTROLE DE PRODUTO FINAL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88CF888-A996-B38B-74E3-9D54C0A52785}"/>
              </a:ext>
            </a:extLst>
          </p:cNvPr>
          <p:cNvSpPr/>
          <p:nvPr/>
        </p:nvSpPr>
        <p:spPr>
          <a:xfrm>
            <a:off x="5237393" y="5301899"/>
            <a:ext cx="6286125" cy="75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rgbClr val="072151"/>
                </a:solidFill>
                <a:latin typeface="Optika Black" panose="00000A00000000000000" pitchFamily="50" charset="0"/>
              </a:rPr>
              <a:t>INOVAÇÃO E DIFERENCIAÇÃO NO MERCADO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E26C5B24-FC8E-58D2-1B5B-40BB1B785DCD}"/>
              </a:ext>
            </a:extLst>
          </p:cNvPr>
          <p:cNvCxnSpPr>
            <a:cxnSpLocks/>
          </p:cNvCxnSpPr>
          <p:nvPr/>
        </p:nvCxnSpPr>
        <p:spPr>
          <a:xfrm>
            <a:off x="4707082" y="1386191"/>
            <a:ext cx="6840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42734BDB-EBA2-CBC4-33DA-2EA1C969B834}"/>
              </a:ext>
            </a:extLst>
          </p:cNvPr>
          <p:cNvCxnSpPr>
            <a:cxnSpLocks/>
          </p:cNvCxnSpPr>
          <p:nvPr/>
        </p:nvCxnSpPr>
        <p:spPr>
          <a:xfrm>
            <a:off x="4707082" y="2557168"/>
            <a:ext cx="6840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D007258-9238-8F6E-24C0-B2CDF4CA3F82}"/>
              </a:ext>
            </a:extLst>
          </p:cNvPr>
          <p:cNvCxnSpPr>
            <a:cxnSpLocks/>
          </p:cNvCxnSpPr>
          <p:nvPr/>
        </p:nvCxnSpPr>
        <p:spPr>
          <a:xfrm>
            <a:off x="4623955" y="3876814"/>
            <a:ext cx="6840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C21472CA-455D-ACDE-7F5B-53D49FBBF06C}"/>
              </a:ext>
            </a:extLst>
          </p:cNvPr>
          <p:cNvCxnSpPr>
            <a:cxnSpLocks/>
          </p:cNvCxnSpPr>
          <p:nvPr/>
        </p:nvCxnSpPr>
        <p:spPr>
          <a:xfrm>
            <a:off x="4707082" y="5186068"/>
            <a:ext cx="6840000" cy="0"/>
          </a:xfrm>
          <a:prstGeom prst="line">
            <a:avLst/>
          </a:prstGeom>
          <a:ln w="38100">
            <a:solidFill>
              <a:srgbClr val="001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E2FEC4B-D1BE-8D59-4A3B-A8FBDE45C28D}"/>
              </a:ext>
            </a:extLst>
          </p:cNvPr>
          <p:cNvSpPr txBox="1"/>
          <p:nvPr/>
        </p:nvSpPr>
        <p:spPr>
          <a:xfrm>
            <a:off x="4633282" y="1386191"/>
            <a:ext cx="29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72151"/>
                </a:solidFill>
                <a:latin typeface="Optika Black" panose="00000A00000000000000" pitchFamily="50" charset="0"/>
              </a:rPr>
              <a:t>1</a:t>
            </a:r>
            <a:endParaRPr lang="pt-BR" sz="4000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24CFBC2-22EA-90C1-6FC6-29BBD5A93C33}"/>
              </a:ext>
            </a:extLst>
          </p:cNvPr>
          <p:cNvSpPr txBox="1"/>
          <p:nvPr/>
        </p:nvSpPr>
        <p:spPr>
          <a:xfrm>
            <a:off x="4633282" y="2745321"/>
            <a:ext cx="29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72151"/>
                </a:solidFill>
                <a:latin typeface="Optika Black" panose="00000A00000000000000" pitchFamily="50" charset="0"/>
              </a:rPr>
              <a:t>2</a:t>
            </a:r>
            <a:endParaRPr lang="pt-BR" sz="4000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C3DF1CB-D480-0BB9-F3FB-86C23B98C4AF}"/>
              </a:ext>
            </a:extLst>
          </p:cNvPr>
          <p:cNvSpPr txBox="1"/>
          <p:nvPr/>
        </p:nvSpPr>
        <p:spPr>
          <a:xfrm>
            <a:off x="4633282" y="3974094"/>
            <a:ext cx="29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72151"/>
                </a:solidFill>
                <a:latin typeface="Optika Black" panose="00000A00000000000000" pitchFamily="50" charset="0"/>
              </a:rPr>
              <a:t>3</a:t>
            </a:r>
            <a:endParaRPr lang="pt-BR" sz="4000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43962DCE-BAA2-C8BC-613E-C100F91A4D68}"/>
              </a:ext>
            </a:extLst>
          </p:cNvPr>
          <p:cNvSpPr txBox="1"/>
          <p:nvPr/>
        </p:nvSpPr>
        <p:spPr>
          <a:xfrm>
            <a:off x="4633282" y="5216741"/>
            <a:ext cx="2951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072151"/>
                </a:solidFill>
                <a:latin typeface="Optika Black" panose="00000A00000000000000" pitchFamily="50" charset="0"/>
              </a:rPr>
              <a:t>4</a:t>
            </a:r>
            <a:endParaRPr lang="pt-BR" sz="4000" dirty="0">
              <a:solidFill>
                <a:srgbClr val="072151"/>
              </a:solidFill>
              <a:latin typeface="Optika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595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50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10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50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3" grpId="0" animBg="1"/>
      <p:bldP spid="13" grpId="1"/>
      <p:bldP spid="14" grpId="0" animBg="1"/>
      <p:bldP spid="14" grpId="1"/>
      <p:bldP spid="15" grpId="0" animBg="1"/>
      <p:bldP spid="20" grpId="0"/>
      <p:bldP spid="21" grpId="0"/>
      <p:bldP spid="22" grpId="0"/>
      <p:bldP spid="23" grpId="0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2963</TotalTime>
  <Words>523</Words>
  <Application>Microsoft Office PowerPoint</Application>
  <PresentationFormat>Widescreen</PresentationFormat>
  <Paragraphs>340</Paragraphs>
  <Slides>17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Optika</vt:lpstr>
      <vt:lpstr>Optika Black</vt:lpstr>
      <vt:lpstr>Optika Light</vt:lpstr>
      <vt:lpstr>Optika Medium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Peixoto Rodrigues</dc:creator>
  <cp:lastModifiedBy>Igor Peixoto Rodrigues</cp:lastModifiedBy>
  <cp:revision>32</cp:revision>
  <dcterms:created xsi:type="dcterms:W3CDTF">2024-10-08T21:05:25Z</dcterms:created>
  <dcterms:modified xsi:type="dcterms:W3CDTF">2024-10-28T22:01:41Z</dcterms:modified>
</cp:coreProperties>
</file>