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sldIdLst>
    <p:sldId id="257" r:id="rId2"/>
    <p:sldId id="258" r:id="rId3"/>
    <p:sldId id="264" r:id="rId4"/>
    <p:sldId id="268" r:id="rId5"/>
    <p:sldId id="265" r:id="rId6"/>
    <p:sldId id="266" r:id="rId7"/>
    <p:sldId id="269" r:id="rId8"/>
    <p:sldId id="272" r:id="rId9"/>
    <p:sldId id="270" r:id="rId10"/>
    <p:sldId id="273" r:id="rId11"/>
    <p:sldId id="267" r:id="rId12"/>
    <p:sldId id="280" r:id="rId13"/>
    <p:sldId id="281" r:id="rId14"/>
    <p:sldId id="282" r:id="rId15"/>
    <p:sldId id="283" r:id="rId16"/>
    <p:sldId id="284" r:id="rId17"/>
    <p:sldId id="289" r:id="rId18"/>
    <p:sldId id="291" r:id="rId19"/>
    <p:sldId id="278" r:id="rId20"/>
    <p:sldId id="292" r:id="rId2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2151"/>
    <a:srgbClr val="001F63"/>
    <a:srgbClr val="001A5E"/>
    <a:srgbClr val="D9D9D6"/>
    <a:srgbClr val="0A57D4"/>
    <a:srgbClr val="3B82F6"/>
    <a:srgbClr val="11182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55" autoAdjust="0"/>
    <p:restoredTop sz="94660"/>
  </p:normalViewPr>
  <p:slideViewPr>
    <p:cSldViewPr snapToGrid="0">
      <p:cViewPr varScale="1">
        <p:scale>
          <a:sx n="74" d="100"/>
          <a:sy n="74" d="100"/>
        </p:scale>
        <p:origin x="91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4DFB5F-7C47-4F10-9D98-235C735CDC9C}" type="datetimeFigureOut">
              <a:rPr lang="pt-BR" smtClean="0"/>
              <a:t>30/10/2024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29017D-C08B-4388-9E32-0F7A5079AA9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58367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00126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AE4C6-82CA-8873-6CD0-D5F98C348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06EDAA5-98A7-0250-2220-9A493A8A5D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BFEFF17-F3E4-EFD9-74DC-8FA094B58F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488306-2EC7-B3CC-008A-EE1601E4D9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153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C49DE-5DA9-BA85-7F55-860A86B08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2F501D6-ACE5-7205-A12D-3959C8E7B7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E99DA0F-DEC1-37D9-4F91-5AEFD3291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11042B3-2E63-7889-8B21-BE1AE90C2A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2878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94989-3FAA-D58D-F65E-2148A22B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16064F-1019-83E0-BB7A-7D6A204DC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C75C492-4946-2FF1-835F-735172266F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6727A37-2D8C-75BE-F65B-69BDDBECE9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71364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E3B11-7089-6777-A198-3D38A8CF8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FB40917-A560-BEBA-92E3-070C84148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877EACC-1177-9FD2-5581-15B2C14E56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FCC57A7-1B00-5B54-DAB7-38D0834109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9765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6E09D-AC90-85D3-F1E4-5243B39D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70B3D44-D1E0-038B-0132-1C4DC88ACB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877DDE8-FE77-B971-AECC-96DEBB15C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45B6A33-C7C2-9DE2-4A4D-011D3F2CDF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92200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B6349-93EC-C97D-9FD4-46F922149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E6BB43-D7D2-354E-CB1A-EAFE625D0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223E6AF-CD39-8494-93D6-A653D7C2C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E99A5F2-A39F-5F7A-9512-BD7C15C088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099271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1445D-A569-5629-4C7A-4BE4FBBDC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01EFA1C-CD25-4320-A6BE-2E812A233D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D4D92F1-4A08-B868-0295-10E46316B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B91DC45-36A9-B1C1-BFB6-3561BEC94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11632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C40F4-3D58-27CA-E624-3E1E6AA2E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9E2809-3AEA-CD9F-A7D2-F4EA30E58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98E7026-A408-1757-D093-BA85BF4BDA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90889B4-0B33-EE91-DC46-060FC1C43C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92577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A7AFF-F717-ED10-EC9C-CB8F10005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C5FDF9B-F4C7-0FF3-A208-D0996DDFD7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A33EC85-FFA3-BA0E-2F37-DB3085D1A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CC39469-7540-7BDE-4B36-D3692BD812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29349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F9A54-ECF6-A16E-C1E0-25DFD8B53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2646B83-D402-5E7F-F27B-7EE2D2B7D7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7445C9F-84F0-1592-A19A-ADE571C4CD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981429F-763D-4CFA-8F52-30313561A7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22935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9A581-C170-E314-2565-BC5BCFF17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B1F3873-9B37-2B71-C212-AB649D6E9A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40AAE92-B12D-4BC4-7C7D-826BEB7729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6ED11A-6803-805B-5BDC-FE57435E98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12055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10FAB-BF87-F7B3-5561-4DF21097C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A9441F0-EAFB-45F2-48B5-638746B61F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2579B42-D454-33FE-5F1B-25DADD610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7814AB3-223C-E29A-895E-FAD4A2D56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1443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6C986-4DDF-A295-CE12-02F04A928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FDCC597-9E0B-FABA-764A-B9379B9216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3F35F57-BE53-20D2-127D-E2A5DD28D3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7303AF-B67C-771F-0EB7-7954BD01E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7883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A5931-0959-3416-36BD-F77A55736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13FC33D-5DAA-334B-CC84-FEAEE2CCB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8F70008-C2D2-F087-9F54-BA8E8FAE4F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2E6C84D-FFCB-FB6C-3319-828530641E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08462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FB71E-73F9-A380-4892-0FCB58130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F23CD2C-DFB6-569F-2E96-0C13BC3F24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39248F5-93ED-7715-8BBC-33A7FBDD29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3A46F3-BAB8-CD9E-6649-90CC45510F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42397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0BB57-ADC0-9051-2D82-30582531F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A3BF8F4-3E20-A276-286C-48D9F49595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061CF47-8253-821E-7D23-65E639FA7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450CAFB-0AD7-6636-D330-70DB6C2BA4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05730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0BE85-4747-3E18-EB39-191F735CD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E4FDBC7-CF4B-D75D-A8E0-E62CA2CC9E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7B07D20-213E-97B2-5067-7932E49682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FF779EB-3912-AB46-7BF6-A528155C61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70611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3CD32-BA27-51A7-AB9F-8C9938196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94DD48E-15C9-E71A-019A-0F6C52A239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7F10DC-3443-1384-32A9-860C1F9FE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E6BCB59-68CA-395A-57EA-CC7F965263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9017D-C08B-4388-9E32-0F7A5079AA9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27166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EB4162-8F8C-3C4B-18B0-9861DBC6A6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ED040BA-6ABD-22AC-E9E5-7092BF4771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83182EF-0110-F90B-3CA4-362C66A40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8B0B0-C9A3-4334-9C0B-002C2E1CE282}" type="datetime1">
              <a:rPr lang="pt-BR" smtClean="0"/>
              <a:t>30/10/2024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76084DE-2A91-2888-B83D-9574FDC09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313445A-5132-471A-A6ED-43A4A8C93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5196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B2FCA9-B2FE-9928-8C1D-BBDA11EAC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BCB2698-3261-2EA4-18E4-0F32C9C4E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F242F9-7E43-7FC2-1230-CCE2F9B3B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15CBB6-40C4-4499-8AA4-049DB186B922}" type="datetime1">
              <a:rPr lang="pt-BR" smtClean="0"/>
              <a:t>30/10/2024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6E69E79-9C2D-096C-71BA-F21657ED7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BA864B9-74A4-5B63-1E04-C5B075B19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5653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895027-D7B1-6CB6-014C-47384E44B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F7D4517-2166-2187-D309-DFA7B2716A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3E9A5F-6B68-6823-B2F1-2CA0962F8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E4CCB-F2FE-4D88-9E13-0210A57F13B9}" type="datetime1">
              <a:rPr lang="pt-BR" smtClean="0"/>
              <a:t>30/10/2024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7FA4957-FA21-6B4B-BF62-31F1479D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4E6CE78-46F7-248A-4E43-8442BBCC0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2403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C75CC8-A5BA-AE8F-7FC5-C4EEBD008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D87962-2C3B-6691-43CF-E4A5B237EB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F105E28-DC2C-4CC6-F46F-0FA28684C4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7E51AF5-0A22-2208-0035-4B3FB8E03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59285-4888-4F51-9880-DCE424F00937}" type="datetime1">
              <a:rPr lang="pt-BR" smtClean="0"/>
              <a:t>30/10/2024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C3A89A-C80C-0D97-F609-B36A22387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4677036-2F03-994F-FB85-3762B3A38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9232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1B29D7-6901-6142-C979-6F8A20437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4245A04-9CAA-494F-036D-923C721A4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0BA4499-E23C-D8E5-2607-017F586F9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744777C-D263-0012-7BA1-6D5C1801AA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06E909-371E-6432-1DDA-C82DC419AD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F92E0B6-E3EE-6AC8-952A-F84CF1290F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C75A4-98A3-487A-AF73-299ADC52A98B}" type="datetime1">
              <a:rPr lang="pt-BR" smtClean="0"/>
              <a:t>30/10/2024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2CFE3EF-6909-57B3-A279-73FC28A5A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6C86E0B-A633-3B02-7124-6C5CB4FBE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4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992253-8DFF-C175-8486-20D0C6242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3B399E0-F9F0-F9EE-52C1-53D2BBFDE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BB4E4-C194-4E57-9E54-02A62B7E90ED}" type="datetime1">
              <a:rPr lang="pt-BR" smtClean="0"/>
              <a:t>30/10/2024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C35360A-CFC3-73F3-892B-84AA28278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F470197-9BEE-A9CE-E91A-87A4F9419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01176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21A2592-7D69-ADC1-EA88-B15C0BFE9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122588-E008-40DD-A9BA-E3BB1BAB5AD2}" type="datetime1">
              <a:rPr lang="pt-BR" smtClean="0"/>
              <a:t>30/10/2024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FCA678C-387F-27AF-2F0B-3D374844A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338186A-74EA-08CE-AB62-490F87388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748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3DFB9A-5A9D-9641-236D-A4FDE4D99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F3FD36-A163-9E58-AAE2-190A03826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49D994E-A4C6-A97B-4912-DAEF64BB0E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CD2B042-3A7B-8D53-8349-8224FA074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7E745-AE5E-4A28-B8F0-A8DA00FCEF94}" type="datetime1">
              <a:rPr lang="pt-BR" smtClean="0"/>
              <a:t>30/10/2024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01CB131-BA56-C293-F8DF-02EF811C4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6BA8A86-6E73-B266-1A9A-9F2D23998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439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BABF60-5F61-A07B-8B3A-EC51144C1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4EFCC400-8445-8F05-48AD-CFDDE1AF45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C4D6EBA-A8CD-E677-DDEA-739A0ABECA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9170AF2-FCE2-BAEF-22DD-4039FC6F4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70702-56E7-4D62-A0E6-4A2C3873468A}" type="datetime1">
              <a:rPr lang="pt-BR" smtClean="0"/>
              <a:t>30/10/2024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952C7B-962C-1749-84DA-8358BFF86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BCA22E9-9783-A88A-1073-A45ACF4A2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03779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6E0077-C8A9-780F-8D1B-47ED6E91D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B025445-E382-17EF-740D-1F38FC8DA7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1FA5869-E514-4E09-A081-3A67B0C14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F5EBA9-5A5A-4B11-8AD8-1F00C1F6D284}" type="datetime1">
              <a:rPr lang="pt-BR" smtClean="0"/>
              <a:t>30/10/2024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927C97A-2D46-FCAF-D700-F6161EB77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638CC21-2F2A-97F4-495F-B0AE0BCA9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93513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71E660E-6F32-2FC2-CCD4-A27A91866C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120AEA1-5BF3-DFEA-FF1E-43F34969FB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DC0908C-3F62-3832-929F-0F6E2CB83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7B34EB-C688-4012-9331-A3A8A8717746}" type="datetime1">
              <a:rPr lang="pt-BR" smtClean="0"/>
              <a:t>30/10/2024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487ECFF-3FA9-3FDC-8278-DCB5B6989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3E24A66-121D-ED7F-B4C0-03E724CF3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46413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D50621B-2D73-8FED-0FCF-864DF121C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D2253F0-11B6-0FD9-67A9-5EC2E31C43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5A3E881-E1BF-AF54-278D-81B676768C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AA2387-AA7A-43EA-B0AE-2BC87A4A69C6}" type="datetime1">
              <a:rPr lang="pt-BR" smtClean="0"/>
              <a:t>30/10/2024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271AC8D-481D-B2FF-1A7F-6D426857FD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2987139-EAA6-962A-1394-03AE7C4D06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2FEAC0-4844-4280-8D13-FA505FAF98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6547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tmp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tmp"/><Relationship Id="rId5" Type="http://schemas.openxmlformats.org/officeDocument/2006/relationships/image" Target="../media/image11.tmp"/><Relationship Id="rId4" Type="http://schemas.openxmlformats.org/officeDocument/2006/relationships/image" Target="../media/image10.tmp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1.tmp"/><Relationship Id="rId7" Type="http://schemas.openxmlformats.org/officeDocument/2006/relationships/image" Target="../media/image10.tmp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tmp"/><Relationship Id="rId5" Type="http://schemas.openxmlformats.org/officeDocument/2006/relationships/image" Target="../media/image2.png"/><Relationship Id="rId4" Type="http://schemas.openxmlformats.org/officeDocument/2006/relationships/image" Target="../media/image12.tm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1A565-E4BC-24F9-76D1-AC50F3A72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Diagrama&#10;&#10;Descrição gerada automaticamente">
            <a:extLst>
              <a:ext uri="{FF2B5EF4-FFF2-40B4-BE49-F238E27FC236}">
                <a16:creationId xmlns:a16="http://schemas.microsoft.com/office/drawing/2014/main" id="{0CC3EA10-6500-4EAA-6675-B5942C9A6F7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072151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630979">
            <a:off x="-2753034" y="884904"/>
            <a:ext cx="12207981" cy="6858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93EC9834-AD1F-5B1D-37D0-296ECF6E31D0}"/>
              </a:ext>
            </a:extLst>
          </p:cNvPr>
          <p:cNvSpPr txBox="1"/>
          <p:nvPr/>
        </p:nvSpPr>
        <p:spPr>
          <a:xfrm>
            <a:off x="1767840" y="1561062"/>
            <a:ext cx="974924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>
                <a:solidFill>
                  <a:srgbClr val="072151"/>
                </a:solidFill>
                <a:latin typeface="Optika Black" panose="00000A00000000000000" pitchFamily="50" charset="0"/>
              </a:rPr>
              <a:t>QUALIDADE EM UM PROCESSO DE MINERAÇÃO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5E440C0-B696-8D4B-3100-25CA17EC3CAE}"/>
              </a:ext>
            </a:extLst>
          </p:cNvPr>
          <p:cNvSpPr txBox="1"/>
          <p:nvPr/>
        </p:nvSpPr>
        <p:spPr>
          <a:xfrm>
            <a:off x="5508171" y="3516870"/>
            <a:ext cx="54443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ANÁLISE EXPLORATÓRIA DE DADOS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35AF9053-50A7-D893-37DE-31A243738973}"/>
              </a:ext>
            </a:extLst>
          </p:cNvPr>
          <p:cNvSpPr txBox="1"/>
          <p:nvPr/>
        </p:nvSpPr>
        <p:spPr>
          <a:xfrm>
            <a:off x="6273287" y="3989565"/>
            <a:ext cx="467919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IGOR PEIXOTO RODRIGUES</a:t>
            </a:r>
          </a:p>
        </p:txBody>
      </p:sp>
      <p:pic>
        <p:nvPicPr>
          <p:cNvPr id="3" name="Imagem 2" descr="Logotipo, nome da empresa&#10;&#10;Descrição gerada automaticamente">
            <a:extLst>
              <a:ext uri="{FF2B5EF4-FFF2-40B4-BE49-F238E27FC236}">
                <a16:creationId xmlns:a16="http://schemas.microsoft.com/office/drawing/2014/main" id="{51CE330F-2AC8-D1D6-74C9-B34CFA9956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9127" y="5296938"/>
            <a:ext cx="4000081" cy="1614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9809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9B6B057E-AA7F-B050-11EC-F58338546164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A8150E56-9CCB-6F91-8ACD-9542DDBEFA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0E83845-C994-B78E-A491-6EE0C870A619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072151"/>
                </a:solidFill>
                <a:latin typeface="Optika Black" panose="00000A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pic>
        <p:nvPicPr>
          <p:cNvPr id="1032" name="Picture 8" descr="Ver a imagem de origem">
            <a:extLst>
              <a:ext uri="{FF2B5EF4-FFF2-40B4-BE49-F238E27FC236}">
                <a16:creationId xmlns:a16="http://schemas.microsoft.com/office/drawing/2014/main" id="{6F727EF2-DB96-457E-5B7B-E3FDE0641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9092" y="3791131"/>
            <a:ext cx="3959677" cy="24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O Que é Minério De Ferro">
            <a:extLst>
              <a:ext uri="{FF2B5EF4-FFF2-40B4-BE49-F238E27FC236}">
                <a16:creationId xmlns:a16="http://schemas.microsoft.com/office/drawing/2014/main" id="{D71A629B-F775-45EB-0F05-0DCCADFD23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9092" y="1527733"/>
            <a:ext cx="3959677" cy="2515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17FE1319-CF4D-AAE6-7D22-528D8CA3623D}"/>
              </a:ext>
            </a:extLst>
          </p:cNvPr>
          <p:cNvSpPr/>
          <p:nvPr/>
        </p:nvSpPr>
        <p:spPr>
          <a:xfrm rot="2692220">
            <a:off x="9129380" y="677786"/>
            <a:ext cx="3769406" cy="2360915"/>
          </a:xfrm>
          <a:prstGeom prst="rect">
            <a:avLst/>
          </a:prstGeom>
          <a:solidFill>
            <a:schemeClr val="bg1">
              <a:alpha val="44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7D38780B-B697-64B6-73AF-C6B514AAFFDB}"/>
              </a:ext>
            </a:extLst>
          </p:cNvPr>
          <p:cNvSpPr/>
          <p:nvPr/>
        </p:nvSpPr>
        <p:spPr>
          <a:xfrm rot="2209290">
            <a:off x="9645328" y="758539"/>
            <a:ext cx="2940907" cy="183334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352D668-4D3B-77EE-EE50-F5805E4C3AE1}"/>
              </a:ext>
            </a:extLst>
          </p:cNvPr>
          <p:cNvSpPr txBox="1"/>
          <p:nvPr/>
        </p:nvSpPr>
        <p:spPr>
          <a:xfrm>
            <a:off x="524745" y="445366"/>
            <a:ext cx="111556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USO DA TÉCNICA DE FLOTUAÇÃO AUMENTA A CONCENTRAÇÃO DE FERRO EXTRAÍDO 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C087A3A6-E1EA-F14E-0F6D-DD091726257A}"/>
              </a:ext>
            </a:extLst>
          </p:cNvPr>
          <p:cNvSpPr txBox="1"/>
          <p:nvPr/>
        </p:nvSpPr>
        <p:spPr>
          <a:xfrm>
            <a:off x="10020663" y="1509477"/>
            <a:ext cx="1737011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dirty="0">
                <a:solidFill>
                  <a:srgbClr val="072151"/>
                </a:solidFill>
                <a:latin typeface="Optika Medium" panose="00000600000000000000" pitchFamily="50" charset="0"/>
              </a:rPr>
              <a:t>MINÉRIO DE</a:t>
            </a:r>
            <a:br>
              <a:rPr lang="pt-BR" b="1" dirty="0">
                <a:solidFill>
                  <a:srgbClr val="072151"/>
                </a:solidFill>
                <a:latin typeface="Optika Black" panose="00000A00000000000000" pitchFamily="50" charset="0"/>
              </a:rPr>
            </a:br>
            <a:r>
              <a:rPr lang="pt-BR" sz="2000" b="1" dirty="0">
                <a:solidFill>
                  <a:srgbClr val="072151"/>
                </a:solidFill>
                <a:latin typeface="Optika Black" panose="00000A00000000000000" pitchFamily="50" charset="0"/>
              </a:rPr>
              <a:t>FERRO</a:t>
            </a:r>
            <a:endParaRPr lang="pt-BR" sz="1800" b="1" dirty="0">
              <a:solidFill>
                <a:srgbClr val="072151"/>
              </a:solidFill>
              <a:latin typeface="Optika Black" panose="00000A00000000000000" pitchFamily="50" charset="0"/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B458AD5B-B870-3A9D-9FBC-2785260FA48B}"/>
              </a:ext>
            </a:extLst>
          </p:cNvPr>
          <p:cNvSpPr txBox="1"/>
          <p:nvPr/>
        </p:nvSpPr>
        <p:spPr>
          <a:xfrm>
            <a:off x="1778001" y="1876025"/>
            <a:ext cx="56692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A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extração de minério 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de ferro é um processo complexo que envolve diversas etapas.</a:t>
            </a:r>
            <a:endParaRPr lang="pt-BR" sz="18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A58BCB40-4E49-77E4-93A9-264B9517D491}"/>
              </a:ext>
            </a:extLst>
          </p:cNvPr>
          <p:cNvSpPr txBox="1"/>
          <p:nvPr/>
        </p:nvSpPr>
        <p:spPr>
          <a:xfrm>
            <a:off x="1778000" y="3277456"/>
            <a:ext cx="56692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800" dirty="0">
                <a:solidFill>
                  <a:srgbClr val="072151"/>
                </a:solidFill>
                <a:latin typeface="Optika" panose="00000500000000000000" pitchFamily="50" charset="0"/>
              </a:rPr>
              <a:t>Uma das etapas consiste no 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beneficiamento, onde é quebrado em pedaços menores e separado de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impurezas.</a:t>
            </a:r>
            <a:endParaRPr lang="pt-BR" sz="1800" b="1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0D9E961E-84EF-F1F0-DD65-C3E837F0E0E7}"/>
              </a:ext>
            </a:extLst>
          </p:cNvPr>
          <p:cNvSpPr txBox="1"/>
          <p:nvPr/>
        </p:nvSpPr>
        <p:spPr>
          <a:xfrm>
            <a:off x="1778000" y="4564768"/>
            <a:ext cx="566927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800" dirty="0">
                <a:solidFill>
                  <a:srgbClr val="072151"/>
                </a:solidFill>
                <a:latin typeface="Optika" panose="00000500000000000000" pitchFamily="50" charset="0"/>
              </a:rPr>
              <a:t>A </a:t>
            </a:r>
            <a:r>
              <a:rPr lang="pt-BR" sz="1800" b="1" dirty="0">
                <a:solidFill>
                  <a:srgbClr val="072151"/>
                </a:solidFill>
                <a:latin typeface="Optika" panose="00000500000000000000" pitchFamily="50" charset="0"/>
              </a:rPr>
              <a:t>flotação</a:t>
            </a:r>
            <a:r>
              <a:rPr lang="pt-BR" sz="1800" dirty="0">
                <a:solidFill>
                  <a:srgbClr val="072151"/>
                </a:solidFill>
                <a:latin typeface="Optika" panose="00000500000000000000" pitchFamily="50" charset="0"/>
              </a:rPr>
              <a:t> destaca-se como o método mais eficaz para a separação de impurezas devido à sua capacidade de </a:t>
            </a:r>
            <a:r>
              <a:rPr lang="pt-BR" sz="1800" b="1" dirty="0">
                <a:solidFill>
                  <a:srgbClr val="072151"/>
                </a:solidFill>
                <a:latin typeface="Optika" panose="00000500000000000000" pitchFamily="50" charset="0"/>
              </a:rPr>
              <a:t>selecionar partículas </a:t>
            </a:r>
            <a:r>
              <a:rPr lang="pt-BR" sz="1800" dirty="0">
                <a:solidFill>
                  <a:srgbClr val="072151"/>
                </a:solidFill>
                <a:latin typeface="Optika" panose="00000500000000000000" pitchFamily="50" charset="0"/>
              </a:rPr>
              <a:t>minerais com base em suas </a:t>
            </a:r>
            <a:r>
              <a:rPr lang="pt-BR" sz="1800" b="1" dirty="0">
                <a:solidFill>
                  <a:srgbClr val="072151"/>
                </a:solidFill>
                <a:latin typeface="Optika" panose="00000500000000000000" pitchFamily="50" charset="0"/>
              </a:rPr>
              <a:t>propriedades superficiais</a:t>
            </a:r>
            <a:r>
              <a:rPr lang="pt-BR" sz="1800" dirty="0">
                <a:solidFill>
                  <a:srgbClr val="072151"/>
                </a:solidFill>
                <a:latin typeface="Optika" panose="00000500000000000000" pitchFamily="50" charset="0"/>
              </a:rPr>
              <a:t>.</a:t>
            </a:r>
            <a:endParaRPr lang="pt-BR" sz="1800" b="1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cxnSp>
        <p:nvCxnSpPr>
          <p:cNvPr id="53" name="Conector reto 52">
            <a:extLst>
              <a:ext uri="{FF2B5EF4-FFF2-40B4-BE49-F238E27FC236}">
                <a16:creationId xmlns:a16="http://schemas.microsoft.com/office/drawing/2014/main" id="{FAD2CDBF-1CD8-6B50-66B9-DF54586AC08A}"/>
              </a:ext>
            </a:extLst>
          </p:cNvPr>
          <p:cNvCxnSpPr>
            <a:cxnSpLocks/>
          </p:cNvCxnSpPr>
          <p:nvPr/>
        </p:nvCxnSpPr>
        <p:spPr>
          <a:xfrm>
            <a:off x="1930400" y="2799355"/>
            <a:ext cx="5858692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ector reto 55">
            <a:extLst>
              <a:ext uri="{FF2B5EF4-FFF2-40B4-BE49-F238E27FC236}">
                <a16:creationId xmlns:a16="http://schemas.microsoft.com/office/drawing/2014/main" id="{3424CA9F-6968-5612-6BA9-60F57F9109C7}"/>
              </a:ext>
            </a:extLst>
          </p:cNvPr>
          <p:cNvCxnSpPr>
            <a:cxnSpLocks/>
          </p:cNvCxnSpPr>
          <p:nvPr/>
        </p:nvCxnSpPr>
        <p:spPr>
          <a:xfrm>
            <a:off x="1930400" y="4200786"/>
            <a:ext cx="5858692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ector reto 56">
            <a:extLst>
              <a:ext uri="{FF2B5EF4-FFF2-40B4-BE49-F238E27FC236}">
                <a16:creationId xmlns:a16="http://schemas.microsoft.com/office/drawing/2014/main" id="{7C3070F5-D516-221B-E8AE-F2A0D4736CF6}"/>
              </a:ext>
            </a:extLst>
          </p:cNvPr>
          <p:cNvCxnSpPr>
            <a:cxnSpLocks/>
          </p:cNvCxnSpPr>
          <p:nvPr/>
        </p:nvCxnSpPr>
        <p:spPr>
          <a:xfrm>
            <a:off x="1930400" y="6042096"/>
            <a:ext cx="5858692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27567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7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7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7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7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0" dur="500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7" presetClass="exit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1" dur="500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31" grpId="0"/>
      <p:bldP spid="3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A2CBA-7721-B962-087B-4F82DC0A4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B32D4A7A-EF0C-AF76-6FA3-8D4F6D16CD67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B3E52707-0372-AFA0-38F2-CB3466DD11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05E2767D-012E-81C5-C6E7-AA65A1C05A06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072151"/>
                </a:solidFill>
                <a:latin typeface="Optika Black" panose="00000A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794AEBB-2D43-2C9A-A48F-8F73FA9A9789}"/>
              </a:ext>
            </a:extLst>
          </p:cNvPr>
          <p:cNvSpPr txBox="1"/>
          <p:nvPr/>
        </p:nvSpPr>
        <p:spPr>
          <a:xfrm>
            <a:off x="524745" y="445366"/>
            <a:ext cx="111556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PRINCIPAIS PARÂMETROS PARA A EFICIÊNCIA DO BENEFICIAMENTO POR FLOTAÇÃO </a:t>
            </a:r>
          </a:p>
        </p:txBody>
      </p:sp>
      <p:sp>
        <p:nvSpPr>
          <p:cNvPr id="73" name="Retângulo 72">
            <a:extLst>
              <a:ext uri="{FF2B5EF4-FFF2-40B4-BE49-F238E27FC236}">
                <a16:creationId xmlns:a16="http://schemas.microsoft.com/office/drawing/2014/main" id="{C11E0385-32AB-9FC6-6E89-130FA971DD61}"/>
              </a:ext>
            </a:extLst>
          </p:cNvPr>
          <p:cNvSpPr/>
          <p:nvPr/>
        </p:nvSpPr>
        <p:spPr>
          <a:xfrm>
            <a:off x="7992287" y="1524587"/>
            <a:ext cx="3688083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Optika Black" panose="00000A00000000000000" pitchFamily="50" charset="0"/>
              </a:rPr>
              <a:t>FLUXO DE AMIDO</a:t>
            </a:r>
          </a:p>
        </p:txBody>
      </p:sp>
      <p:sp>
        <p:nvSpPr>
          <p:cNvPr id="78" name="Retângulo 77">
            <a:extLst>
              <a:ext uri="{FF2B5EF4-FFF2-40B4-BE49-F238E27FC236}">
                <a16:creationId xmlns:a16="http://schemas.microsoft.com/office/drawing/2014/main" id="{8A4F813D-2A7D-AA6B-B879-0669D84C566A}"/>
              </a:ext>
            </a:extLst>
          </p:cNvPr>
          <p:cNvSpPr/>
          <p:nvPr/>
        </p:nvSpPr>
        <p:spPr>
          <a:xfrm>
            <a:off x="7992287" y="2459804"/>
            <a:ext cx="3688083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pt-BR" dirty="0">
                <a:latin typeface="Optika Black" panose="00000A00000000000000" pitchFamily="50" charset="0"/>
              </a:rPr>
              <a:t>FLUXO DE AMINA</a:t>
            </a:r>
          </a:p>
        </p:txBody>
      </p:sp>
      <p:sp>
        <p:nvSpPr>
          <p:cNvPr id="79" name="Retângulo 78">
            <a:extLst>
              <a:ext uri="{FF2B5EF4-FFF2-40B4-BE49-F238E27FC236}">
                <a16:creationId xmlns:a16="http://schemas.microsoft.com/office/drawing/2014/main" id="{15E41416-EF1C-9596-4814-03B8944613BB}"/>
              </a:ext>
            </a:extLst>
          </p:cNvPr>
          <p:cNvSpPr/>
          <p:nvPr/>
        </p:nvSpPr>
        <p:spPr>
          <a:xfrm>
            <a:off x="7992287" y="3445821"/>
            <a:ext cx="3688083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pt-BR" dirty="0">
                <a:latin typeface="Optika Black" panose="00000A00000000000000" pitchFamily="50" charset="0"/>
              </a:rPr>
              <a:t>FLUXO DA POLPA</a:t>
            </a:r>
          </a:p>
        </p:txBody>
      </p:sp>
      <p:sp>
        <p:nvSpPr>
          <p:cNvPr id="80" name="Retângulo 79">
            <a:extLst>
              <a:ext uri="{FF2B5EF4-FFF2-40B4-BE49-F238E27FC236}">
                <a16:creationId xmlns:a16="http://schemas.microsoft.com/office/drawing/2014/main" id="{44C69162-0D01-0C02-0F1F-487A746F22F4}"/>
              </a:ext>
            </a:extLst>
          </p:cNvPr>
          <p:cNvSpPr/>
          <p:nvPr/>
        </p:nvSpPr>
        <p:spPr>
          <a:xfrm>
            <a:off x="7992287" y="4431838"/>
            <a:ext cx="3688083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Optika Black" panose="00000A00000000000000" pitchFamily="50" charset="0"/>
              </a:rPr>
              <a:t>pH DA POLPA</a:t>
            </a:r>
          </a:p>
        </p:txBody>
      </p:sp>
      <p:sp>
        <p:nvSpPr>
          <p:cNvPr id="85" name="Retângulo 84">
            <a:extLst>
              <a:ext uri="{FF2B5EF4-FFF2-40B4-BE49-F238E27FC236}">
                <a16:creationId xmlns:a16="http://schemas.microsoft.com/office/drawing/2014/main" id="{137745D0-31FE-B8B7-41FD-33939E16D1CA}"/>
              </a:ext>
            </a:extLst>
          </p:cNvPr>
          <p:cNvSpPr/>
          <p:nvPr/>
        </p:nvSpPr>
        <p:spPr>
          <a:xfrm>
            <a:off x="7992287" y="5403172"/>
            <a:ext cx="3688083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pt-BR" dirty="0">
                <a:latin typeface="Optika Black" panose="00000A00000000000000" pitchFamily="50" charset="0"/>
              </a:rPr>
              <a:t>DENSIDADE DA POLPA</a:t>
            </a:r>
          </a:p>
        </p:txBody>
      </p:sp>
      <p:sp>
        <p:nvSpPr>
          <p:cNvPr id="86" name="CaixaDeTexto 85">
            <a:extLst>
              <a:ext uri="{FF2B5EF4-FFF2-40B4-BE49-F238E27FC236}">
                <a16:creationId xmlns:a16="http://schemas.microsoft.com/office/drawing/2014/main" id="{247647AD-E0CD-135A-3508-C1BE96EA409C}"/>
              </a:ext>
            </a:extLst>
          </p:cNvPr>
          <p:cNvSpPr txBox="1"/>
          <p:nvPr/>
        </p:nvSpPr>
        <p:spPr>
          <a:xfrm>
            <a:off x="1849794" y="1557868"/>
            <a:ext cx="4188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Atua como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depressor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de sílica. </a:t>
            </a:r>
            <a:endParaRPr lang="pt-BR" sz="18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cxnSp>
        <p:nvCxnSpPr>
          <p:cNvPr id="87" name="Conector reto 86">
            <a:extLst>
              <a:ext uri="{FF2B5EF4-FFF2-40B4-BE49-F238E27FC236}">
                <a16:creationId xmlns:a16="http://schemas.microsoft.com/office/drawing/2014/main" id="{E603A8A7-265D-5E05-DBED-7A2EC9DDA926}"/>
              </a:ext>
            </a:extLst>
          </p:cNvPr>
          <p:cNvCxnSpPr>
            <a:cxnSpLocks/>
          </p:cNvCxnSpPr>
          <p:nvPr/>
        </p:nvCxnSpPr>
        <p:spPr>
          <a:xfrm>
            <a:off x="1900272" y="1550379"/>
            <a:ext cx="6092015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CaixaDeTexto 89">
            <a:extLst>
              <a:ext uri="{FF2B5EF4-FFF2-40B4-BE49-F238E27FC236}">
                <a16:creationId xmlns:a16="http://schemas.microsoft.com/office/drawing/2014/main" id="{EA618C4F-1398-8857-F528-BF0EFA372575}"/>
              </a:ext>
            </a:extLst>
          </p:cNvPr>
          <p:cNvSpPr txBox="1"/>
          <p:nvPr/>
        </p:nvSpPr>
        <p:spPr>
          <a:xfrm>
            <a:off x="1849794" y="2475457"/>
            <a:ext cx="4188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Atua como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coletor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de sílica.</a:t>
            </a:r>
            <a:endParaRPr lang="pt-BR" sz="18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cxnSp>
        <p:nvCxnSpPr>
          <p:cNvPr id="91" name="Conector reto 90">
            <a:extLst>
              <a:ext uri="{FF2B5EF4-FFF2-40B4-BE49-F238E27FC236}">
                <a16:creationId xmlns:a16="http://schemas.microsoft.com/office/drawing/2014/main" id="{82677EFA-12D6-C59F-D78C-B6E365EDD43C}"/>
              </a:ext>
            </a:extLst>
          </p:cNvPr>
          <p:cNvCxnSpPr>
            <a:cxnSpLocks/>
          </p:cNvCxnSpPr>
          <p:nvPr/>
        </p:nvCxnSpPr>
        <p:spPr>
          <a:xfrm>
            <a:off x="1938263" y="2477758"/>
            <a:ext cx="6054024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CaixaDeTexto 91">
            <a:extLst>
              <a:ext uri="{FF2B5EF4-FFF2-40B4-BE49-F238E27FC236}">
                <a16:creationId xmlns:a16="http://schemas.microsoft.com/office/drawing/2014/main" id="{6F809CAD-0C96-B772-AAEB-E1C8AED0F17E}"/>
              </a:ext>
            </a:extLst>
          </p:cNvPr>
          <p:cNvSpPr txBox="1"/>
          <p:nvPr/>
        </p:nvSpPr>
        <p:spPr>
          <a:xfrm>
            <a:off x="1849793" y="3468406"/>
            <a:ext cx="61424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Taxa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na qual se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move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pela planta de flotação.</a:t>
            </a:r>
            <a:endParaRPr lang="pt-BR" sz="18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cxnSp>
        <p:nvCxnSpPr>
          <p:cNvPr id="93" name="Conector reto 92">
            <a:extLst>
              <a:ext uri="{FF2B5EF4-FFF2-40B4-BE49-F238E27FC236}">
                <a16:creationId xmlns:a16="http://schemas.microsoft.com/office/drawing/2014/main" id="{18563A6B-7D43-E9AB-2A67-4D18DB2995D6}"/>
              </a:ext>
            </a:extLst>
          </p:cNvPr>
          <p:cNvCxnSpPr>
            <a:cxnSpLocks/>
          </p:cNvCxnSpPr>
          <p:nvPr/>
        </p:nvCxnSpPr>
        <p:spPr>
          <a:xfrm>
            <a:off x="1900272" y="3459741"/>
            <a:ext cx="6092015" cy="8665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CaixaDeTexto 93">
            <a:extLst>
              <a:ext uri="{FF2B5EF4-FFF2-40B4-BE49-F238E27FC236}">
                <a16:creationId xmlns:a16="http://schemas.microsoft.com/office/drawing/2014/main" id="{B727CA49-3EE4-D72F-C9CC-08644627E498}"/>
              </a:ext>
            </a:extLst>
          </p:cNvPr>
          <p:cNvSpPr txBox="1"/>
          <p:nvPr/>
        </p:nvSpPr>
        <p:spPr>
          <a:xfrm>
            <a:off x="1849795" y="4472829"/>
            <a:ext cx="60920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Influencia a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eficácia dos reagentes 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de flotação.</a:t>
            </a:r>
            <a:endParaRPr lang="pt-BR" sz="18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cxnSp>
        <p:nvCxnSpPr>
          <p:cNvPr id="95" name="Conector reto 94">
            <a:extLst>
              <a:ext uri="{FF2B5EF4-FFF2-40B4-BE49-F238E27FC236}">
                <a16:creationId xmlns:a16="http://schemas.microsoft.com/office/drawing/2014/main" id="{1C8315B1-5087-BF2A-1DE4-A4D50A370DBE}"/>
              </a:ext>
            </a:extLst>
          </p:cNvPr>
          <p:cNvCxnSpPr>
            <a:cxnSpLocks/>
          </p:cNvCxnSpPr>
          <p:nvPr/>
        </p:nvCxnSpPr>
        <p:spPr>
          <a:xfrm>
            <a:off x="1900270" y="4452158"/>
            <a:ext cx="6092017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CaixaDeTexto 95">
            <a:extLst>
              <a:ext uri="{FF2B5EF4-FFF2-40B4-BE49-F238E27FC236}">
                <a16:creationId xmlns:a16="http://schemas.microsoft.com/office/drawing/2014/main" id="{0A9B1E62-7548-E615-3D35-C9510321A7D1}"/>
              </a:ext>
            </a:extLst>
          </p:cNvPr>
          <p:cNvSpPr txBox="1"/>
          <p:nvPr/>
        </p:nvSpPr>
        <p:spPr>
          <a:xfrm>
            <a:off x="1849794" y="5461767"/>
            <a:ext cx="60920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Concentração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de sólidos na polpa de minério. </a:t>
            </a:r>
            <a:endParaRPr lang="pt-BR" sz="18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cxnSp>
        <p:nvCxnSpPr>
          <p:cNvPr id="97" name="Conector reto 96">
            <a:extLst>
              <a:ext uri="{FF2B5EF4-FFF2-40B4-BE49-F238E27FC236}">
                <a16:creationId xmlns:a16="http://schemas.microsoft.com/office/drawing/2014/main" id="{C428B111-50DB-95B7-00CB-63127338E88A}"/>
              </a:ext>
            </a:extLst>
          </p:cNvPr>
          <p:cNvCxnSpPr>
            <a:cxnSpLocks/>
          </p:cNvCxnSpPr>
          <p:nvPr/>
        </p:nvCxnSpPr>
        <p:spPr>
          <a:xfrm>
            <a:off x="1900272" y="5456582"/>
            <a:ext cx="6092015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CaixaDeTexto 98">
            <a:extLst>
              <a:ext uri="{FF2B5EF4-FFF2-40B4-BE49-F238E27FC236}">
                <a16:creationId xmlns:a16="http://schemas.microsoft.com/office/drawing/2014/main" id="{6345B24B-3139-993D-845C-16EC4D5A2A29}"/>
              </a:ext>
            </a:extLst>
          </p:cNvPr>
          <p:cNvSpPr txBox="1"/>
          <p:nvPr/>
        </p:nvSpPr>
        <p:spPr>
          <a:xfrm>
            <a:off x="2403734" y="1842667"/>
            <a:ext cx="55380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</a:rPr>
              <a:t>evita que minerais indesejados flutuem para a superfície.</a:t>
            </a:r>
          </a:p>
        </p:txBody>
      </p:sp>
      <p:sp>
        <p:nvSpPr>
          <p:cNvPr id="100" name="CaixaDeTexto 99">
            <a:extLst>
              <a:ext uri="{FF2B5EF4-FFF2-40B4-BE49-F238E27FC236}">
                <a16:creationId xmlns:a16="http://schemas.microsoft.com/office/drawing/2014/main" id="{7510D3FD-645E-4A65-FFAD-4FF44FCA7180}"/>
              </a:ext>
            </a:extLst>
          </p:cNvPr>
          <p:cNvSpPr txBox="1"/>
          <p:nvPr/>
        </p:nvSpPr>
        <p:spPr>
          <a:xfrm>
            <a:off x="2403734" y="2811384"/>
            <a:ext cx="55505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</a:rPr>
              <a:t>tornam certos minerais hidrofóbicos.</a:t>
            </a:r>
          </a:p>
        </p:txBody>
      </p:sp>
      <p:sp>
        <p:nvSpPr>
          <p:cNvPr id="101" name="CaixaDeTexto 100">
            <a:extLst>
              <a:ext uri="{FF2B5EF4-FFF2-40B4-BE49-F238E27FC236}">
                <a16:creationId xmlns:a16="http://schemas.microsoft.com/office/drawing/2014/main" id="{9C2A6EDC-1646-FD24-99F7-11FEE02C0E14}"/>
              </a:ext>
            </a:extLst>
          </p:cNvPr>
          <p:cNvSpPr txBox="1"/>
          <p:nvPr/>
        </p:nvSpPr>
        <p:spPr>
          <a:xfrm>
            <a:off x="2403735" y="4750733"/>
            <a:ext cx="555056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</a:rPr>
              <a:t>afetam o comportamento dos </a:t>
            </a:r>
            <a:r>
              <a:rPr lang="pt-BR" sz="1600" dirty="0" err="1">
                <a:solidFill>
                  <a:srgbClr val="072151"/>
                </a:solidFill>
                <a:latin typeface="Optika" panose="00000500000000000000" pitchFamily="50" charset="0"/>
              </a:rPr>
              <a:t>depressantes</a:t>
            </a:r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</a:rPr>
              <a:t> (amido) e dos coletores (amina).</a:t>
            </a:r>
            <a:endParaRPr lang="pt-BR" sz="14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134" name="CaixaDeTexto 133">
            <a:extLst>
              <a:ext uri="{FF2B5EF4-FFF2-40B4-BE49-F238E27FC236}">
                <a16:creationId xmlns:a16="http://schemas.microsoft.com/office/drawing/2014/main" id="{B962AAAC-22DC-5A20-64B3-E191C1E63C03}"/>
              </a:ext>
            </a:extLst>
          </p:cNvPr>
          <p:cNvSpPr txBox="1"/>
          <p:nvPr/>
        </p:nvSpPr>
        <p:spPr>
          <a:xfrm>
            <a:off x="2479040" y="3776323"/>
            <a:ext cx="54627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dirty="0">
                <a:solidFill>
                  <a:srgbClr val="072151"/>
                </a:solidFill>
                <a:effectLst/>
                <a:latin typeface="Optika" panose="00000500000000000000" pitchFamily="50" charset="0"/>
                <a:ea typeface="Aptos" panose="020B0004020202020204" pitchFamily="34" charset="0"/>
                <a:cs typeface="Times New Roman" panose="02020603050405020304" pitchFamily="18" charset="0"/>
              </a:rPr>
              <a:t>uma mistura de minério, água e produtos químicos.</a:t>
            </a:r>
            <a:endParaRPr lang="pt-BR" sz="1600" dirty="0">
              <a:latin typeface="Optika" panose="000005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5452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 tmFilter="0, 0; .2, .5; .8, .5; 1, 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00" autoRev="1" fill="hold"/>
                                        <p:tgtEl>
                                          <p:spTgt spid="7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17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 tmFilter="0, 0; .2, .5; .8, .5; 1, 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250" autoRev="1" fill="hold"/>
                                        <p:tgtEl>
                                          <p:spTgt spid="7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17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 tmFilter="0, 0; .2, .5; .8, .5; 1, 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0" dur="250" autoRev="1" fill="hold"/>
                                        <p:tgtEl>
                                          <p:spTgt spid="7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17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 tmFilter="0, 0; .2, .5; .8, .5; 1, 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5" dur="250" autoRev="1" fill="hold"/>
                                        <p:tgtEl>
                                          <p:spTgt spid="8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6" presetID="17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500" tmFilter="0, 0; .2, .5; .8, .5; 1, 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1" dur="250" autoRev="1" fill="hold"/>
                                        <p:tgtEl>
                                          <p:spTgt spid="8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2" presetID="17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  <p:bldP spid="78" grpId="0" animBg="1"/>
      <p:bldP spid="79" grpId="0" animBg="1"/>
      <p:bldP spid="80" grpId="0" animBg="1"/>
      <p:bldP spid="85" grpId="0" animBg="1"/>
      <p:bldP spid="86" grpId="0"/>
      <p:bldP spid="90" grpId="0"/>
      <p:bldP spid="92" grpId="0"/>
      <p:bldP spid="94" grpId="0"/>
      <p:bldP spid="96" grpId="0"/>
      <p:bldP spid="99" grpId="0"/>
      <p:bldP spid="100" grpId="0"/>
      <p:bldP spid="101" grpId="0"/>
      <p:bldP spid="1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1AA41-8C2C-7DDC-596A-11AB91831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70A33D09-F5A5-43E4-62DA-BBA7E4F2F3B2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9C796877-1672-8D9E-2768-0EBCD24B77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BB096D37-F181-A5CC-BD59-A2E52C834DFD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>
                <a:solidFill>
                  <a:srgbClr val="072151"/>
                </a:solidFill>
                <a:latin typeface="Optika Black" panose="00000A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CF6EAD2-3C20-E016-00EA-3CE7A6F4CC04}"/>
              </a:ext>
            </a:extLst>
          </p:cNvPr>
          <p:cNvSpPr txBox="1"/>
          <p:nvPr/>
        </p:nvSpPr>
        <p:spPr>
          <a:xfrm>
            <a:off x="524745" y="445366"/>
            <a:ext cx="111556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PARÂMETROS SECUNDÁRIOS PARA A EFICIÊNCIA DO BENEFICIAMENTO POR FLOTAÇÃO </a:t>
            </a:r>
          </a:p>
        </p:txBody>
      </p:sp>
      <p:sp>
        <p:nvSpPr>
          <p:cNvPr id="79" name="Retângulo 78">
            <a:extLst>
              <a:ext uri="{FF2B5EF4-FFF2-40B4-BE49-F238E27FC236}">
                <a16:creationId xmlns:a16="http://schemas.microsoft.com/office/drawing/2014/main" id="{FC0E53BE-4DBF-7C72-AF2D-82A95786DDBF}"/>
              </a:ext>
            </a:extLst>
          </p:cNvPr>
          <p:cNvSpPr/>
          <p:nvPr/>
        </p:nvSpPr>
        <p:spPr>
          <a:xfrm>
            <a:off x="7992287" y="2645718"/>
            <a:ext cx="3688083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pt-BR" dirty="0">
                <a:latin typeface="Optika Black" panose="00000A00000000000000" pitchFamily="50" charset="0"/>
              </a:rPr>
              <a:t>FLUXO DE AR</a:t>
            </a:r>
          </a:p>
        </p:txBody>
      </p:sp>
      <p:sp>
        <p:nvSpPr>
          <p:cNvPr id="80" name="Retângulo 79">
            <a:extLst>
              <a:ext uri="{FF2B5EF4-FFF2-40B4-BE49-F238E27FC236}">
                <a16:creationId xmlns:a16="http://schemas.microsoft.com/office/drawing/2014/main" id="{2B2C307E-DB9A-F0F6-052D-DE260F8897F2}"/>
              </a:ext>
            </a:extLst>
          </p:cNvPr>
          <p:cNvSpPr/>
          <p:nvPr/>
        </p:nvSpPr>
        <p:spPr>
          <a:xfrm>
            <a:off x="7992287" y="3631735"/>
            <a:ext cx="3688083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pt-BR" dirty="0">
                <a:latin typeface="Optika Black" panose="00000A00000000000000" pitchFamily="50" charset="0"/>
              </a:rPr>
              <a:t>NÍVEL DA ESPUMA</a:t>
            </a:r>
          </a:p>
        </p:txBody>
      </p:sp>
      <p:sp>
        <p:nvSpPr>
          <p:cNvPr id="92" name="CaixaDeTexto 91">
            <a:extLst>
              <a:ext uri="{FF2B5EF4-FFF2-40B4-BE49-F238E27FC236}">
                <a16:creationId xmlns:a16="http://schemas.microsoft.com/office/drawing/2014/main" id="{A1BC9B3E-32BA-9707-48EF-90C3F8C1350D}"/>
              </a:ext>
            </a:extLst>
          </p:cNvPr>
          <p:cNvSpPr txBox="1"/>
          <p:nvPr/>
        </p:nvSpPr>
        <p:spPr>
          <a:xfrm>
            <a:off x="1849793" y="2668303"/>
            <a:ext cx="61424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Controle da quantidade de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 bolhas de ar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.</a:t>
            </a:r>
            <a:endParaRPr lang="pt-BR" sz="18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cxnSp>
        <p:nvCxnSpPr>
          <p:cNvPr id="93" name="Conector reto 92">
            <a:extLst>
              <a:ext uri="{FF2B5EF4-FFF2-40B4-BE49-F238E27FC236}">
                <a16:creationId xmlns:a16="http://schemas.microsoft.com/office/drawing/2014/main" id="{1839A2F6-313B-AAA7-E80F-CA1771CC7298}"/>
              </a:ext>
            </a:extLst>
          </p:cNvPr>
          <p:cNvCxnSpPr>
            <a:cxnSpLocks/>
          </p:cNvCxnSpPr>
          <p:nvPr/>
        </p:nvCxnSpPr>
        <p:spPr>
          <a:xfrm>
            <a:off x="1900272" y="2659638"/>
            <a:ext cx="6092015" cy="8665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CaixaDeTexto 93">
            <a:extLst>
              <a:ext uri="{FF2B5EF4-FFF2-40B4-BE49-F238E27FC236}">
                <a16:creationId xmlns:a16="http://schemas.microsoft.com/office/drawing/2014/main" id="{83BC6D4B-E821-F384-BA0D-E51667562713}"/>
              </a:ext>
            </a:extLst>
          </p:cNvPr>
          <p:cNvSpPr txBox="1"/>
          <p:nvPr/>
        </p:nvSpPr>
        <p:spPr>
          <a:xfrm>
            <a:off x="1849795" y="3672726"/>
            <a:ext cx="60920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Altura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da espuma na célula de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flotação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.</a:t>
            </a:r>
            <a:endParaRPr lang="pt-BR" sz="18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cxnSp>
        <p:nvCxnSpPr>
          <p:cNvPr id="95" name="Conector reto 94">
            <a:extLst>
              <a:ext uri="{FF2B5EF4-FFF2-40B4-BE49-F238E27FC236}">
                <a16:creationId xmlns:a16="http://schemas.microsoft.com/office/drawing/2014/main" id="{A52038DA-F973-4A35-B6D0-670B82B75AF0}"/>
              </a:ext>
            </a:extLst>
          </p:cNvPr>
          <p:cNvCxnSpPr>
            <a:cxnSpLocks/>
          </p:cNvCxnSpPr>
          <p:nvPr/>
        </p:nvCxnSpPr>
        <p:spPr>
          <a:xfrm>
            <a:off x="1900270" y="3652055"/>
            <a:ext cx="6092017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CaixaDeTexto 100">
            <a:extLst>
              <a:ext uri="{FF2B5EF4-FFF2-40B4-BE49-F238E27FC236}">
                <a16:creationId xmlns:a16="http://schemas.microsoft.com/office/drawing/2014/main" id="{0A26722C-63E7-AA98-7605-FD95DF589740}"/>
              </a:ext>
            </a:extLst>
          </p:cNvPr>
          <p:cNvSpPr txBox="1"/>
          <p:nvPr/>
        </p:nvSpPr>
        <p:spPr>
          <a:xfrm>
            <a:off x="2403735" y="3950630"/>
            <a:ext cx="55505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</a:rPr>
              <a:t>Espuma </a:t>
            </a:r>
            <a:r>
              <a:rPr lang="pt-BR" sz="1600" b="1" dirty="0">
                <a:solidFill>
                  <a:srgbClr val="072151"/>
                </a:solidFill>
                <a:latin typeface="Optika" panose="00000500000000000000" pitchFamily="50" charset="0"/>
              </a:rPr>
              <a:t>alta</a:t>
            </a:r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</a:rPr>
              <a:t> inclui ganga, </a:t>
            </a:r>
            <a:r>
              <a:rPr lang="pt-BR" sz="1600" b="1" dirty="0">
                <a:solidFill>
                  <a:srgbClr val="072151"/>
                </a:solidFill>
                <a:latin typeface="Optika" panose="00000500000000000000" pitchFamily="50" charset="0"/>
              </a:rPr>
              <a:t>reduz</a:t>
            </a:r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</a:rPr>
              <a:t> qualidade; espuma </a:t>
            </a:r>
            <a:r>
              <a:rPr lang="pt-BR" sz="1600" b="1" dirty="0">
                <a:solidFill>
                  <a:srgbClr val="072151"/>
                </a:solidFill>
                <a:latin typeface="Optika" panose="00000500000000000000" pitchFamily="50" charset="0"/>
              </a:rPr>
              <a:t>baixa</a:t>
            </a:r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</a:rPr>
              <a:t> </a:t>
            </a:r>
            <a:r>
              <a:rPr lang="pt-BR" sz="1600" b="1" dirty="0">
                <a:solidFill>
                  <a:srgbClr val="072151"/>
                </a:solidFill>
                <a:latin typeface="Optika" panose="00000500000000000000" pitchFamily="50" charset="0"/>
              </a:rPr>
              <a:t>perde</a:t>
            </a:r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</a:rPr>
              <a:t> </a:t>
            </a:r>
            <a:r>
              <a:rPr lang="pt-BR" sz="1600" b="1" dirty="0">
                <a:solidFill>
                  <a:srgbClr val="072151"/>
                </a:solidFill>
                <a:latin typeface="Optika" panose="00000500000000000000" pitchFamily="50" charset="0"/>
              </a:rPr>
              <a:t>minerais</a:t>
            </a:r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</a:rPr>
              <a:t> valiosos nas rejeitas.</a:t>
            </a:r>
            <a:endParaRPr lang="pt-BR" sz="14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134" name="CaixaDeTexto 133">
            <a:extLst>
              <a:ext uri="{FF2B5EF4-FFF2-40B4-BE49-F238E27FC236}">
                <a16:creationId xmlns:a16="http://schemas.microsoft.com/office/drawing/2014/main" id="{913F1622-104C-B7D8-DF02-6B428B5CFDFE}"/>
              </a:ext>
            </a:extLst>
          </p:cNvPr>
          <p:cNvSpPr txBox="1"/>
          <p:nvPr/>
        </p:nvSpPr>
        <p:spPr>
          <a:xfrm>
            <a:off x="2479040" y="2976220"/>
            <a:ext cx="54627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dirty="0">
                <a:solidFill>
                  <a:srgbClr val="072151"/>
                </a:solidFill>
                <a:latin typeface="Optika" panose="00000500000000000000" pitchFamily="50" charset="0"/>
                <a:cs typeface="Times New Roman" panose="02020603050405020304" pitchFamily="18" charset="0"/>
              </a:rPr>
              <a:t>atua para minimizar o arraste e maximizar adesão de impurezas.</a:t>
            </a:r>
            <a:endParaRPr lang="pt-BR" sz="1600" dirty="0">
              <a:latin typeface="Optika" panose="000005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8844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7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17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 tmFilter="0, 0; .2, .5; .8, .5; 1, 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" dur="250" autoRev="1" fill="hold"/>
                                        <p:tgtEl>
                                          <p:spTgt spid="8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17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 animBg="1"/>
      <p:bldP spid="80" grpId="0" animBg="1"/>
      <p:bldP spid="92" grpId="0"/>
      <p:bldP spid="94" grpId="0"/>
      <p:bldP spid="101" grpId="0"/>
      <p:bldP spid="1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6B9BC-A83D-A599-CAA8-A4B7DA6D9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4DCA3C5-44AF-115D-F854-4A07B909429C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02CD38AB-5854-A972-1D4C-AC0F2ABA75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FCDAAD4C-14B0-011A-1503-5062B9A73E09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3C03CBD-FCBC-4744-873B-CAE23A6E7934}"/>
              </a:ext>
            </a:extLst>
          </p:cNvPr>
          <p:cNvSpPr txBox="1"/>
          <p:nvPr/>
        </p:nvSpPr>
        <p:spPr>
          <a:xfrm>
            <a:off x="524745" y="445366"/>
            <a:ext cx="111556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QUAL DESSES PARÂMETROS PODE CONTRIBUIR PARA REDUÇÃO DE IMPUREZAS?</a:t>
            </a:r>
          </a:p>
        </p:txBody>
      </p: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656097C5-5177-2015-FC02-82AF6411646E}"/>
              </a:ext>
            </a:extLst>
          </p:cNvPr>
          <p:cNvCxnSpPr>
            <a:cxnSpLocks/>
          </p:cNvCxnSpPr>
          <p:nvPr/>
        </p:nvCxnSpPr>
        <p:spPr>
          <a:xfrm>
            <a:off x="2185405" y="1825714"/>
            <a:ext cx="9494966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CC416D4F-4806-8B11-32A0-F9BF8CFD27A0}"/>
              </a:ext>
            </a:extLst>
          </p:cNvPr>
          <p:cNvCxnSpPr>
            <a:cxnSpLocks/>
          </p:cNvCxnSpPr>
          <p:nvPr/>
        </p:nvCxnSpPr>
        <p:spPr>
          <a:xfrm>
            <a:off x="2185407" y="2906584"/>
            <a:ext cx="9494964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C428A00-29AD-671C-2838-CF736FFDB80F}"/>
              </a:ext>
            </a:extLst>
          </p:cNvPr>
          <p:cNvSpPr txBox="1"/>
          <p:nvPr/>
        </p:nvSpPr>
        <p:spPr>
          <a:xfrm>
            <a:off x="2688870" y="1912802"/>
            <a:ext cx="899150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Quais das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variáveis críticas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, ao serem melhor controladas, podem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impactar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 diretamente no processo de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remoção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 de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sílica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?</a:t>
            </a:r>
            <a:endParaRPr lang="pt-BR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F219A1EC-CA4D-EDAC-AA2A-8D2B1EC8EF6D}"/>
              </a:ext>
            </a:extLst>
          </p:cNvPr>
          <p:cNvSpPr txBox="1"/>
          <p:nvPr/>
        </p:nvSpPr>
        <p:spPr>
          <a:xfrm>
            <a:off x="1861666" y="1890921"/>
            <a:ext cx="2951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>
                <a:solidFill>
                  <a:srgbClr val="072151"/>
                </a:solidFill>
                <a:latin typeface="Optika Black" panose="00000A00000000000000" pitchFamily="50" charset="0"/>
              </a:rPr>
              <a:t>1</a:t>
            </a:r>
            <a:endParaRPr lang="pt-BR" sz="4000" dirty="0">
              <a:solidFill>
                <a:srgbClr val="072151"/>
              </a:solidFill>
              <a:latin typeface="Optika Black" panose="00000A00000000000000" pitchFamily="50" charset="0"/>
            </a:endParaRPr>
          </a:p>
        </p:txBody>
      </p: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849AE2A8-2865-4EDB-EF02-35DB6E795BDF}"/>
              </a:ext>
            </a:extLst>
          </p:cNvPr>
          <p:cNvCxnSpPr>
            <a:cxnSpLocks/>
          </p:cNvCxnSpPr>
          <p:nvPr/>
        </p:nvCxnSpPr>
        <p:spPr>
          <a:xfrm>
            <a:off x="2185405" y="3239846"/>
            <a:ext cx="9494966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5DFCB3B2-1819-266A-5BAB-656838B43B0A}"/>
              </a:ext>
            </a:extLst>
          </p:cNvPr>
          <p:cNvCxnSpPr>
            <a:cxnSpLocks/>
          </p:cNvCxnSpPr>
          <p:nvPr/>
        </p:nvCxnSpPr>
        <p:spPr>
          <a:xfrm>
            <a:off x="2185407" y="4320716"/>
            <a:ext cx="9494964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EC8A3CA8-D194-38EC-E57C-EE12AEE1FADA}"/>
              </a:ext>
            </a:extLst>
          </p:cNvPr>
          <p:cNvSpPr txBox="1"/>
          <p:nvPr/>
        </p:nvSpPr>
        <p:spPr>
          <a:xfrm>
            <a:off x="2688870" y="3421530"/>
            <a:ext cx="899150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Quais das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variáveis secundárias contribuem 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para  o processo de beneficiamento?</a:t>
            </a:r>
            <a:endParaRPr lang="pt-BR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FA5C6D32-63B5-1AFF-402E-1CF685CDCDA1}"/>
              </a:ext>
            </a:extLst>
          </p:cNvPr>
          <p:cNvSpPr txBox="1"/>
          <p:nvPr/>
        </p:nvSpPr>
        <p:spPr>
          <a:xfrm>
            <a:off x="1861666" y="3305053"/>
            <a:ext cx="2951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>
                <a:solidFill>
                  <a:srgbClr val="072151"/>
                </a:solidFill>
                <a:latin typeface="Optika Black" panose="00000A00000000000000" pitchFamily="50" charset="0"/>
              </a:rPr>
              <a:t>2</a:t>
            </a:r>
            <a:endParaRPr lang="pt-BR" sz="4000" dirty="0">
              <a:solidFill>
                <a:srgbClr val="072151"/>
              </a:solidFill>
              <a:latin typeface="Optika Black" panose="00000A00000000000000" pitchFamily="50" charset="0"/>
            </a:endParaRPr>
          </a:p>
        </p:txBody>
      </p:sp>
      <p:cxnSp>
        <p:nvCxnSpPr>
          <p:cNvPr id="2" name="Conector reto 1">
            <a:extLst>
              <a:ext uri="{FF2B5EF4-FFF2-40B4-BE49-F238E27FC236}">
                <a16:creationId xmlns:a16="http://schemas.microsoft.com/office/drawing/2014/main" id="{5AC20929-537F-C40A-5649-225F63A7B1B0}"/>
              </a:ext>
            </a:extLst>
          </p:cNvPr>
          <p:cNvCxnSpPr>
            <a:cxnSpLocks/>
          </p:cNvCxnSpPr>
          <p:nvPr/>
        </p:nvCxnSpPr>
        <p:spPr>
          <a:xfrm>
            <a:off x="2185405" y="4659941"/>
            <a:ext cx="9494966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CF686321-FE4A-F172-A2E0-9A5792CA5808}"/>
              </a:ext>
            </a:extLst>
          </p:cNvPr>
          <p:cNvCxnSpPr>
            <a:cxnSpLocks/>
          </p:cNvCxnSpPr>
          <p:nvPr/>
        </p:nvCxnSpPr>
        <p:spPr>
          <a:xfrm>
            <a:off x="2185407" y="5740811"/>
            <a:ext cx="9494964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aixaDeTexto 8">
            <a:extLst>
              <a:ext uri="{FF2B5EF4-FFF2-40B4-BE49-F238E27FC236}">
                <a16:creationId xmlns:a16="http://schemas.microsoft.com/office/drawing/2014/main" id="{3EDC6F0A-8732-29EC-1D20-05A3F282C32A}"/>
              </a:ext>
            </a:extLst>
          </p:cNvPr>
          <p:cNvSpPr txBox="1"/>
          <p:nvPr/>
        </p:nvSpPr>
        <p:spPr>
          <a:xfrm>
            <a:off x="2688870" y="4841625"/>
            <a:ext cx="899150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Todos os parâmetros 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influenciam com a mesma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intensidade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 no processo de beneficiamento?</a:t>
            </a:r>
            <a:endParaRPr lang="pt-BR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16B4D519-3B97-C110-A4D4-2E2B139D71A3}"/>
              </a:ext>
            </a:extLst>
          </p:cNvPr>
          <p:cNvSpPr txBox="1"/>
          <p:nvPr/>
        </p:nvSpPr>
        <p:spPr>
          <a:xfrm>
            <a:off x="1861666" y="4725148"/>
            <a:ext cx="2951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>
                <a:solidFill>
                  <a:srgbClr val="072151"/>
                </a:solidFill>
                <a:latin typeface="Optika Black" panose="00000A00000000000000" pitchFamily="50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08612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7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7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7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  <p:bldP spid="17" grpId="0"/>
      <p:bldP spid="18" grpId="0"/>
      <p:bldP spid="9" grpId="0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2A11A-2AEE-7495-6ED6-CAC3C7FA1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510BB1DE-C803-9AE6-78CD-3BE554AAEE75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4FBE6532-248A-0B4F-9CA2-CBFCFDB298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BA4B5A2E-89AC-27CC-2361-AA0743847412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C61085E-26D9-8030-A130-0BB734EA0D0E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ETAPAS DO PROCESSO DE ANÁLISE DE DADOS</a:t>
            </a:r>
          </a:p>
        </p:txBody>
      </p:sp>
      <p:sp>
        <p:nvSpPr>
          <p:cNvPr id="3" name="Google Shape;979;p28">
            <a:extLst>
              <a:ext uri="{FF2B5EF4-FFF2-40B4-BE49-F238E27FC236}">
                <a16:creationId xmlns:a16="http://schemas.microsoft.com/office/drawing/2014/main" id="{445D5D47-A789-48B7-B4FF-FBCBC195D9F9}"/>
              </a:ext>
            </a:extLst>
          </p:cNvPr>
          <p:cNvSpPr/>
          <p:nvPr/>
        </p:nvSpPr>
        <p:spPr>
          <a:xfrm>
            <a:off x="2000046" y="3124675"/>
            <a:ext cx="1822582" cy="17742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grpSp>
        <p:nvGrpSpPr>
          <p:cNvPr id="4" name="Google Shape;980;p28">
            <a:extLst>
              <a:ext uri="{FF2B5EF4-FFF2-40B4-BE49-F238E27FC236}">
                <a16:creationId xmlns:a16="http://schemas.microsoft.com/office/drawing/2014/main" id="{E6F6CACA-65DA-6403-03B3-ABE70FC739E3}"/>
              </a:ext>
            </a:extLst>
          </p:cNvPr>
          <p:cNvGrpSpPr/>
          <p:nvPr/>
        </p:nvGrpSpPr>
        <p:grpSpPr>
          <a:xfrm>
            <a:off x="2013565" y="3509203"/>
            <a:ext cx="1795544" cy="1005151"/>
            <a:chOff x="-2274414" y="1330575"/>
            <a:chExt cx="2426739" cy="1005151"/>
          </a:xfrm>
          <a:solidFill>
            <a:srgbClr val="072151"/>
          </a:solidFill>
        </p:grpSpPr>
        <p:sp>
          <p:nvSpPr>
            <p:cNvPr id="11" name="Google Shape;981;p28">
              <a:extLst>
                <a:ext uri="{FF2B5EF4-FFF2-40B4-BE49-F238E27FC236}">
                  <a16:creationId xmlns:a16="http://schemas.microsoft.com/office/drawing/2014/main" id="{F03CE323-BC30-F8E4-AC21-6A8FE50C7549}"/>
                </a:ext>
              </a:extLst>
            </p:cNvPr>
            <p:cNvSpPr txBox="1"/>
            <p:nvPr/>
          </p:nvSpPr>
          <p:spPr>
            <a:xfrm>
              <a:off x="-2082427" y="1330575"/>
              <a:ext cx="1980300" cy="3486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" sz="1800" b="1" dirty="0">
                  <a:solidFill>
                    <a:schemeClr val="bg1"/>
                  </a:solidFill>
                  <a:latin typeface="Optika" panose="00000500000000000000" pitchFamily="50" charset="0"/>
                  <a:ea typeface="Fira Sans Extra Condensed"/>
                  <a:cs typeface="Fira Sans Extra Condensed"/>
                  <a:sym typeface="Fira Sans Extra Condensed"/>
                </a:rPr>
                <a:t>COLETA</a:t>
              </a:r>
              <a:endParaRPr sz="1800" b="1" dirty="0">
                <a:solidFill>
                  <a:schemeClr val="bg1"/>
                </a:solidFill>
                <a:latin typeface="Optika" panose="00000500000000000000" pitchFamily="50" charset="0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2" name="Google Shape;982;p28">
              <a:extLst>
                <a:ext uri="{FF2B5EF4-FFF2-40B4-BE49-F238E27FC236}">
                  <a16:creationId xmlns:a16="http://schemas.microsoft.com/office/drawing/2014/main" id="{1F8E974E-72FC-F85D-C2B4-BB80E172DE1A}"/>
                </a:ext>
              </a:extLst>
            </p:cNvPr>
            <p:cNvSpPr txBox="1"/>
            <p:nvPr/>
          </p:nvSpPr>
          <p:spPr>
            <a:xfrm>
              <a:off x="-2274414" y="1609426"/>
              <a:ext cx="2426739" cy="7263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200" dirty="0">
                  <a:solidFill>
                    <a:schemeClr val="bg1"/>
                  </a:solidFill>
                  <a:latin typeface="Optika" panose="00000500000000000000" pitchFamily="50" charset="0"/>
                  <a:ea typeface="Roboto"/>
                  <a:cs typeface="Roboto"/>
                  <a:sym typeface="Roboto"/>
                </a:rPr>
                <a:t>D</a:t>
              </a:r>
              <a:r>
                <a:rPr lang="en" sz="1200" dirty="0">
                  <a:solidFill>
                    <a:schemeClr val="bg1"/>
                  </a:solidFill>
                  <a:latin typeface="Optika" panose="00000500000000000000" pitchFamily="50" charset="0"/>
                  <a:ea typeface="Roboto"/>
                  <a:cs typeface="Roboto"/>
                  <a:sym typeface="Roboto"/>
                </a:rPr>
                <a:t>ados necessários para a </a:t>
              </a:r>
              <a:r>
                <a:rPr lang="pt-BR" sz="1200" dirty="0">
                  <a:solidFill>
                    <a:schemeClr val="bg1"/>
                  </a:solidFill>
                  <a:latin typeface="Optika" panose="00000500000000000000" pitchFamily="50" charset="0"/>
                  <a:ea typeface="Roboto"/>
                  <a:cs typeface="Roboto"/>
                  <a:sym typeface="Roboto"/>
                </a:rPr>
                <a:t>análise </a:t>
              </a:r>
              <a:endParaRPr sz="1200" dirty="0">
                <a:solidFill>
                  <a:schemeClr val="bg1"/>
                </a:solidFill>
                <a:latin typeface="Optika" panose="00000500000000000000" pitchFamily="50" charset="0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0" name="Google Shape;984;p28">
            <a:extLst>
              <a:ext uri="{FF2B5EF4-FFF2-40B4-BE49-F238E27FC236}">
                <a16:creationId xmlns:a16="http://schemas.microsoft.com/office/drawing/2014/main" id="{35B0A02E-C938-A411-EDCF-F75222D3B013}"/>
              </a:ext>
            </a:extLst>
          </p:cNvPr>
          <p:cNvSpPr/>
          <p:nvPr/>
        </p:nvSpPr>
        <p:spPr>
          <a:xfrm>
            <a:off x="2624987" y="4975302"/>
            <a:ext cx="572700" cy="5727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200" b="1">
                <a:solidFill>
                  <a:schemeClr val="bg1"/>
                </a:solidFill>
                <a:latin typeface="Optika" panose="00000500000000000000" pitchFamily="50" charset="0"/>
                <a:ea typeface="Fira Sans Extra Condensed"/>
                <a:cs typeface="Fira Sans Extra Condensed"/>
                <a:sym typeface="Fira Sans Extra Condensed"/>
              </a:rPr>
              <a:t>1</a:t>
            </a:r>
            <a:endParaRPr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cxnSp>
        <p:nvCxnSpPr>
          <p:cNvPr id="13" name="Google Shape;985;p28">
            <a:extLst>
              <a:ext uri="{FF2B5EF4-FFF2-40B4-BE49-F238E27FC236}">
                <a16:creationId xmlns:a16="http://schemas.microsoft.com/office/drawing/2014/main" id="{616C41D9-BBDD-7BDD-F08D-0FD7E27AC244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1617554" y="5261652"/>
            <a:ext cx="1007433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Google Shape;987;p28">
            <a:extLst>
              <a:ext uri="{FF2B5EF4-FFF2-40B4-BE49-F238E27FC236}">
                <a16:creationId xmlns:a16="http://schemas.microsoft.com/office/drawing/2014/main" id="{B6BDDAF9-7DF1-A786-F288-3A89AFE07A05}"/>
              </a:ext>
            </a:extLst>
          </p:cNvPr>
          <p:cNvSpPr/>
          <p:nvPr/>
        </p:nvSpPr>
        <p:spPr>
          <a:xfrm>
            <a:off x="3923642" y="3124675"/>
            <a:ext cx="2071342" cy="17742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grpSp>
        <p:nvGrpSpPr>
          <p:cNvPr id="16" name="Google Shape;988;p28">
            <a:extLst>
              <a:ext uri="{FF2B5EF4-FFF2-40B4-BE49-F238E27FC236}">
                <a16:creationId xmlns:a16="http://schemas.microsoft.com/office/drawing/2014/main" id="{1F9B271F-4FB3-1902-CA6C-29DEFDE17FF3}"/>
              </a:ext>
            </a:extLst>
          </p:cNvPr>
          <p:cNvGrpSpPr/>
          <p:nvPr/>
        </p:nvGrpSpPr>
        <p:grpSpPr>
          <a:xfrm>
            <a:off x="3980947" y="3509203"/>
            <a:ext cx="1956733" cy="1005151"/>
            <a:chOff x="-2082462" y="1330575"/>
            <a:chExt cx="1980335" cy="1005151"/>
          </a:xfrm>
          <a:solidFill>
            <a:srgbClr val="072151"/>
          </a:solidFill>
        </p:grpSpPr>
        <p:sp>
          <p:nvSpPr>
            <p:cNvPr id="19" name="Google Shape;989;p28">
              <a:extLst>
                <a:ext uri="{FF2B5EF4-FFF2-40B4-BE49-F238E27FC236}">
                  <a16:creationId xmlns:a16="http://schemas.microsoft.com/office/drawing/2014/main" id="{A0621A9B-413B-070D-9F36-051F9C4B1D0C}"/>
                </a:ext>
              </a:extLst>
            </p:cNvPr>
            <p:cNvSpPr txBox="1"/>
            <p:nvPr/>
          </p:nvSpPr>
          <p:spPr>
            <a:xfrm>
              <a:off x="-2082427" y="1330575"/>
              <a:ext cx="1980300" cy="3486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" sz="1800" b="1" dirty="0">
                  <a:solidFill>
                    <a:schemeClr val="bg1"/>
                  </a:solidFill>
                  <a:latin typeface="Optika" panose="00000500000000000000" pitchFamily="50" charset="0"/>
                  <a:ea typeface="Fira Sans Extra Condensed"/>
                  <a:cs typeface="Fira Sans Extra Condensed"/>
                  <a:sym typeface="Fira Sans Extra Condensed"/>
                </a:rPr>
                <a:t>LIMPEZA </a:t>
              </a:r>
              <a:endParaRPr sz="1800" b="1" dirty="0">
                <a:solidFill>
                  <a:schemeClr val="bg1"/>
                </a:solidFill>
                <a:latin typeface="Optika" panose="00000500000000000000" pitchFamily="50" charset="0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0" name="Google Shape;990;p28">
              <a:extLst>
                <a:ext uri="{FF2B5EF4-FFF2-40B4-BE49-F238E27FC236}">
                  <a16:creationId xmlns:a16="http://schemas.microsoft.com/office/drawing/2014/main" id="{7396501F-3522-FCED-95C1-4AD7CB70F23E}"/>
                </a:ext>
              </a:extLst>
            </p:cNvPr>
            <p:cNvSpPr txBox="1"/>
            <p:nvPr/>
          </p:nvSpPr>
          <p:spPr>
            <a:xfrm>
              <a:off x="-2082462" y="1609426"/>
              <a:ext cx="1980300" cy="7263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200" dirty="0">
                  <a:solidFill>
                    <a:schemeClr val="bg1"/>
                  </a:solidFill>
                  <a:latin typeface="Optika" panose="00000500000000000000" pitchFamily="50" charset="0"/>
                  <a:ea typeface="Roboto"/>
                  <a:cs typeface="Roboto"/>
                  <a:sym typeface="Roboto"/>
                </a:rPr>
                <a:t>Inconsistências, erros ou informações incompletas são tratadas.</a:t>
              </a:r>
              <a:endParaRPr sz="1200" dirty="0">
                <a:solidFill>
                  <a:schemeClr val="bg1"/>
                </a:solidFill>
                <a:latin typeface="Optika" panose="00000500000000000000" pitchFamily="50" charset="0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8" name="Google Shape;992;p28">
            <a:extLst>
              <a:ext uri="{FF2B5EF4-FFF2-40B4-BE49-F238E27FC236}">
                <a16:creationId xmlns:a16="http://schemas.microsoft.com/office/drawing/2014/main" id="{498D2472-B664-C5D6-6B5B-778EB9D5DF9F}"/>
              </a:ext>
            </a:extLst>
          </p:cNvPr>
          <p:cNvSpPr/>
          <p:nvPr/>
        </p:nvSpPr>
        <p:spPr>
          <a:xfrm>
            <a:off x="4672963" y="4975302"/>
            <a:ext cx="572700" cy="5727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200" b="1">
                <a:solidFill>
                  <a:schemeClr val="bg1"/>
                </a:solidFill>
                <a:latin typeface="Optika" panose="00000500000000000000" pitchFamily="50" charset="0"/>
                <a:ea typeface="Fira Sans Extra Condensed"/>
                <a:cs typeface="Fira Sans Extra Condensed"/>
                <a:sym typeface="Fira Sans Extra Condensed"/>
              </a:rPr>
              <a:t>2</a:t>
            </a:r>
            <a:endParaRPr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sp>
        <p:nvSpPr>
          <p:cNvPr id="22" name="Google Shape;994;p28">
            <a:extLst>
              <a:ext uri="{FF2B5EF4-FFF2-40B4-BE49-F238E27FC236}">
                <a16:creationId xmlns:a16="http://schemas.microsoft.com/office/drawing/2014/main" id="{4AA98D33-773D-01A6-F398-65F2E0738043}"/>
              </a:ext>
            </a:extLst>
          </p:cNvPr>
          <p:cNvSpPr/>
          <p:nvPr/>
        </p:nvSpPr>
        <p:spPr>
          <a:xfrm>
            <a:off x="6095998" y="3124675"/>
            <a:ext cx="2232000" cy="17742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grpSp>
        <p:nvGrpSpPr>
          <p:cNvPr id="23" name="Google Shape;995;p28">
            <a:extLst>
              <a:ext uri="{FF2B5EF4-FFF2-40B4-BE49-F238E27FC236}">
                <a16:creationId xmlns:a16="http://schemas.microsoft.com/office/drawing/2014/main" id="{9CBE9228-7DCB-FAFD-E8A9-4AF69BF9B822}"/>
              </a:ext>
            </a:extLst>
          </p:cNvPr>
          <p:cNvGrpSpPr/>
          <p:nvPr/>
        </p:nvGrpSpPr>
        <p:grpSpPr>
          <a:xfrm>
            <a:off x="6095988" y="3509203"/>
            <a:ext cx="2222195" cy="1005151"/>
            <a:chOff x="-3001117" y="1330575"/>
            <a:chExt cx="3003372" cy="1005151"/>
          </a:xfrm>
          <a:solidFill>
            <a:srgbClr val="072151"/>
          </a:solidFill>
        </p:grpSpPr>
        <p:sp>
          <p:nvSpPr>
            <p:cNvPr id="26" name="Google Shape;996;p28">
              <a:extLst>
                <a:ext uri="{FF2B5EF4-FFF2-40B4-BE49-F238E27FC236}">
                  <a16:creationId xmlns:a16="http://schemas.microsoft.com/office/drawing/2014/main" id="{DCCC1DCE-2799-E7BF-5A53-DA4EA0177728}"/>
                </a:ext>
              </a:extLst>
            </p:cNvPr>
            <p:cNvSpPr txBox="1"/>
            <p:nvPr/>
          </p:nvSpPr>
          <p:spPr>
            <a:xfrm>
              <a:off x="-3001117" y="1330575"/>
              <a:ext cx="3003359" cy="3486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" sz="1800" b="1" dirty="0">
                  <a:solidFill>
                    <a:schemeClr val="bg1"/>
                  </a:solidFill>
                  <a:latin typeface="Optika" panose="00000500000000000000" pitchFamily="50" charset="0"/>
                  <a:ea typeface="Fira Sans Extra Condensed"/>
                  <a:cs typeface="Fira Sans Extra Condensed"/>
                  <a:sym typeface="Fira Sans Extra Condensed"/>
                </a:rPr>
                <a:t>EXPLORAÇÃO</a:t>
              </a:r>
              <a:endParaRPr sz="1800" b="1" dirty="0">
                <a:solidFill>
                  <a:schemeClr val="bg1"/>
                </a:solidFill>
                <a:latin typeface="Optika" panose="00000500000000000000" pitchFamily="50" charset="0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7" name="Google Shape;997;p28">
              <a:extLst>
                <a:ext uri="{FF2B5EF4-FFF2-40B4-BE49-F238E27FC236}">
                  <a16:creationId xmlns:a16="http://schemas.microsoft.com/office/drawing/2014/main" id="{55FDE9F0-0970-4BC9-96CC-F7A1456A5E09}"/>
                </a:ext>
              </a:extLst>
            </p:cNvPr>
            <p:cNvSpPr txBox="1"/>
            <p:nvPr/>
          </p:nvSpPr>
          <p:spPr>
            <a:xfrm>
              <a:off x="-3001109" y="1609426"/>
              <a:ext cx="3003364" cy="7263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200" dirty="0">
                  <a:solidFill>
                    <a:schemeClr val="bg1"/>
                  </a:solidFill>
                  <a:latin typeface="Optika" panose="00000500000000000000" pitchFamily="50" charset="0"/>
                  <a:ea typeface="Roboto"/>
                  <a:cs typeface="Roboto"/>
                  <a:sym typeface="Roboto"/>
                </a:rPr>
                <a:t>Aplicação de técnicas estatísticas e visualizações para entender os dados.</a:t>
              </a:r>
              <a:endParaRPr sz="1200" dirty="0">
                <a:solidFill>
                  <a:schemeClr val="bg1"/>
                </a:solidFill>
                <a:latin typeface="Optika" panose="00000500000000000000" pitchFamily="50" charset="0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4" name="Google Shape;998;p28">
            <a:extLst>
              <a:ext uri="{FF2B5EF4-FFF2-40B4-BE49-F238E27FC236}">
                <a16:creationId xmlns:a16="http://schemas.microsoft.com/office/drawing/2014/main" id="{3E214B21-342A-055E-64A9-AD34D0060CBB}"/>
              </a:ext>
            </a:extLst>
          </p:cNvPr>
          <p:cNvSpPr/>
          <p:nvPr/>
        </p:nvSpPr>
        <p:spPr>
          <a:xfrm>
            <a:off x="6709543" y="2053151"/>
            <a:ext cx="995100" cy="9951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sp>
        <p:nvSpPr>
          <p:cNvPr id="25" name="Google Shape;999;p28">
            <a:extLst>
              <a:ext uri="{FF2B5EF4-FFF2-40B4-BE49-F238E27FC236}">
                <a16:creationId xmlns:a16="http://schemas.microsoft.com/office/drawing/2014/main" id="{2469A667-FCEF-6F32-F9CE-5C440C1136C1}"/>
              </a:ext>
            </a:extLst>
          </p:cNvPr>
          <p:cNvSpPr/>
          <p:nvPr/>
        </p:nvSpPr>
        <p:spPr>
          <a:xfrm>
            <a:off x="6920743" y="4975302"/>
            <a:ext cx="572700" cy="5727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200" b="1">
                <a:solidFill>
                  <a:schemeClr val="bg1"/>
                </a:solidFill>
                <a:latin typeface="Optika" panose="00000500000000000000" pitchFamily="50" charset="0"/>
                <a:ea typeface="Fira Sans Extra Condensed"/>
                <a:cs typeface="Fira Sans Extra Condensed"/>
                <a:sym typeface="Fira Sans Extra Condensed"/>
              </a:rPr>
              <a:t>3</a:t>
            </a:r>
            <a:endParaRPr sz="1800"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sp>
        <p:nvSpPr>
          <p:cNvPr id="29" name="Google Shape;1001;p28">
            <a:extLst>
              <a:ext uri="{FF2B5EF4-FFF2-40B4-BE49-F238E27FC236}">
                <a16:creationId xmlns:a16="http://schemas.microsoft.com/office/drawing/2014/main" id="{6E035939-4D77-614C-94EB-A2DBECEEC5F7}"/>
              </a:ext>
            </a:extLst>
          </p:cNvPr>
          <p:cNvSpPr/>
          <p:nvPr/>
        </p:nvSpPr>
        <p:spPr>
          <a:xfrm>
            <a:off x="8466910" y="3124675"/>
            <a:ext cx="2412000" cy="17742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grpSp>
        <p:nvGrpSpPr>
          <p:cNvPr id="30" name="Google Shape;1002;p28">
            <a:extLst>
              <a:ext uri="{FF2B5EF4-FFF2-40B4-BE49-F238E27FC236}">
                <a16:creationId xmlns:a16="http://schemas.microsoft.com/office/drawing/2014/main" id="{A5B9C91F-210C-7D85-1787-3091E2D75D2C}"/>
              </a:ext>
            </a:extLst>
          </p:cNvPr>
          <p:cNvGrpSpPr/>
          <p:nvPr/>
        </p:nvGrpSpPr>
        <p:grpSpPr>
          <a:xfrm>
            <a:off x="8469129" y="3509203"/>
            <a:ext cx="2407562" cy="1005151"/>
            <a:chOff x="-2291240" y="1330575"/>
            <a:chExt cx="3253904" cy="1005151"/>
          </a:xfrm>
          <a:solidFill>
            <a:srgbClr val="072151"/>
          </a:solidFill>
        </p:grpSpPr>
        <p:sp>
          <p:nvSpPr>
            <p:cNvPr id="33" name="Google Shape;1003;p28">
              <a:extLst>
                <a:ext uri="{FF2B5EF4-FFF2-40B4-BE49-F238E27FC236}">
                  <a16:creationId xmlns:a16="http://schemas.microsoft.com/office/drawing/2014/main" id="{61153555-89AA-D31F-0324-F15614EC94D9}"/>
                </a:ext>
              </a:extLst>
            </p:cNvPr>
            <p:cNvSpPr txBox="1"/>
            <p:nvPr/>
          </p:nvSpPr>
          <p:spPr>
            <a:xfrm>
              <a:off x="-2291240" y="1330575"/>
              <a:ext cx="3253903" cy="3486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" b="1" dirty="0">
                  <a:solidFill>
                    <a:schemeClr val="bg1"/>
                  </a:solidFill>
                  <a:latin typeface="Optika" panose="00000500000000000000" pitchFamily="50" charset="0"/>
                  <a:ea typeface="Fira Sans Extra Condensed"/>
                  <a:cs typeface="Fira Sans Extra Condensed"/>
                  <a:sym typeface="Fira Sans Extra Condensed"/>
                </a:rPr>
                <a:t>INTERPRETAÇÃO</a:t>
              </a:r>
              <a:endParaRPr sz="1800" b="1" dirty="0">
                <a:solidFill>
                  <a:schemeClr val="bg1"/>
                </a:solidFill>
                <a:latin typeface="Optika" panose="00000500000000000000" pitchFamily="50" charset="0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34" name="Google Shape;1004;p28">
              <a:extLst>
                <a:ext uri="{FF2B5EF4-FFF2-40B4-BE49-F238E27FC236}">
                  <a16:creationId xmlns:a16="http://schemas.microsoft.com/office/drawing/2014/main" id="{AC4E9666-223E-1491-E5FD-18719C5EC95C}"/>
                </a:ext>
              </a:extLst>
            </p:cNvPr>
            <p:cNvSpPr txBox="1"/>
            <p:nvPr/>
          </p:nvSpPr>
          <p:spPr>
            <a:xfrm>
              <a:off x="-2245564" y="1609426"/>
              <a:ext cx="3208228" cy="7263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200" dirty="0">
                  <a:solidFill>
                    <a:schemeClr val="bg1"/>
                  </a:solidFill>
                  <a:latin typeface="Optika" panose="00000500000000000000" pitchFamily="50" charset="0"/>
                  <a:ea typeface="Roboto"/>
                  <a:cs typeface="Roboto"/>
                  <a:sym typeface="Roboto"/>
                </a:rPr>
                <a:t>Gerar insights e avaliar se as conclusões obtidas.</a:t>
              </a:r>
              <a:endParaRPr sz="1200" dirty="0">
                <a:solidFill>
                  <a:schemeClr val="bg1"/>
                </a:solidFill>
                <a:latin typeface="Optika" panose="00000500000000000000" pitchFamily="50" charset="0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32" name="Google Shape;1006;p28">
            <a:extLst>
              <a:ext uri="{FF2B5EF4-FFF2-40B4-BE49-F238E27FC236}">
                <a16:creationId xmlns:a16="http://schemas.microsoft.com/office/drawing/2014/main" id="{48D9B3A1-A820-4100-18F3-7C3BD975D310}"/>
              </a:ext>
            </a:extLst>
          </p:cNvPr>
          <p:cNvSpPr/>
          <p:nvPr/>
        </p:nvSpPr>
        <p:spPr>
          <a:xfrm>
            <a:off x="9396392" y="4975302"/>
            <a:ext cx="572700" cy="5727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200" b="1" dirty="0">
                <a:solidFill>
                  <a:schemeClr val="bg1"/>
                </a:solidFill>
                <a:latin typeface="Optika" panose="00000500000000000000" pitchFamily="50" charset="0"/>
                <a:ea typeface="Fira Sans Extra Condensed"/>
                <a:cs typeface="Fira Sans Extra Condensed"/>
                <a:sym typeface="Fira Sans Extra Condensed"/>
              </a:rPr>
              <a:t>4</a:t>
            </a:r>
            <a:endParaRPr dirty="0"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cxnSp>
        <p:nvCxnSpPr>
          <p:cNvPr id="35" name="Google Shape;1007;p28">
            <a:extLst>
              <a:ext uri="{FF2B5EF4-FFF2-40B4-BE49-F238E27FC236}">
                <a16:creationId xmlns:a16="http://schemas.microsoft.com/office/drawing/2014/main" id="{DD87994D-F7E1-9DB7-B4EA-1027098D0E4B}"/>
              </a:ext>
            </a:extLst>
          </p:cNvPr>
          <p:cNvCxnSpPr>
            <a:cxnSpLocks/>
            <a:endCxn id="32" idx="3"/>
          </p:cNvCxnSpPr>
          <p:nvPr/>
        </p:nvCxnSpPr>
        <p:spPr>
          <a:xfrm flipH="1">
            <a:off x="9969092" y="5261652"/>
            <a:ext cx="1190521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" name="Google Shape;1008;p28">
            <a:extLst>
              <a:ext uri="{FF2B5EF4-FFF2-40B4-BE49-F238E27FC236}">
                <a16:creationId xmlns:a16="http://schemas.microsoft.com/office/drawing/2014/main" id="{B097DA0C-665C-445E-347C-D2E2048B51DF}"/>
              </a:ext>
            </a:extLst>
          </p:cNvPr>
          <p:cNvCxnSpPr>
            <a:cxnSpLocks/>
            <a:stCxn id="32" idx="1"/>
            <a:endCxn id="25" idx="3"/>
          </p:cNvCxnSpPr>
          <p:nvPr/>
        </p:nvCxnSpPr>
        <p:spPr>
          <a:xfrm flipH="1">
            <a:off x="7493443" y="5261652"/>
            <a:ext cx="190294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" name="Google Shape;1009;p28">
            <a:extLst>
              <a:ext uri="{FF2B5EF4-FFF2-40B4-BE49-F238E27FC236}">
                <a16:creationId xmlns:a16="http://schemas.microsoft.com/office/drawing/2014/main" id="{CAAFE5AB-6BD8-C338-5F07-F3543E52139B}"/>
              </a:ext>
            </a:extLst>
          </p:cNvPr>
          <p:cNvCxnSpPr>
            <a:cxnSpLocks/>
            <a:stCxn id="25" idx="1"/>
            <a:endCxn id="18" idx="3"/>
          </p:cNvCxnSpPr>
          <p:nvPr/>
        </p:nvCxnSpPr>
        <p:spPr>
          <a:xfrm flipH="1">
            <a:off x="5245663" y="5261652"/>
            <a:ext cx="167508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" name="Google Shape;1010;p28">
            <a:extLst>
              <a:ext uri="{FF2B5EF4-FFF2-40B4-BE49-F238E27FC236}">
                <a16:creationId xmlns:a16="http://schemas.microsoft.com/office/drawing/2014/main" id="{D0AFED14-0814-3C01-6421-E8916AED420C}"/>
              </a:ext>
            </a:extLst>
          </p:cNvPr>
          <p:cNvCxnSpPr>
            <a:cxnSpLocks/>
            <a:stCxn id="18" idx="1"/>
            <a:endCxn id="10" idx="3"/>
          </p:cNvCxnSpPr>
          <p:nvPr/>
        </p:nvCxnSpPr>
        <p:spPr>
          <a:xfrm flipH="1">
            <a:off x="3197687" y="5261652"/>
            <a:ext cx="1475276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9" name="Agrupar 88">
            <a:extLst>
              <a:ext uri="{FF2B5EF4-FFF2-40B4-BE49-F238E27FC236}">
                <a16:creationId xmlns:a16="http://schemas.microsoft.com/office/drawing/2014/main" id="{BE821C98-354E-1ABA-2959-689BDCFB4D26}"/>
              </a:ext>
            </a:extLst>
          </p:cNvPr>
          <p:cNvGrpSpPr/>
          <p:nvPr/>
        </p:nvGrpSpPr>
        <p:grpSpPr>
          <a:xfrm>
            <a:off x="9175360" y="2033400"/>
            <a:ext cx="995100" cy="995100"/>
            <a:chOff x="8856464" y="2053151"/>
            <a:chExt cx="995100" cy="995100"/>
          </a:xfrm>
        </p:grpSpPr>
        <p:sp>
          <p:nvSpPr>
            <p:cNvPr id="31" name="Google Shape;1005;p28">
              <a:extLst>
                <a:ext uri="{FF2B5EF4-FFF2-40B4-BE49-F238E27FC236}">
                  <a16:creationId xmlns:a16="http://schemas.microsoft.com/office/drawing/2014/main" id="{77CB0C8D-CB3A-7863-D9B8-658541B92375}"/>
                </a:ext>
              </a:extLst>
            </p:cNvPr>
            <p:cNvSpPr/>
            <p:nvPr/>
          </p:nvSpPr>
          <p:spPr>
            <a:xfrm>
              <a:off x="8856464" y="2053151"/>
              <a:ext cx="995100" cy="995100"/>
            </a:xfrm>
            <a:prstGeom prst="rect">
              <a:avLst/>
            </a:prstGeom>
            <a:solidFill>
              <a:srgbClr val="07215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bg1"/>
                </a:solidFill>
                <a:latin typeface="Optika" panose="00000500000000000000" pitchFamily="50" charset="0"/>
              </a:endParaRPr>
            </a:p>
          </p:txBody>
        </p:sp>
        <p:grpSp>
          <p:nvGrpSpPr>
            <p:cNvPr id="52" name="Google Shape;1024;p28">
              <a:extLst>
                <a:ext uri="{FF2B5EF4-FFF2-40B4-BE49-F238E27FC236}">
                  <a16:creationId xmlns:a16="http://schemas.microsoft.com/office/drawing/2014/main" id="{E5670ABB-31CB-89EA-495B-29BF1376D424}"/>
                </a:ext>
              </a:extLst>
            </p:cNvPr>
            <p:cNvGrpSpPr/>
            <p:nvPr/>
          </p:nvGrpSpPr>
          <p:grpSpPr>
            <a:xfrm>
              <a:off x="9105942" y="2330728"/>
              <a:ext cx="496156" cy="439947"/>
              <a:chOff x="-1177497" y="1509364"/>
              <a:chExt cx="496156" cy="439947"/>
            </a:xfrm>
          </p:grpSpPr>
          <p:sp>
            <p:nvSpPr>
              <p:cNvPr id="53" name="Google Shape;1025;p28">
                <a:extLst>
                  <a:ext uri="{FF2B5EF4-FFF2-40B4-BE49-F238E27FC236}">
                    <a16:creationId xmlns:a16="http://schemas.microsoft.com/office/drawing/2014/main" id="{BAA932FD-BADD-BE67-7EF8-802E7D1B6913}"/>
                  </a:ext>
                </a:extLst>
              </p:cNvPr>
              <p:cNvSpPr/>
              <p:nvPr/>
            </p:nvSpPr>
            <p:spPr>
              <a:xfrm>
                <a:off x="-982452" y="1546510"/>
                <a:ext cx="102179" cy="46022"/>
              </a:xfrm>
              <a:custGeom>
                <a:avLst/>
                <a:gdLst/>
                <a:ahLst/>
                <a:cxnLst/>
                <a:rect l="l" t="t" r="r" b="b"/>
                <a:pathLst>
                  <a:path w="1865" h="840" extrusionOk="0">
                    <a:moveTo>
                      <a:pt x="687" y="1"/>
                    </a:moveTo>
                    <a:cubicBezTo>
                      <a:pt x="366" y="1"/>
                      <a:pt x="90" y="215"/>
                      <a:pt x="0" y="509"/>
                    </a:cubicBezTo>
                    <a:lnTo>
                      <a:pt x="18" y="509"/>
                    </a:lnTo>
                    <a:lnTo>
                      <a:pt x="1865" y="840"/>
                    </a:lnTo>
                    <a:lnTo>
                      <a:pt x="1865" y="715"/>
                    </a:lnTo>
                    <a:cubicBezTo>
                      <a:pt x="1865" y="322"/>
                      <a:pt x="1544" y="1"/>
                      <a:pt x="114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1026;p28">
                <a:extLst>
                  <a:ext uri="{FF2B5EF4-FFF2-40B4-BE49-F238E27FC236}">
                    <a16:creationId xmlns:a16="http://schemas.microsoft.com/office/drawing/2014/main" id="{DD274ECC-DC55-6754-77B4-E775218B93BC}"/>
                  </a:ext>
                </a:extLst>
              </p:cNvPr>
              <p:cNvSpPr/>
              <p:nvPr/>
            </p:nvSpPr>
            <p:spPr>
              <a:xfrm>
                <a:off x="-818253" y="1548483"/>
                <a:ext cx="102233" cy="39173"/>
              </a:xfrm>
              <a:custGeom>
                <a:avLst/>
                <a:gdLst/>
                <a:ahLst/>
                <a:cxnLst/>
                <a:rect l="l" t="t" r="r" b="b"/>
                <a:pathLst>
                  <a:path w="1866" h="715" extrusionOk="0">
                    <a:moveTo>
                      <a:pt x="706" y="1"/>
                    </a:moveTo>
                    <a:cubicBezTo>
                      <a:pt x="322" y="1"/>
                      <a:pt x="1" y="313"/>
                      <a:pt x="1" y="697"/>
                    </a:cubicBezTo>
                    <a:lnTo>
                      <a:pt x="1" y="714"/>
                    </a:lnTo>
                    <a:lnTo>
                      <a:pt x="1865" y="714"/>
                    </a:lnTo>
                    <a:lnTo>
                      <a:pt x="1865" y="697"/>
                    </a:lnTo>
                    <a:cubicBezTo>
                      <a:pt x="1865" y="313"/>
                      <a:pt x="1553" y="1"/>
                      <a:pt x="116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1027;p28">
                <a:extLst>
                  <a:ext uri="{FF2B5EF4-FFF2-40B4-BE49-F238E27FC236}">
                    <a16:creationId xmlns:a16="http://schemas.microsoft.com/office/drawing/2014/main" id="{960E68FF-CAC1-88CE-C4C5-EF7F45CDCBF3}"/>
                  </a:ext>
                </a:extLst>
              </p:cNvPr>
              <p:cNvSpPr/>
              <p:nvPr/>
            </p:nvSpPr>
            <p:spPr>
              <a:xfrm>
                <a:off x="-1177497" y="1604695"/>
                <a:ext cx="492266" cy="139818"/>
              </a:xfrm>
              <a:custGeom>
                <a:avLst/>
                <a:gdLst/>
                <a:ahLst/>
                <a:cxnLst/>
                <a:rect l="l" t="t" r="r" b="b"/>
                <a:pathLst>
                  <a:path w="8985" h="2552" extrusionOk="0">
                    <a:moveTo>
                      <a:pt x="3525" y="1"/>
                    </a:moveTo>
                    <a:lnTo>
                      <a:pt x="3525" y="313"/>
                    </a:lnTo>
                    <a:cubicBezTo>
                      <a:pt x="3525" y="313"/>
                      <a:pt x="3783" y="1044"/>
                      <a:pt x="4122" y="1187"/>
                    </a:cubicBezTo>
                    <a:lnTo>
                      <a:pt x="3864" y="1187"/>
                    </a:lnTo>
                    <a:cubicBezTo>
                      <a:pt x="3364" y="1187"/>
                      <a:pt x="2972" y="1589"/>
                      <a:pt x="2963" y="2079"/>
                    </a:cubicBezTo>
                    <a:lnTo>
                      <a:pt x="2963" y="2136"/>
                    </a:lnTo>
                    <a:lnTo>
                      <a:pt x="2963" y="2136"/>
                    </a:lnTo>
                    <a:cubicBezTo>
                      <a:pt x="2954" y="1643"/>
                      <a:pt x="2071" y="1250"/>
                      <a:pt x="2071" y="1250"/>
                    </a:cubicBezTo>
                    <a:lnTo>
                      <a:pt x="1830" y="1250"/>
                    </a:lnTo>
                    <a:cubicBezTo>
                      <a:pt x="2169" y="1116"/>
                      <a:pt x="2401" y="777"/>
                      <a:pt x="2401" y="393"/>
                    </a:cubicBezTo>
                    <a:lnTo>
                      <a:pt x="2401" y="250"/>
                    </a:lnTo>
                    <a:lnTo>
                      <a:pt x="545" y="250"/>
                    </a:lnTo>
                    <a:lnTo>
                      <a:pt x="545" y="393"/>
                    </a:lnTo>
                    <a:cubicBezTo>
                      <a:pt x="545" y="777"/>
                      <a:pt x="777" y="1116"/>
                      <a:pt x="1116" y="1250"/>
                    </a:cubicBezTo>
                    <a:lnTo>
                      <a:pt x="893" y="1250"/>
                    </a:lnTo>
                    <a:cubicBezTo>
                      <a:pt x="402" y="1250"/>
                      <a:pt x="1" y="1651"/>
                      <a:pt x="1" y="2151"/>
                    </a:cubicBezTo>
                    <a:lnTo>
                      <a:pt x="1" y="2329"/>
                    </a:lnTo>
                    <a:cubicBezTo>
                      <a:pt x="1" y="2454"/>
                      <a:pt x="99" y="2552"/>
                      <a:pt x="224" y="2552"/>
                    </a:cubicBezTo>
                    <a:lnTo>
                      <a:pt x="2749" y="2552"/>
                    </a:lnTo>
                    <a:cubicBezTo>
                      <a:pt x="2873" y="2552"/>
                      <a:pt x="2972" y="2454"/>
                      <a:pt x="2972" y="2329"/>
                    </a:cubicBezTo>
                    <a:cubicBezTo>
                      <a:pt x="2972" y="2454"/>
                      <a:pt x="3070" y="2552"/>
                      <a:pt x="3195" y="2552"/>
                    </a:cubicBezTo>
                    <a:lnTo>
                      <a:pt x="5773" y="2552"/>
                    </a:lnTo>
                    <a:cubicBezTo>
                      <a:pt x="5898" y="2552"/>
                      <a:pt x="5996" y="2454"/>
                      <a:pt x="5996" y="2329"/>
                    </a:cubicBezTo>
                    <a:cubicBezTo>
                      <a:pt x="5996" y="2454"/>
                      <a:pt x="6103" y="2552"/>
                      <a:pt x="6228" y="2552"/>
                    </a:cubicBezTo>
                    <a:lnTo>
                      <a:pt x="8761" y="2552"/>
                    </a:lnTo>
                    <a:cubicBezTo>
                      <a:pt x="8886" y="2552"/>
                      <a:pt x="8984" y="2454"/>
                      <a:pt x="8984" y="2329"/>
                    </a:cubicBezTo>
                    <a:lnTo>
                      <a:pt x="8984" y="2079"/>
                    </a:lnTo>
                    <a:cubicBezTo>
                      <a:pt x="8984" y="1589"/>
                      <a:pt x="8583" y="1187"/>
                      <a:pt x="8083" y="1187"/>
                    </a:cubicBezTo>
                    <a:lnTo>
                      <a:pt x="7851" y="1187"/>
                    </a:lnTo>
                    <a:cubicBezTo>
                      <a:pt x="8181" y="1044"/>
                      <a:pt x="8422" y="714"/>
                      <a:pt x="8422" y="322"/>
                    </a:cubicBezTo>
                    <a:lnTo>
                      <a:pt x="8422" y="250"/>
                    </a:lnTo>
                    <a:lnTo>
                      <a:pt x="6558" y="250"/>
                    </a:lnTo>
                    <a:lnTo>
                      <a:pt x="6558" y="331"/>
                    </a:lnTo>
                    <a:cubicBezTo>
                      <a:pt x="6558" y="714"/>
                      <a:pt x="6799" y="1044"/>
                      <a:pt x="7138" y="1187"/>
                    </a:cubicBezTo>
                    <a:lnTo>
                      <a:pt x="6897" y="1187"/>
                    </a:lnTo>
                    <a:cubicBezTo>
                      <a:pt x="6897" y="1187"/>
                      <a:pt x="5996" y="1589"/>
                      <a:pt x="5996" y="2088"/>
                    </a:cubicBezTo>
                    <a:lnTo>
                      <a:pt x="5996" y="2079"/>
                    </a:lnTo>
                    <a:cubicBezTo>
                      <a:pt x="5996" y="1599"/>
                      <a:pt x="5611" y="1204"/>
                      <a:pt x="5135" y="1204"/>
                    </a:cubicBezTo>
                    <a:cubicBezTo>
                      <a:pt x="5125" y="1204"/>
                      <a:pt x="5114" y="1205"/>
                      <a:pt x="5104" y="1205"/>
                    </a:cubicBezTo>
                    <a:lnTo>
                      <a:pt x="4845" y="1205"/>
                    </a:lnTo>
                    <a:cubicBezTo>
                      <a:pt x="5184" y="1044"/>
                      <a:pt x="5425" y="714"/>
                      <a:pt x="5425" y="331"/>
                    </a:cubicBezTo>
                    <a:cubicBezTo>
                      <a:pt x="5416" y="331"/>
                      <a:pt x="5398" y="331"/>
                      <a:pt x="5380" y="322"/>
                    </a:cubicBezTo>
                    <a:lnTo>
                      <a:pt x="352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1028;p28">
                <a:extLst>
                  <a:ext uri="{FF2B5EF4-FFF2-40B4-BE49-F238E27FC236}">
                    <a16:creationId xmlns:a16="http://schemas.microsoft.com/office/drawing/2014/main" id="{6E5607CA-848B-9747-1F74-D3C89A7A6974}"/>
                  </a:ext>
                </a:extLst>
              </p:cNvPr>
              <p:cNvSpPr/>
              <p:nvPr/>
            </p:nvSpPr>
            <p:spPr>
              <a:xfrm>
                <a:off x="-1147199" y="1509364"/>
                <a:ext cx="101740" cy="78291"/>
              </a:xfrm>
              <a:custGeom>
                <a:avLst/>
                <a:gdLst/>
                <a:ahLst/>
                <a:cxnLst/>
                <a:rect l="l" t="t" r="r" b="b"/>
                <a:pathLst>
                  <a:path w="1857" h="1429" extrusionOk="0">
                    <a:moveTo>
                      <a:pt x="908" y="1"/>
                    </a:moveTo>
                    <a:cubicBezTo>
                      <a:pt x="440" y="1"/>
                      <a:pt x="65" y="504"/>
                      <a:pt x="224" y="947"/>
                    </a:cubicBezTo>
                    <a:lnTo>
                      <a:pt x="233" y="947"/>
                    </a:lnTo>
                    <a:cubicBezTo>
                      <a:pt x="99" y="1072"/>
                      <a:pt x="10" y="1241"/>
                      <a:pt x="1" y="1428"/>
                    </a:cubicBezTo>
                    <a:lnTo>
                      <a:pt x="1857" y="1428"/>
                    </a:lnTo>
                    <a:cubicBezTo>
                      <a:pt x="1839" y="1232"/>
                      <a:pt x="1741" y="1045"/>
                      <a:pt x="1598" y="929"/>
                    </a:cubicBezTo>
                    <a:cubicBezTo>
                      <a:pt x="1625" y="848"/>
                      <a:pt x="1625" y="813"/>
                      <a:pt x="1625" y="724"/>
                    </a:cubicBezTo>
                    <a:cubicBezTo>
                      <a:pt x="1625" y="331"/>
                      <a:pt x="1312" y="10"/>
                      <a:pt x="920" y="1"/>
                    </a:cubicBezTo>
                    <a:cubicBezTo>
                      <a:pt x="916" y="1"/>
                      <a:pt x="912" y="1"/>
                      <a:pt x="90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1029;p28">
                <a:extLst>
                  <a:ext uri="{FF2B5EF4-FFF2-40B4-BE49-F238E27FC236}">
                    <a16:creationId xmlns:a16="http://schemas.microsoft.com/office/drawing/2014/main" id="{7EC0A58F-01AE-5FAC-FE61-CDD77828DF71}"/>
                  </a:ext>
                </a:extLst>
              </p:cNvPr>
              <p:cNvSpPr/>
              <p:nvPr/>
            </p:nvSpPr>
            <p:spPr>
              <a:xfrm>
                <a:off x="-1177497" y="1785387"/>
                <a:ext cx="496156" cy="163924"/>
              </a:xfrm>
              <a:custGeom>
                <a:avLst/>
                <a:gdLst/>
                <a:ahLst/>
                <a:cxnLst/>
                <a:rect l="l" t="t" r="r" b="b"/>
                <a:pathLst>
                  <a:path w="9056" h="2992" extrusionOk="0">
                    <a:moveTo>
                      <a:pt x="3277" y="0"/>
                    </a:moveTo>
                    <a:cubicBezTo>
                      <a:pt x="2879" y="0"/>
                      <a:pt x="2486" y="132"/>
                      <a:pt x="2187" y="405"/>
                    </a:cubicBezTo>
                    <a:lnTo>
                      <a:pt x="1874" y="672"/>
                    </a:lnTo>
                    <a:cubicBezTo>
                      <a:pt x="1767" y="771"/>
                      <a:pt x="1633" y="815"/>
                      <a:pt x="1500" y="815"/>
                    </a:cubicBezTo>
                    <a:lnTo>
                      <a:pt x="411" y="806"/>
                    </a:lnTo>
                    <a:cubicBezTo>
                      <a:pt x="179" y="806"/>
                      <a:pt x="1" y="985"/>
                      <a:pt x="1" y="1217"/>
                    </a:cubicBezTo>
                    <a:lnTo>
                      <a:pt x="1" y="2689"/>
                    </a:lnTo>
                    <a:cubicBezTo>
                      <a:pt x="1" y="2858"/>
                      <a:pt x="135" y="2992"/>
                      <a:pt x="304" y="2992"/>
                    </a:cubicBezTo>
                    <a:lnTo>
                      <a:pt x="6683" y="2992"/>
                    </a:lnTo>
                    <a:cubicBezTo>
                      <a:pt x="7048" y="2992"/>
                      <a:pt x="7387" y="2822"/>
                      <a:pt x="7619" y="2537"/>
                    </a:cubicBezTo>
                    <a:lnTo>
                      <a:pt x="8842" y="1065"/>
                    </a:lnTo>
                    <a:cubicBezTo>
                      <a:pt x="9038" y="824"/>
                      <a:pt x="9056" y="512"/>
                      <a:pt x="8806" y="333"/>
                    </a:cubicBezTo>
                    <a:cubicBezTo>
                      <a:pt x="8797" y="325"/>
                      <a:pt x="8788" y="316"/>
                      <a:pt x="8779" y="316"/>
                    </a:cubicBezTo>
                    <a:cubicBezTo>
                      <a:pt x="8664" y="231"/>
                      <a:pt x="8552" y="195"/>
                      <a:pt x="8450" y="195"/>
                    </a:cubicBezTo>
                    <a:cubicBezTo>
                      <a:pt x="8315" y="195"/>
                      <a:pt x="8196" y="259"/>
                      <a:pt x="8110" y="360"/>
                    </a:cubicBezTo>
                    <a:lnTo>
                      <a:pt x="6924" y="1788"/>
                    </a:lnTo>
                    <a:cubicBezTo>
                      <a:pt x="6870" y="1850"/>
                      <a:pt x="6790" y="1886"/>
                      <a:pt x="6709" y="1886"/>
                    </a:cubicBezTo>
                    <a:lnTo>
                      <a:pt x="4024" y="1886"/>
                    </a:lnTo>
                    <a:cubicBezTo>
                      <a:pt x="3971" y="1886"/>
                      <a:pt x="3917" y="1868"/>
                      <a:pt x="3882" y="1823"/>
                    </a:cubicBezTo>
                    <a:cubicBezTo>
                      <a:pt x="3694" y="1591"/>
                      <a:pt x="3855" y="1324"/>
                      <a:pt x="4078" y="1324"/>
                    </a:cubicBezTo>
                    <a:lnTo>
                      <a:pt x="6183" y="1324"/>
                    </a:lnTo>
                    <a:cubicBezTo>
                      <a:pt x="6754" y="1306"/>
                      <a:pt x="6754" y="485"/>
                      <a:pt x="6183" y="467"/>
                    </a:cubicBezTo>
                    <a:lnTo>
                      <a:pt x="4809" y="467"/>
                    </a:lnTo>
                    <a:cubicBezTo>
                      <a:pt x="4720" y="467"/>
                      <a:pt x="4631" y="449"/>
                      <a:pt x="4551" y="405"/>
                    </a:cubicBezTo>
                    <a:lnTo>
                      <a:pt x="4051" y="173"/>
                    </a:lnTo>
                    <a:cubicBezTo>
                      <a:pt x="3808" y="59"/>
                      <a:pt x="3541" y="0"/>
                      <a:pt x="32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8" name="Google Shape;1030;p28">
            <a:extLst>
              <a:ext uri="{FF2B5EF4-FFF2-40B4-BE49-F238E27FC236}">
                <a16:creationId xmlns:a16="http://schemas.microsoft.com/office/drawing/2014/main" id="{E08B665F-A3E3-8A79-5B4C-ABAB16F1667B}"/>
              </a:ext>
            </a:extLst>
          </p:cNvPr>
          <p:cNvGrpSpPr/>
          <p:nvPr/>
        </p:nvGrpSpPr>
        <p:grpSpPr>
          <a:xfrm>
            <a:off x="6972437" y="2304404"/>
            <a:ext cx="469312" cy="492595"/>
            <a:chOff x="-571434" y="1483121"/>
            <a:chExt cx="469312" cy="492595"/>
          </a:xfrm>
        </p:grpSpPr>
        <p:sp>
          <p:nvSpPr>
            <p:cNvPr id="59" name="Google Shape;1031;p28">
              <a:extLst>
                <a:ext uri="{FF2B5EF4-FFF2-40B4-BE49-F238E27FC236}">
                  <a16:creationId xmlns:a16="http://schemas.microsoft.com/office/drawing/2014/main" id="{B4395315-19F7-33D4-761D-6FE4F2BD5F3A}"/>
                </a:ext>
              </a:extLst>
            </p:cNvPr>
            <p:cNvSpPr/>
            <p:nvPr/>
          </p:nvSpPr>
          <p:spPr>
            <a:xfrm>
              <a:off x="-368554" y="1551935"/>
              <a:ext cx="33749" cy="35721"/>
            </a:xfrm>
            <a:custGeom>
              <a:avLst/>
              <a:gdLst/>
              <a:ahLst/>
              <a:cxnLst/>
              <a:rect l="l" t="t" r="r" b="b"/>
              <a:pathLst>
                <a:path w="616" h="652" extrusionOk="0">
                  <a:moveTo>
                    <a:pt x="0" y="0"/>
                  </a:moveTo>
                  <a:cubicBezTo>
                    <a:pt x="214" y="143"/>
                    <a:pt x="366" y="384"/>
                    <a:pt x="384" y="651"/>
                  </a:cubicBezTo>
                  <a:lnTo>
                    <a:pt x="518" y="526"/>
                  </a:lnTo>
                  <a:cubicBezTo>
                    <a:pt x="589" y="455"/>
                    <a:pt x="616" y="339"/>
                    <a:pt x="580" y="241"/>
                  </a:cubicBezTo>
                  <a:cubicBezTo>
                    <a:pt x="553" y="143"/>
                    <a:pt x="464" y="63"/>
                    <a:pt x="357" y="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1032;p28">
              <a:extLst>
                <a:ext uri="{FF2B5EF4-FFF2-40B4-BE49-F238E27FC236}">
                  <a16:creationId xmlns:a16="http://schemas.microsoft.com/office/drawing/2014/main" id="{0622B902-CACB-0FD1-743B-42C782C66292}"/>
                </a:ext>
              </a:extLst>
            </p:cNvPr>
            <p:cNvSpPr/>
            <p:nvPr/>
          </p:nvSpPr>
          <p:spPr>
            <a:xfrm>
              <a:off x="-523494" y="1574398"/>
              <a:ext cx="354859" cy="401318"/>
            </a:xfrm>
            <a:custGeom>
              <a:avLst/>
              <a:gdLst/>
              <a:ahLst/>
              <a:cxnLst/>
              <a:rect l="l" t="t" r="r" b="b"/>
              <a:pathLst>
                <a:path w="6477" h="7325" extrusionOk="0">
                  <a:moveTo>
                    <a:pt x="2342" y="0"/>
                  </a:moveTo>
                  <a:cubicBezTo>
                    <a:pt x="2184" y="0"/>
                    <a:pt x="2025" y="108"/>
                    <a:pt x="2016" y="322"/>
                  </a:cubicBezTo>
                  <a:lnTo>
                    <a:pt x="2016" y="4140"/>
                  </a:lnTo>
                  <a:cubicBezTo>
                    <a:pt x="2016" y="4247"/>
                    <a:pt x="1963" y="4354"/>
                    <a:pt x="1865" y="4399"/>
                  </a:cubicBezTo>
                  <a:cubicBezTo>
                    <a:pt x="1823" y="4421"/>
                    <a:pt x="1779" y="4431"/>
                    <a:pt x="1736" y="4431"/>
                  </a:cubicBezTo>
                  <a:cubicBezTo>
                    <a:pt x="1640" y="4431"/>
                    <a:pt x="1548" y="4380"/>
                    <a:pt x="1499" y="4300"/>
                  </a:cubicBezTo>
                  <a:lnTo>
                    <a:pt x="982" y="3480"/>
                  </a:lnTo>
                  <a:cubicBezTo>
                    <a:pt x="874" y="3301"/>
                    <a:pt x="696" y="3185"/>
                    <a:pt x="491" y="3159"/>
                  </a:cubicBezTo>
                  <a:cubicBezTo>
                    <a:pt x="467" y="3156"/>
                    <a:pt x="444" y="3155"/>
                    <a:pt x="420" y="3155"/>
                  </a:cubicBezTo>
                  <a:cubicBezTo>
                    <a:pt x="284" y="3155"/>
                    <a:pt x="150" y="3197"/>
                    <a:pt x="36" y="3266"/>
                  </a:cubicBezTo>
                  <a:lnTo>
                    <a:pt x="0" y="3283"/>
                  </a:lnTo>
                  <a:cubicBezTo>
                    <a:pt x="321" y="3872"/>
                    <a:pt x="1160" y="5424"/>
                    <a:pt x="1561" y="6272"/>
                  </a:cubicBezTo>
                  <a:cubicBezTo>
                    <a:pt x="1561" y="6290"/>
                    <a:pt x="1570" y="6299"/>
                    <a:pt x="1579" y="6317"/>
                  </a:cubicBezTo>
                  <a:cubicBezTo>
                    <a:pt x="1874" y="6932"/>
                    <a:pt x="2516" y="7325"/>
                    <a:pt x="3203" y="7325"/>
                  </a:cubicBezTo>
                  <a:lnTo>
                    <a:pt x="4612" y="7325"/>
                  </a:lnTo>
                  <a:cubicBezTo>
                    <a:pt x="4612" y="7325"/>
                    <a:pt x="6468" y="6477"/>
                    <a:pt x="6459" y="5487"/>
                  </a:cubicBezTo>
                  <a:lnTo>
                    <a:pt x="6477" y="3542"/>
                  </a:lnTo>
                  <a:lnTo>
                    <a:pt x="6477" y="3078"/>
                  </a:lnTo>
                  <a:cubicBezTo>
                    <a:pt x="6477" y="2882"/>
                    <a:pt x="6316" y="2721"/>
                    <a:pt x="6111" y="2721"/>
                  </a:cubicBezTo>
                  <a:cubicBezTo>
                    <a:pt x="5915" y="2721"/>
                    <a:pt x="5754" y="2882"/>
                    <a:pt x="5754" y="3078"/>
                  </a:cubicBezTo>
                  <a:lnTo>
                    <a:pt x="5754" y="3551"/>
                  </a:lnTo>
                  <a:cubicBezTo>
                    <a:pt x="5745" y="3729"/>
                    <a:pt x="5614" y="3819"/>
                    <a:pt x="5482" y="3819"/>
                  </a:cubicBezTo>
                  <a:cubicBezTo>
                    <a:pt x="5351" y="3819"/>
                    <a:pt x="5219" y="3729"/>
                    <a:pt x="5210" y="3551"/>
                  </a:cubicBezTo>
                  <a:lnTo>
                    <a:pt x="5210" y="2561"/>
                  </a:lnTo>
                  <a:cubicBezTo>
                    <a:pt x="5201" y="2320"/>
                    <a:pt x="5027" y="2200"/>
                    <a:pt x="4852" y="2200"/>
                  </a:cubicBezTo>
                  <a:cubicBezTo>
                    <a:pt x="4677" y="2200"/>
                    <a:pt x="4501" y="2320"/>
                    <a:pt x="4488" y="2561"/>
                  </a:cubicBezTo>
                  <a:lnTo>
                    <a:pt x="4488" y="3542"/>
                  </a:lnTo>
                  <a:cubicBezTo>
                    <a:pt x="4483" y="3729"/>
                    <a:pt x="4347" y="3823"/>
                    <a:pt x="4210" y="3823"/>
                  </a:cubicBezTo>
                  <a:cubicBezTo>
                    <a:pt x="4073" y="3823"/>
                    <a:pt x="3934" y="3729"/>
                    <a:pt x="3925" y="3542"/>
                  </a:cubicBezTo>
                  <a:lnTo>
                    <a:pt x="3925" y="2258"/>
                  </a:lnTo>
                  <a:cubicBezTo>
                    <a:pt x="3917" y="2021"/>
                    <a:pt x="3743" y="1903"/>
                    <a:pt x="3569" y="1903"/>
                  </a:cubicBezTo>
                  <a:cubicBezTo>
                    <a:pt x="3395" y="1903"/>
                    <a:pt x="3221" y="2021"/>
                    <a:pt x="3212" y="2258"/>
                  </a:cubicBezTo>
                  <a:lnTo>
                    <a:pt x="3212" y="3551"/>
                  </a:lnTo>
                  <a:cubicBezTo>
                    <a:pt x="3203" y="3729"/>
                    <a:pt x="3069" y="3819"/>
                    <a:pt x="2936" y="3819"/>
                  </a:cubicBezTo>
                  <a:cubicBezTo>
                    <a:pt x="2804" y="3819"/>
                    <a:pt x="2672" y="3729"/>
                    <a:pt x="2668" y="3551"/>
                  </a:cubicBezTo>
                  <a:lnTo>
                    <a:pt x="2668" y="322"/>
                  </a:lnTo>
                  <a:cubicBezTo>
                    <a:pt x="2659" y="108"/>
                    <a:pt x="2500" y="0"/>
                    <a:pt x="23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1033;p28">
              <a:extLst>
                <a:ext uri="{FF2B5EF4-FFF2-40B4-BE49-F238E27FC236}">
                  <a16:creationId xmlns:a16="http://schemas.microsoft.com/office/drawing/2014/main" id="{E92D3713-6366-C03C-29EA-1EBAF8AD6A30}"/>
                </a:ext>
              </a:extLst>
            </p:cNvPr>
            <p:cNvSpPr/>
            <p:nvPr/>
          </p:nvSpPr>
          <p:spPr>
            <a:xfrm>
              <a:off x="-571434" y="1483504"/>
              <a:ext cx="160856" cy="221232"/>
            </a:xfrm>
            <a:custGeom>
              <a:avLst/>
              <a:gdLst/>
              <a:ahLst/>
              <a:cxnLst/>
              <a:rect l="l" t="t" r="r" b="b"/>
              <a:pathLst>
                <a:path w="2936" h="4038" extrusionOk="0">
                  <a:moveTo>
                    <a:pt x="2196" y="0"/>
                  </a:moveTo>
                  <a:cubicBezTo>
                    <a:pt x="2088" y="0"/>
                    <a:pt x="1990" y="63"/>
                    <a:pt x="1946" y="152"/>
                  </a:cubicBezTo>
                  <a:lnTo>
                    <a:pt x="1464" y="1115"/>
                  </a:lnTo>
                  <a:cubicBezTo>
                    <a:pt x="1455" y="1151"/>
                    <a:pt x="1419" y="1169"/>
                    <a:pt x="1384" y="1178"/>
                  </a:cubicBezTo>
                  <a:lnTo>
                    <a:pt x="322" y="1329"/>
                  </a:lnTo>
                  <a:cubicBezTo>
                    <a:pt x="90" y="1365"/>
                    <a:pt x="1" y="1651"/>
                    <a:pt x="170" y="1811"/>
                  </a:cubicBezTo>
                  <a:lnTo>
                    <a:pt x="938" y="2561"/>
                  </a:lnTo>
                  <a:cubicBezTo>
                    <a:pt x="964" y="2578"/>
                    <a:pt x="973" y="2614"/>
                    <a:pt x="964" y="2650"/>
                  </a:cubicBezTo>
                  <a:lnTo>
                    <a:pt x="786" y="3702"/>
                  </a:lnTo>
                  <a:cubicBezTo>
                    <a:pt x="751" y="3887"/>
                    <a:pt x="896" y="4038"/>
                    <a:pt x="1064" y="4038"/>
                  </a:cubicBezTo>
                  <a:cubicBezTo>
                    <a:pt x="1108" y="4038"/>
                    <a:pt x="1153" y="4028"/>
                    <a:pt x="1196" y="4006"/>
                  </a:cubicBezTo>
                  <a:lnTo>
                    <a:pt x="2142" y="3506"/>
                  </a:lnTo>
                  <a:cubicBezTo>
                    <a:pt x="2160" y="3497"/>
                    <a:pt x="2178" y="3493"/>
                    <a:pt x="2194" y="3493"/>
                  </a:cubicBezTo>
                  <a:cubicBezTo>
                    <a:pt x="2211" y="3493"/>
                    <a:pt x="2227" y="3497"/>
                    <a:pt x="2240" y="3506"/>
                  </a:cubicBezTo>
                  <a:lnTo>
                    <a:pt x="2329" y="3551"/>
                  </a:lnTo>
                  <a:lnTo>
                    <a:pt x="2329" y="1981"/>
                  </a:lnTo>
                  <a:cubicBezTo>
                    <a:pt x="2329" y="1597"/>
                    <a:pt x="2579" y="1267"/>
                    <a:pt x="2936" y="1151"/>
                  </a:cubicBezTo>
                  <a:lnTo>
                    <a:pt x="2445" y="152"/>
                  </a:lnTo>
                  <a:cubicBezTo>
                    <a:pt x="2401" y="63"/>
                    <a:pt x="2303" y="0"/>
                    <a:pt x="219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1034;p28">
              <a:extLst>
                <a:ext uri="{FF2B5EF4-FFF2-40B4-BE49-F238E27FC236}">
                  <a16:creationId xmlns:a16="http://schemas.microsoft.com/office/drawing/2014/main" id="{2F7140E2-55F8-8FA4-7254-923932BC9715}"/>
                </a:ext>
              </a:extLst>
            </p:cNvPr>
            <p:cNvSpPr/>
            <p:nvPr/>
          </p:nvSpPr>
          <p:spPr>
            <a:xfrm>
              <a:off x="-249774" y="1483121"/>
              <a:ext cx="147652" cy="139105"/>
            </a:xfrm>
            <a:custGeom>
              <a:avLst/>
              <a:gdLst/>
              <a:ahLst/>
              <a:cxnLst/>
              <a:rect l="l" t="t" r="r" b="b"/>
              <a:pathLst>
                <a:path w="2695" h="2539" extrusionOk="0">
                  <a:moveTo>
                    <a:pt x="1347" y="0"/>
                  </a:moveTo>
                  <a:cubicBezTo>
                    <a:pt x="1276" y="0"/>
                    <a:pt x="1204" y="38"/>
                    <a:pt x="1169" y="114"/>
                  </a:cubicBezTo>
                  <a:lnTo>
                    <a:pt x="883" y="685"/>
                  </a:lnTo>
                  <a:cubicBezTo>
                    <a:pt x="874" y="712"/>
                    <a:pt x="856" y="730"/>
                    <a:pt x="830" y="730"/>
                  </a:cubicBezTo>
                  <a:lnTo>
                    <a:pt x="196" y="819"/>
                  </a:lnTo>
                  <a:cubicBezTo>
                    <a:pt x="134" y="828"/>
                    <a:pt x="80" y="864"/>
                    <a:pt x="54" y="908"/>
                  </a:cubicBezTo>
                  <a:cubicBezTo>
                    <a:pt x="0" y="988"/>
                    <a:pt x="18" y="1096"/>
                    <a:pt x="80" y="1158"/>
                  </a:cubicBezTo>
                  <a:lnTo>
                    <a:pt x="544" y="1604"/>
                  </a:lnTo>
                  <a:cubicBezTo>
                    <a:pt x="562" y="1622"/>
                    <a:pt x="571" y="1649"/>
                    <a:pt x="562" y="1675"/>
                  </a:cubicBezTo>
                  <a:lnTo>
                    <a:pt x="455" y="2300"/>
                  </a:lnTo>
                  <a:cubicBezTo>
                    <a:pt x="446" y="2362"/>
                    <a:pt x="464" y="2425"/>
                    <a:pt x="500" y="2469"/>
                  </a:cubicBezTo>
                  <a:cubicBezTo>
                    <a:pt x="539" y="2515"/>
                    <a:pt x="593" y="2538"/>
                    <a:pt x="648" y="2538"/>
                  </a:cubicBezTo>
                  <a:cubicBezTo>
                    <a:pt x="679" y="2538"/>
                    <a:pt x="711" y="2530"/>
                    <a:pt x="740" y="2514"/>
                  </a:cubicBezTo>
                  <a:lnTo>
                    <a:pt x="1311" y="2220"/>
                  </a:lnTo>
                  <a:cubicBezTo>
                    <a:pt x="1320" y="2211"/>
                    <a:pt x="1331" y="2206"/>
                    <a:pt x="1344" y="2206"/>
                  </a:cubicBezTo>
                  <a:cubicBezTo>
                    <a:pt x="1356" y="2206"/>
                    <a:pt x="1369" y="2211"/>
                    <a:pt x="1383" y="2220"/>
                  </a:cubicBezTo>
                  <a:lnTo>
                    <a:pt x="1954" y="2514"/>
                  </a:lnTo>
                  <a:cubicBezTo>
                    <a:pt x="1983" y="2530"/>
                    <a:pt x="2015" y="2538"/>
                    <a:pt x="2047" y="2538"/>
                  </a:cubicBezTo>
                  <a:cubicBezTo>
                    <a:pt x="2101" y="2538"/>
                    <a:pt x="2155" y="2515"/>
                    <a:pt x="2195" y="2469"/>
                  </a:cubicBezTo>
                  <a:cubicBezTo>
                    <a:pt x="2230" y="2425"/>
                    <a:pt x="2248" y="2362"/>
                    <a:pt x="2239" y="2309"/>
                  </a:cubicBezTo>
                  <a:lnTo>
                    <a:pt x="2132" y="1675"/>
                  </a:lnTo>
                  <a:cubicBezTo>
                    <a:pt x="2123" y="1649"/>
                    <a:pt x="2132" y="1622"/>
                    <a:pt x="2150" y="1604"/>
                  </a:cubicBezTo>
                  <a:lnTo>
                    <a:pt x="2614" y="1158"/>
                  </a:lnTo>
                  <a:cubicBezTo>
                    <a:pt x="2676" y="1096"/>
                    <a:pt x="2694" y="988"/>
                    <a:pt x="2641" y="908"/>
                  </a:cubicBezTo>
                  <a:cubicBezTo>
                    <a:pt x="2614" y="864"/>
                    <a:pt x="2560" y="828"/>
                    <a:pt x="2498" y="819"/>
                  </a:cubicBezTo>
                  <a:lnTo>
                    <a:pt x="1865" y="730"/>
                  </a:lnTo>
                  <a:cubicBezTo>
                    <a:pt x="1838" y="730"/>
                    <a:pt x="1820" y="712"/>
                    <a:pt x="1811" y="685"/>
                  </a:cubicBezTo>
                  <a:lnTo>
                    <a:pt x="1526" y="114"/>
                  </a:lnTo>
                  <a:cubicBezTo>
                    <a:pt x="1490" y="38"/>
                    <a:pt x="1418" y="0"/>
                    <a:pt x="134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63" name="Google Shape;1035;p28">
            <a:extLst>
              <a:ext uri="{FF2B5EF4-FFF2-40B4-BE49-F238E27FC236}">
                <a16:creationId xmlns:a16="http://schemas.microsoft.com/office/drawing/2014/main" id="{49D56BA6-9BB4-E57C-1E7B-4C7D3595AEF0}"/>
              </a:ext>
            </a:extLst>
          </p:cNvPr>
          <p:cNvCxnSpPr>
            <a:cxnSpLocks/>
            <a:stCxn id="10" idx="0"/>
            <a:endCxn id="3" idx="2"/>
          </p:cNvCxnSpPr>
          <p:nvPr/>
        </p:nvCxnSpPr>
        <p:spPr>
          <a:xfrm flipV="1">
            <a:off x="2911337" y="4898875"/>
            <a:ext cx="0" cy="764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09" name="Agrupar 108">
            <a:extLst>
              <a:ext uri="{FF2B5EF4-FFF2-40B4-BE49-F238E27FC236}">
                <a16:creationId xmlns:a16="http://schemas.microsoft.com/office/drawing/2014/main" id="{8A8F26AA-BD5D-94D0-F913-790AFE047FDA}"/>
              </a:ext>
            </a:extLst>
          </p:cNvPr>
          <p:cNvGrpSpPr/>
          <p:nvPr/>
        </p:nvGrpSpPr>
        <p:grpSpPr>
          <a:xfrm>
            <a:off x="2413787" y="2053151"/>
            <a:ext cx="995100" cy="1071524"/>
            <a:chOff x="2389597" y="2053151"/>
            <a:chExt cx="995100" cy="1071524"/>
          </a:xfrm>
        </p:grpSpPr>
        <p:sp>
          <p:nvSpPr>
            <p:cNvPr id="9" name="Google Shape;983;p28">
              <a:extLst>
                <a:ext uri="{FF2B5EF4-FFF2-40B4-BE49-F238E27FC236}">
                  <a16:creationId xmlns:a16="http://schemas.microsoft.com/office/drawing/2014/main" id="{E846A092-00F5-BC08-FFC0-28F412B3E49A}"/>
                </a:ext>
              </a:extLst>
            </p:cNvPr>
            <p:cNvSpPr/>
            <p:nvPr/>
          </p:nvSpPr>
          <p:spPr>
            <a:xfrm>
              <a:off x="2389597" y="2053151"/>
              <a:ext cx="995100" cy="995100"/>
            </a:xfrm>
            <a:prstGeom prst="rect">
              <a:avLst/>
            </a:prstGeom>
            <a:solidFill>
              <a:srgbClr val="07215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bg1"/>
                </a:solidFill>
                <a:latin typeface="Optika" panose="00000500000000000000" pitchFamily="50" charset="0"/>
              </a:endParaRPr>
            </a:p>
          </p:txBody>
        </p:sp>
        <p:grpSp>
          <p:nvGrpSpPr>
            <p:cNvPr id="39" name="Google Shape;1011;p28">
              <a:extLst>
                <a:ext uri="{FF2B5EF4-FFF2-40B4-BE49-F238E27FC236}">
                  <a16:creationId xmlns:a16="http://schemas.microsoft.com/office/drawing/2014/main" id="{497DC72B-1324-3EDE-30A8-D6356165CE1D}"/>
                </a:ext>
              </a:extLst>
            </p:cNvPr>
            <p:cNvGrpSpPr/>
            <p:nvPr/>
          </p:nvGrpSpPr>
          <p:grpSpPr>
            <a:xfrm>
              <a:off x="2607699" y="2304703"/>
              <a:ext cx="558888" cy="491996"/>
              <a:chOff x="-2373460" y="1483340"/>
              <a:chExt cx="558888" cy="491996"/>
            </a:xfrm>
          </p:grpSpPr>
          <p:sp>
            <p:nvSpPr>
              <p:cNvPr id="40" name="Google Shape;1012;p28">
                <a:extLst>
                  <a:ext uri="{FF2B5EF4-FFF2-40B4-BE49-F238E27FC236}">
                    <a16:creationId xmlns:a16="http://schemas.microsoft.com/office/drawing/2014/main" id="{41CDE56F-110F-8174-D5CD-E929F56B6AE7}"/>
                  </a:ext>
                </a:extLst>
              </p:cNvPr>
              <p:cNvSpPr/>
              <p:nvPr/>
            </p:nvSpPr>
            <p:spPr>
              <a:xfrm>
                <a:off x="-2187291" y="1551935"/>
                <a:ext cx="241503" cy="241996"/>
              </a:xfrm>
              <a:custGeom>
                <a:avLst/>
                <a:gdLst/>
                <a:ahLst/>
                <a:cxnLst/>
                <a:rect l="l" t="t" r="r" b="b"/>
                <a:pathLst>
                  <a:path w="4408" h="4417" extrusionOk="0">
                    <a:moveTo>
                      <a:pt x="2204" y="1927"/>
                    </a:moveTo>
                    <a:cubicBezTo>
                      <a:pt x="2579" y="1936"/>
                      <a:pt x="2579" y="2480"/>
                      <a:pt x="2204" y="2489"/>
                    </a:cubicBezTo>
                    <a:cubicBezTo>
                      <a:pt x="1830" y="2480"/>
                      <a:pt x="1830" y="1936"/>
                      <a:pt x="2204" y="1927"/>
                    </a:cubicBezTo>
                    <a:close/>
                    <a:moveTo>
                      <a:pt x="1928" y="0"/>
                    </a:moveTo>
                    <a:cubicBezTo>
                      <a:pt x="1928" y="0"/>
                      <a:pt x="99" y="964"/>
                      <a:pt x="1" y="1909"/>
                    </a:cubicBezTo>
                    <a:lnTo>
                      <a:pt x="938" y="1927"/>
                    </a:lnTo>
                    <a:cubicBezTo>
                      <a:pt x="1312" y="1945"/>
                      <a:pt x="1312" y="2480"/>
                      <a:pt x="938" y="2489"/>
                    </a:cubicBezTo>
                    <a:lnTo>
                      <a:pt x="28" y="2489"/>
                    </a:lnTo>
                    <a:cubicBezTo>
                      <a:pt x="126" y="3444"/>
                      <a:pt x="956" y="4291"/>
                      <a:pt x="1910" y="4389"/>
                    </a:cubicBezTo>
                    <a:lnTo>
                      <a:pt x="1919" y="3461"/>
                    </a:lnTo>
                    <a:cubicBezTo>
                      <a:pt x="1919" y="3301"/>
                      <a:pt x="2044" y="3176"/>
                      <a:pt x="2196" y="3176"/>
                    </a:cubicBezTo>
                    <a:cubicBezTo>
                      <a:pt x="2347" y="3176"/>
                      <a:pt x="2472" y="3301"/>
                      <a:pt x="2472" y="3461"/>
                    </a:cubicBezTo>
                    <a:lnTo>
                      <a:pt x="2472" y="4416"/>
                    </a:lnTo>
                    <a:cubicBezTo>
                      <a:pt x="2472" y="4416"/>
                      <a:pt x="4301" y="3453"/>
                      <a:pt x="4408" y="2471"/>
                    </a:cubicBezTo>
                    <a:lnTo>
                      <a:pt x="4408" y="2471"/>
                    </a:lnTo>
                    <a:lnTo>
                      <a:pt x="3468" y="2489"/>
                    </a:lnTo>
                    <a:lnTo>
                      <a:pt x="3468" y="2489"/>
                    </a:lnTo>
                    <a:cubicBezTo>
                      <a:pt x="3088" y="2477"/>
                      <a:pt x="3089" y="1927"/>
                      <a:pt x="3471" y="1909"/>
                    </a:cubicBezTo>
                    <a:lnTo>
                      <a:pt x="4381" y="1909"/>
                    </a:lnTo>
                    <a:cubicBezTo>
                      <a:pt x="4283" y="964"/>
                      <a:pt x="3453" y="116"/>
                      <a:pt x="2490" y="9"/>
                    </a:cubicBezTo>
                    <a:lnTo>
                      <a:pt x="2490" y="946"/>
                    </a:lnTo>
                    <a:cubicBezTo>
                      <a:pt x="2490" y="1106"/>
                      <a:pt x="2365" y="1231"/>
                      <a:pt x="2213" y="1231"/>
                    </a:cubicBezTo>
                    <a:cubicBezTo>
                      <a:pt x="2053" y="1231"/>
                      <a:pt x="1928" y="1106"/>
                      <a:pt x="1928" y="946"/>
                    </a:cubicBezTo>
                    <a:lnTo>
                      <a:pt x="192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1013;p28">
                <a:extLst>
                  <a:ext uri="{FF2B5EF4-FFF2-40B4-BE49-F238E27FC236}">
                    <a16:creationId xmlns:a16="http://schemas.microsoft.com/office/drawing/2014/main" id="{AEFB96EA-D857-28DF-3DB0-61A7A5E65DF5}"/>
                  </a:ext>
                </a:extLst>
              </p:cNvPr>
              <p:cNvSpPr/>
              <p:nvPr/>
            </p:nvSpPr>
            <p:spPr>
              <a:xfrm>
                <a:off x="-2373460" y="1852009"/>
                <a:ext cx="127107" cy="123327"/>
              </a:xfrm>
              <a:custGeom>
                <a:avLst/>
                <a:gdLst/>
                <a:ahLst/>
                <a:cxnLst/>
                <a:rect l="l" t="t" r="r" b="b"/>
                <a:pathLst>
                  <a:path w="2320" h="2251" extrusionOk="0">
                    <a:moveTo>
                      <a:pt x="1320" y="1"/>
                    </a:moveTo>
                    <a:lnTo>
                      <a:pt x="277" y="1053"/>
                    </a:lnTo>
                    <a:cubicBezTo>
                      <a:pt x="0" y="1321"/>
                      <a:pt x="0" y="1767"/>
                      <a:pt x="277" y="2044"/>
                    </a:cubicBezTo>
                    <a:cubicBezTo>
                      <a:pt x="415" y="2182"/>
                      <a:pt x="596" y="2251"/>
                      <a:pt x="775" y="2251"/>
                    </a:cubicBezTo>
                    <a:cubicBezTo>
                      <a:pt x="955" y="2251"/>
                      <a:pt x="1133" y="2182"/>
                      <a:pt x="1267" y="2044"/>
                    </a:cubicBezTo>
                    <a:lnTo>
                      <a:pt x="2320" y="1000"/>
                    </a:lnTo>
                    <a:lnTo>
                      <a:pt x="132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1014;p28">
                <a:extLst>
                  <a:ext uri="{FF2B5EF4-FFF2-40B4-BE49-F238E27FC236}">
                    <a16:creationId xmlns:a16="http://schemas.microsoft.com/office/drawing/2014/main" id="{C56E351B-59BE-CE0F-39B9-62723A715915}"/>
                  </a:ext>
                </a:extLst>
              </p:cNvPr>
              <p:cNvSpPr/>
              <p:nvPr/>
            </p:nvSpPr>
            <p:spPr>
              <a:xfrm>
                <a:off x="-2318453" y="1483340"/>
                <a:ext cx="503881" cy="379020"/>
              </a:xfrm>
              <a:custGeom>
                <a:avLst/>
                <a:gdLst/>
                <a:ahLst/>
                <a:cxnLst/>
                <a:rect l="l" t="t" r="r" b="b"/>
                <a:pathLst>
                  <a:path w="9197" h="6918" extrusionOk="0">
                    <a:moveTo>
                      <a:pt x="4553" y="663"/>
                    </a:moveTo>
                    <a:cubicBezTo>
                      <a:pt x="4568" y="663"/>
                      <a:pt x="4583" y="663"/>
                      <a:pt x="4598" y="663"/>
                    </a:cubicBezTo>
                    <a:cubicBezTo>
                      <a:pt x="7150" y="708"/>
                      <a:pt x="8274" y="3705"/>
                      <a:pt x="6570" y="5436"/>
                    </a:cubicBezTo>
                    <a:cubicBezTo>
                      <a:pt x="6019" y="5987"/>
                      <a:pt x="5308" y="6252"/>
                      <a:pt x="4601" y="6252"/>
                    </a:cubicBezTo>
                    <a:cubicBezTo>
                      <a:pt x="3878" y="6252"/>
                      <a:pt x="3160" y="5973"/>
                      <a:pt x="2627" y="5436"/>
                    </a:cubicBezTo>
                    <a:cubicBezTo>
                      <a:pt x="2092" y="4901"/>
                      <a:pt x="1824" y="4196"/>
                      <a:pt x="1815" y="3491"/>
                    </a:cubicBezTo>
                    <a:cubicBezTo>
                      <a:pt x="1815" y="3482"/>
                      <a:pt x="1806" y="3473"/>
                      <a:pt x="1806" y="3465"/>
                    </a:cubicBezTo>
                    <a:cubicBezTo>
                      <a:pt x="1806" y="3456"/>
                      <a:pt x="1815" y="3447"/>
                      <a:pt x="1815" y="3438"/>
                    </a:cubicBezTo>
                    <a:cubicBezTo>
                      <a:pt x="1797" y="1972"/>
                      <a:pt x="3065" y="663"/>
                      <a:pt x="4553" y="663"/>
                    </a:cubicBezTo>
                    <a:close/>
                    <a:moveTo>
                      <a:pt x="4598" y="1"/>
                    </a:moveTo>
                    <a:cubicBezTo>
                      <a:pt x="3697" y="1"/>
                      <a:pt x="2796" y="338"/>
                      <a:pt x="2154" y="1011"/>
                    </a:cubicBezTo>
                    <a:cubicBezTo>
                      <a:pt x="0" y="3165"/>
                      <a:pt x="1531" y="6917"/>
                      <a:pt x="4577" y="6917"/>
                    </a:cubicBezTo>
                    <a:cubicBezTo>
                      <a:pt x="4584" y="6917"/>
                      <a:pt x="4591" y="6917"/>
                      <a:pt x="4598" y="6917"/>
                    </a:cubicBezTo>
                    <a:cubicBezTo>
                      <a:pt x="4606" y="6917"/>
                      <a:pt x="4613" y="6917"/>
                      <a:pt x="4620" y="6917"/>
                    </a:cubicBezTo>
                    <a:cubicBezTo>
                      <a:pt x="7666" y="6917"/>
                      <a:pt x="9197" y="3165"/>
                      <a:pt x="7043" y="1011"/>
                    </a:cubicBezTo>
                    <a:cubicBezTo>
                      <a:pt x="6401" y="338"/>
                      <a:pt x="5500" y="1"/>
                      <a:pt x="459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1015;p28">
                <a:extLst>
                  <a:ext uri="{FF2B5EF4-FFF2-40B4-BE49-F238E27FC236}">
                    <a16:creationId xmlns:a16="http://schemas.microsoft.com/office/drawing/2014/main" id="{D75CD5D4-3C34-74F6-4B73-FA4DB86E5131}"/>
                  </a:ext>
                </a:extLst>
              </p:cNvPr>
              <p:cNvSpPr/>
              <p:nvPr/>
            </p:nvSpPr>
            <p:spPr>
              <a:xfrm>
                <a:off x="-2279170" y="1798755"/>
                <a:ext cx="85633" cy="86071"/>
              </a:xfrm>
              <a:custGeom>
                <a:avLst/>
                <a:gdLst/>
                <a:ahLst/>
                <a:cxnLst/>
                <a:rect l="l" t="t" r="r" b="b"/>
                <a:pathLst>
                  <a:path w="1563" h="1571" extrusionOk="0">
                    <a:moveTo>
                      <a:pt x="572" y="0"/>
                    </a:moveTo>
                    <a:lnTo>
                      <a:pt x="1" y="571"/>
                    </a:lnTo>
                    <a:lnTo>
                      <a:pt x="1000" y="1570"/>
                    </a:lnTo>
                    <a:lnTo>
                      <a:pt x="1562" y="999"/>
                    </a:lnTo>
                    <a:cubicBezTo>
                      <a:pt x="1187" y="732"/>
                      <a:pt x="839" y="384"/>
                      <a:pt x="57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4" name="Google Shape;1036;p28">
              <a:extLst>
                <a:ext uri="{FF2B5EF4-FFF2-40B4-BE49-F238E27FC236}">
                  <a16:creationId xmlns:a16="http://schemas.microsoft.com/office/drawing/2014/main" id="{3A2B7FE0-6239-96BE-37DA-8493D790DCD8}"/>
                </a:ext>
              </a:extLst>
            </p:cNvPr>
            <p:cNvCxnSpPr>
              <a:cxnSpLocks/>
              <a:stCxn id="9" idx="4"/>
              <a:endCxn id="3" idx="0"/>
            </p:cNvCxnSpPr>
            <p:nvPr/>
          </p:nvCxnSpPr>
          <p:spPr>
            <a:xfrm>
              <a:off x="2887147" y="3048251"/>
              <a:ext cx="0" cy="76424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9" name="Agrupar 98">
            <a:extLst>
              <a:ext uri="{FF2B5EF4-FFF2-40B4-BE49-F238E27FC236}">
                <a16:creationId xmlns:a16="http://schemas.microsoft.com/office/drawing/2014/main" id="{049C9252-E06C-5A5E-BA62-20721F24A71A}"/>
              </a:ext>
            </a:extLst>
          </p:cNvPr>
          <p:cNvGrpSpPr/>
          <p:nvPr/>
        </p:nvGrpSpPr>
        <p:grpSpPr>
          <a:xfrm>
            <a:off x="4461763" y="2053151"/>
            <a:ext cx="995100" cy="1071524"/>
            <a:chOff x="4528834" y="2053151"/>
            <a:chExt cx="995100" cy="1071524"/>
          </a:xfrm>
        </p:grpSpPr>
        <p:sp>
          <p:nvSpPr>
            <p:cNvPr id="17" name="Google Shape;991;p28">
              <a:extLst>
                <a:ext uri="{FF2B5EF4-FFF2-40B4-BE49-F238E27FC236}">
                  <a16:creationId xmlns:a16="http://schemas.microsoft.com/office/drawing/2014/main" id="{F113D5F7-35B1-6F52-08E3-24C6C1166F1F}"/>
                </a:ext>
              </a:extLst>
            </p:cNvPr>
            <p:cNvSpPr/>
            <p:nvPr/>
          </p:nvSpPr>
          <p:spPr>
            <a:xfrm>
              <a:off x="4528834" y="2053151"/>
              <a:ext cx="995100" cy="995100"/>
            </a:xfrm>
            <a:prstGeom prst="rect">
              <a:avLst/>
            </a:prstGeom>
            <a:solidFill>
              <a:srgbClr val="07215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bg1"/>
                </a:solidFill>
                <a:latin typeface="Optika" panose="00000500000000000000" pitchFamily="50" charset="0"/>
              </a:endParaRPr>
            </a:p>
          </p:txBody>
        </p:sp>
        <p:sp>
          <p:nvSpPr>
            <p:cNvPr id="45" name="Google Shape;1017;p28">
              <a:extLst>
                <a:ext uri="{FF2B5EF4-FFF2-40B4-BE49-F238E27FC236}">
                  <a16:creationId xmlns:a16="http://schemas.microsoft.com/office/drawing/2014/main" id="{70E40176-EBEF-DAC7-9FC0-CF9A9B2ACB8B}"/>
                </a:ext>
              </a:extLst>
            </p:cNvPr>
            <p:cNvSpPr/>
            <p:nvPr/>
          </p:nvSpPr>
          <p:spPr>
            <a:xfrm>
              <a:off x="4887293" y="2595494"/>
              <a:ext cx="95330" cy="93467"/>
            </a:xfrm>
            <a:custGeom>
              <a:avLst/>
              <a:gdLst/>
              <a:ahLst/>
              <a:cxnLst/>
              <a:rect l="l" t="t" r="r" b="b"/>
              <a:pathLst>
                <a:path w="1740" h="1706" extrusionOk="0">
                  <a:moveTo>
                    <a:pt x="47" y="0"/>
                  </a:moveTo>
                  <a:cubicBezTo>
                    <a:pt x="31" y="0"/>
                    <a:pt x="16" y="1"/>
                    <a:pt x="1" y="1"/>
                  </a:cubicBezTo>
                  <a:cubicBezTo>
                    <a:pt x="126" y="385"/>
                    <a:pt x="340" y="751"/>
                    <a:pt x="652" y="1063"/>
                  </a:cubicBezTo>
                  <a:cubicBezTo>
                    <a:pt x="955" y="1366"/>
                    <a:pt x="1321" y="1580"/>
                    <a:pt x="1714" y="1705"/>
                  </a:cubicBezTo>
                  <a:cubicBezTo>
                    <a:pt x="1740" y="908"/>
                    <a:pt x="856" y="0"/>
                    <a:pt x="4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018;p28">
              <a:extLst>
                <a:ext uri="{FF2B5EF4-FFF2-40B4-BE49-F238E27FC236}">
                  <a16:creationId xmlns:a16="http://schemas.microsoft.com/office/drawing/2014/main" id="{1F3F8473-15E2-2F0B-84E8-7B8B2A865782}"/>
                </a:ext>
              </a:extLst>
            </p:cNvPr>
            <p:cNvSpPr/>
            <p:nvPr/>
          </p:nvSpPr>
          <p:spPr>
            <a:xfrm>
              <a:off x="5069627" y="2595494"/>
              <a:ext cx="94399" cy="93467"/>
            </a:xfrm>
            <a:custGeom>
              <a:avLst/>
              <a:gdLst/>
              <a:ahLst/>
              <a:cxnLst/>
              <a:rect l="l" t="t" r="r" b="b"/>
              <a:pathLst>
                <a:path w="1723" h="1706" extrusionOk="0">
                  <a:moveTo>
                    <a:pt x="1674" y="0"/>
                  </a:moveTo>
                  <a:cubicBezTo>
                    <a:pt x="1302" y="0"/>
                    <a:pt x="887" y="195"/>
                    <a:pt x="553" y="536"/>
                  </a:cubicBezTo>
                  <a:cubicBezTo>
                    <a:pt x="197" y="884"/>
                    <a:pt x="0" y="1321"/>
                    <a:pt x="18" y="1705"/>
                  </a:cubicBezTo>
                  <a:cubicBezTo>
                    <a:pt x="402" y="1580"/>
                    <a:pt x="767" y="1366"/>
                    <a:pt x="1071" y="1063"/>
                  </a:cubicBezTo>
                  <a:cubicBezTo>
                    <a:pt x="1383" y="751"/>
                    <a:pt x="1597" y="385"/>
                    <a:pt x="1722" y="1"/>
                  </a:cubicBezTo>
                  <a:cubicBezTo>
                    <a:pt x="1706" y="0"/>
                    <a:pt x="1690" y="0"/>
                    <a:pt x="16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019;p28">
              <a:extLst>
                <a:ext uri="{FF2B5EF4-FFF2-40B4-BE49-F238E27FC236}">
                  <a16:creationId xmlns:a16="http://schemas.microsoft.com/office/drawing/2014/main" id="{0E61E6AD-C57F-A0AD-1CC5-57020CFC1643}"/>
                </a:ext>
              </a:extLst>
            </p:cNvPr>
            <p:cNvSpPr/>
            <p:nvPr/>
          </p:nvSpPr>
          <p:spPr>
            <a:xfrm>
              <a:off x="4887293" y="2412227"/>
              <a:ext cx="93906" cy="93413"/>
            </a:xfrm>
            <a:custGeom>
              <a:avLst/>
              <a:gdLst/>
              <a:ahLst/>
              <a:cxnLst/>
              <a:rect l="l" t="t" r="r" b="b"/>
              <a:pathLst>
                <a:path w="1714" h="1705" extrusionOk="0">
                  <a:moveTo>
                    <a:pt x="1705" y="1"/>
                  </a:moveTo>
                  <a:lnTo>
                    <a:pt x="1705" y="1"/>
                  </a:lnTo>
                  <a:cubicBezTo>
                    <a:pt x="920" y="242"/>
                    <a:pt x="242" y="929"/>
                    <a:pt x="1" y="1705"/>
                  </a:cubicBezTo>
                  <a:cubicBezTo>
                    <a:pt x="9" y="1705"/>
                    <a:pt x="17" y="1705"/>
                    <a:pt x="26" y="1705"/>
                  </a:cubicBezTo>
                  <a:cubicBezTo>
                    <a:pt x="403" y="1705"/>
                    <a:pt x="820" y="1510"/>
                    <a:pt x="1169" y="1169"/>
                  </a:cubicBezTo>
                  <a:cubicBezTo>
                    <a:pt x="1517" y="813"/>
                    <a:pt x="1714" y="384"/>
                    <a:pt x="17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020;p28">
              <a:extLst>
                <a:ext uri="{FF2B5EF4-FFF2-40B4-BE49-F238E27FC236}">
                  <a16:creationId xmlns:a16="http://schemas.microsoft.com/office/drawing/2014/main" id="{86BAEBB7-F6DE-1683-89C8-F6AD16B4DDC2}"/>
                </a:ext>
              </a:extLst>
            </p:cNvPr>
            <p:cNvSpPr/>
            <p:nvPr/>
          </p:nvSpPr>
          <p:spPr>
            <a:xfrm>
              <a:off x="5068696" y="2412227"/>
              <a:ext cx="95330" cy="93467"/>
            </a:xfrm>
            <a:custGeom>
              <a:avLst/>
              <a:gdLst/>
              <a:ahLst/>
              <a:cxnLst/>
              <a:rect l="l" t="t" r="r" b="b"/>
              <a:pathLst>
                <a:path w="1740" h="1706" extrusionOk="0">
                  <a:moveTo>
                    <a:pt x="35" y="1"/>
                  </a:moveTo>
                  <a:lnTo>
                    <a:pt x="35" y="1"/>
                  </a:lnTo>
                  <a:cubicBezTo>
                    <a:pt x="0" y="780"/>
                    <a:pt x="911" y="1706"/>
                    <a:pt x="1695" y="1706"/>
                  </a:cubicBezTo>
                  <a:cubicBezTo>
                    <a:pt x="1710" y="1706"/>
                    <a:pt x="1724" y="1705"/>
                    <a:pt x="1739" y="1705"/>
                  </a:cubicBezTo>
                  <a:cubicBezTo>
                    <a:pt x="1498" y="929"/>
                    <a:pt x="820" y="242"/>
                    <a:pt x="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021;p28">
              <a:extLst>
                <a:ext uri="{FF2B5EF4-FFF2-40B4-BE49-F238E27FC236}">
                  <a16:creationId xmlns:a16="http://schemas.microsoft.com/office/drawing/2014/main" id="{72734DBC-957C-26AD-0815-F40BAFF36FAA}"/>
                </a:ext>
              </a:extLst>
            </p:cNvPr>
            <p:cNvSpPr/>
            <p:nvPr/>
          </p:nvSpPr>
          <p:spPr>
            <a:xfrm>
              <a:off x="5000211" y="2527611"/>
              <a:ext cx="50898" cy="46076"/>
            </a:xfrm>
            <a:custGeom>
              <a:avLst/>
              <a:gdLst/>
              <a:ahLst/>
              <a:cxnLst/>
              <a:rect l="l" t="t" r="r" b="b"/>
              <a:pathLst>
                <a:path w="929" h="841" extrusionOk="0">
                  <a:moveTo>
                    <a:pt x="464" y="0"/>
                  </a:moveTo>
                  <a:cubicBezTo>
                    <a:pt x="357" y="0"/>
                    <a:pt x="250" y="45"/>
                    <a:pt x="170" y="125"/>
                  </a:cubicBezTo>
                  <a:cubicBezTo>
                    <a:pt x="0" y="286"/>
                    <a:pt x="0" y="553"/>
                    <a:pt x="170" y="714"/>
                  </a:cubicBezTo>
                  <a:cubicBezTo>
                    <a:pt x="250" y="799"/>
                    <a:pt x="357" y="841"/>
                    <a:pt x="464" y="841"/>
                  </a:cubicBezTo>
                  <a:cubicBezTo>
                    <a:pt x="571" y="841"/>
                    <a:pt x="678" y="799"/>
                    <a:pt x="759" y="714"/>
                  </a:cubicBezTo>
                  <a:cubicBezTo>
                    <a:pt x="928" y="553"/>
                    <a:pt x="928" y="286"/>
                    <a:pt x="759" y="125"/>
                  </a:cubicBezTo>
                  <a:cubicBezTo>
                    <a:pt x="678" y="45"/>
                    <a:pt x="571" y="0"/>
                    <a:pt x="46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022;p28">
              <a:extLst>
                <a:ext uri="{FF2B5EF4-FFF2-40B4-BE49-F238E27FC236}">
                  <a16:creationId xmlns:a16="http://schemas.microsoft.com/office/drawing/2014/main" id="{90979B9B-FCFE-9584-968F-D02BC2EEE74E}"/>
                </a:ext>
              </a:extLst>
            </p:cNvPr>
            <p:cNvSpPr/>
            <p:nvPr/>
          </p:nvSpPr>
          <p:spPr>
            <a:xfrm>
              <a:off x="4879952" y="2405160"/>
              <a:ext cx="291360" cy="290867"/>
            </a:xfrm>
            <a:custGeom>
              <a:avLst/>
              <a:gdLst/>
              <a:ahLst/>
              <a:cxnLst/>
              <a:rect l="l" t="t" r="r" b="b"/>
              <a:pathLst>
                <a:path w="5318" h="5309" extrusionOk="0">
                  <a:moveTo>
                    <a:pt x="2656" y="1711"/>
                  </a:moveTo>
                  <a:cubicBezTo>
                    <a:pt x="2898" y="1711"/>
                    <a:pt x="3141" y="1802"/>
                    <a:pt x="3328" y="1985"/>
                  </a:cubicBezTo>
                  <a:cubicBezTo>
                    <a:pt x="3694" y="2351"/>
                    <a:pt x="3694" y="2958"/>
                    <a:pt x="3328" y="3324"/>
                  </a:cubicBezTo>
                  <a:cubicBezTo>
                    <a:pt x="3141" y="3511"/>
                    <a:pt x="2898" y="3605"/>
                    <a:pt x="2656" y="3605"/>
                  </a:cubicBezTo>
                  <a:cubicBezTo>
                    <a:pt x="2414" y="3605"/>
                    <a:pt x="2173" y="3511"/>
                    <a:pt x="1990" y="3324"/>
                  </a:cubicBezTo>
                  <a:cubicBezTo>
                    <a:pt x="1616" y="2958"/>
                    <a:pt x="1616" y="2351"/>
                    <a:pt x="1990" y="1985"/>
                  </a:cubicBezTo>
                  <a:cubicBezTo>
                    <a:pt x="2173" y="1802"/>
                    <a:pt x="2414" y="1711"/>
                    <a:pt x="2656" y="1711"/>
                  </a:cubicBezTo>
                  <a:close/>
                  <a:moveTo>
                    <a:pt x="2656" y="0"/>
                  </a:moveTo>
                  <a:cubicBezTo>
                    <a:pt x="2555" y="0"/>
                    <a:pt x="2454" y="5"/>
                    <a:pt x="2356" y="14"/>
                  </a:cubicBezTo>
                  <a:cubicBezTo>
                    <a:pt x="2454" y="924"/>
                    <a:pt x="1633" y="1994"/>
                    <a:pt x="724" y="2271"/>
                  </a:cubicBezTo>
                  <a:cubicBezTo>
                    <a:pt x="524" y="2330"/>
                    <a:pt x="337" y="2365"/>
                    <a:pt x="141" y="2365"/>
                  </a:cubicBezTo>
                  <a:cubicBezTo>
                    <a:pt x="101" y="2365"/>
                    <a:pt x="60" y="2363"/>
                    <a:pt x="19" y="2360"/>
                  </a:cubicBezTo>
                  <a:cubicBezTo>
                    <a:pt x="1" y="2556"/>
                    <a:pt x="1" y="2753"/>
                    <a:pt x="19" y="2949"/>
                  </a:cubicBezTo>
                  <a:cubicBezTo>
                    <a:pt x="68" y="2944"/>
                    <a:pt x="118" y="2942"/>
                    <a:pt x="168" y="2942"/>
                  </a:cubicBezTo>
                  <a:cubicBezTo>
                    <a:pt x="1303" y="2942"/>
                    <a:pt x="2485" y="4176"/>
                    <a:pt x="2365" y="5295"/>
                  </a:cubicBezTo>
                  <a:cubicBezTo>
                    <a:pt x="2463" y="5304"/>
                    <a:pt x="2561" y="5308"/>
                    <a:pt x="2659" y="5308"/>
                  </a:cubicBezTo>
                  <a:cubicBezTo>
                    <a:pt x="2758" y="5308"/>
                    <a:pt x="2856" y="5304"/>
                    <a:pt x="2954" y="5295"/>
                  </a:cubicBezTo>
                  <a:cubicBezTo>
                    <a:pt x="2909" y="4742"/>
                    <a:pt x="3159" y="4117"/>
                    <a:pt x="3641" y="3636"/>
                  </a:cubicBezTo>
                  <a:cubicBezTo>
                    <a:pt x="3917" y="3359"/>
                    <a:pt x="4247" y="3154"/>
                    <a:pt x="4586" y="3038"/>
                  </a:cubicBezTo>
                  <a:cubicBezTo>
                    <a:pt x="4780" y="2974"/>
                    <a:pt x="4974" y="2944"/>
                    <a:pt x="5163" y="2944"/>
                  </a:cubicBezTo>
                  <a:cubicBezTo>
                    <a:pt x="5209" y="2944"/>
                    <a:pt x="5255" y="2945"/>
                    <a:pt x="5300" y="2949"/>
                  </a:cubicBezTo>
                  <a:cubicBezTo>
                    <a:pt x="5318" y="2753"/>
                    <a:pt x="5318" y="2556"/>
                    <a:pt x="5291" y="2351"/>
                  </a:cubicBezTo>
                  <a:cubicBezTo>
                    <a:pt x="5255" y="2360"/>
                    <a:pt x="5211" y="2360"/>
                    <a:pt x="5166" y="2360"/>
                  </a:cubicBezTo>
                  <a:cubicBezTo>
                    <a:pt x="4649" y="2360"/>
                    <a:pt x="4087" y="2110"/>
                    <a:pt x="3650" y="1673"/>
                  </a:cubicBezTo>
                  <a:cubicBezTo>
                    <a:pt x="3364" y="1388"/>
                    <a:pt x="3159" y="1058"/>
                    <a:pt x="3043" y="719"/>
                  </a:cubicBezTo>
                  <a:cubicBezTo>
                    <a:pt x="2972" y="478"/>
                    <a:pt x="2936" y="246"/>
                    <a:pt x="2963" y="14"/>
                  </a:cubicBezTo>
                  <a:cubicBezTo>
                    <a:pt x="2860" y="5"/>
                    <a:pt x="2758" y="0"/>
                    <a:pt x="265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023;p28">
              <a:extLst>
                <a:ext uri="{FF2B5EF4-FFF2-40B4-BE49-F238E27FC236}">
                  <a16:creationId xmlns:a16="http://schemas.microsoft.com/office/drawing/2014/main" id="{B4E4F4A4-399E-3AF1-EF78-98C9652317A4}"/>
                </a:ext>
              </a:extLst>
            </p:cNvPr>
            <p:cNvSpPr/>
            <p:nvPr/>
          </p:nvSpPr>
          <p:spPr>
            <a:xfrm>
              <a:off x="4779306" y="2304459"/>
              <a:ext cx="494183" cy="492485"/>
            </a:xfrm>
            <a:custGeom>
              <a:avLst/>
              <a:gdLst/>
              <a:ahLst/>
              <a:cxnLst/>
              <a:rect l="l" t="t" r="r" b="b"/>
              <a:pathLst>
                <a:path w="9020" h="8989" extrusionOk="0">
                  <a:moveTo>
                    <a:pt x="4522" y="1317"/>
                  </a:moveTo>
                  <a:cubicBezTo>
                    <a:pt x="5312" y="1317"/>
                    <a:pt x="6111" y="1608"/>
                    <a:pt x="6744" y="2244"/>
                  </a:cubicBezTo>
                  <a:cubicBezTo>
                    <a:pt x="7191" y="2690"/>
                    <a:pt x="7476" y="3226"/>
                    <a:pt x="7601" y="3797"/>
                  </a:cubicBezTo>
                  <a:cubicBezTo>
                    <a:pt x="7601" y="3806"/>
                    <a:pt x="7601" y="3806"/>
                    <a:pt x="7601" y="3814"/>
                  </a:cubicBezTo>
                  <a:cubicBezTo>
                    <a:pt x="7610" y="3832"/>
                    <a:pt x="7610" y="3850"/>
                    <a:pt x="7610" y="3868"/>
                  </a:cubicBezTo>
                  <a:cubicBezTo>
                    <a:pt x="7815" y="4876"/>
                    <a:pt x="7530" y="5964"/>
                    <a:pt x="6744" y="6741"/>
                  </a:cubicBezTo>
                  <a:cubicBezTo>
                    <a:pt x="6124" y="7361"/>
                    <a:pt x="5315" y="7674"/>
                    <a:pt x="4491" y="7674"/>
                  </a:cubicBezTo>
                  <a:cubicBezTo>
                    <a:pt x="4285" y="7674"/>
                    <a:pt x="4077" y="7654"/>
                    <a:pt x="3872" y="7615"/>
                  </a:cubicBezTo>
                  <a:cubicBezTo>
                    <a:pt x="3854" y="7606"/>
                    <a:pt x="3836" y="7606"/>
                    <a:pt x="3818" y="7597"/>
                  </a:cubicBezTo>
                  <a:cubicBezTo>
                    <a:pt x="2650" y="7374"/>
                    <a:pt x="1615" y="6339"/>
                    <a:pt x="1392" y="5170"/>
                  </a:cubicBezTo>
                  <a:cubicBezTo>
                    <a:pt x="1383" y="5153"/>
                    <a:pt x="1383" y="5144"/>
                    <a:pt x="1383" y="5126"/>
                  </a:cubicBezTo>
                  <a:cubicBezTo>
                    <a:pt x="1294" y="4707"/>
                    <a:pt x="1294" y="4278"/>
                    <a:pt x="1383" y="3859"/>
                  </a:cubicBezTo>
                  <a:cubicBezTo>
                    <a:pt x="1383" y="3841"/>
                    <a:pt x="1383" y="3823"/>
                    <a:pt x="1392" y="3806"/>
                  </a:cubicBezTo>
                  <a:cubicBezTo>
                    <a:pt x="1729" y="2249"/>
                    <a:pt x="3110" y="1317"/>
                    <a:pt x="4522" y="1317"/>
                  </a:cubicBezTo>
                  <a:close/>
                  <a:moveTo>
                    <a:pt x="4487" y="1"/>
                  </a:moveTo>
                  <a:cubicBezTo>
                    <a:pt x="4169" y="1"/>
                    <a:pt x="3850" y="32"/>
                    <a:pt x="3542" y="94"/>
                  </a:cubicBezTo>
                  <a:cubicBezTo>
                    <a:pt x="3435" y="121"/>
                    <a:pt x="3355" y="210"/>
                    <a:pt x="3337" y="317"/>
                  </a:cubicBezTo>
                  <a:lnTo>
                    <a:pt x="3265" y="755"/>
                  </a:lnTo>
                  <a:cubicBezTo>
                    <a:pt x="3256" y="799"/>
                    <a:pt x="3230" y="826"/>
                    <a:pt x="3194" y="844"/>
                  </a:cubicBezTo>
                  <a:cubicBezTo>
                    <a:pt x="3069" y="888"/>
                    <a:pt x="2944" y="942"/>
                    <a:pt x="2828" y="995"/>
                  </a:cubicBezTo>
                  <a:cubicBezTo>
                    <a:pt x="2812" y="1003"/>
                    <a:pt x="2794" y="1008"/>
                    <a:pt x="2776" y="1008"/>
                  </a:cubicBezTo>
                  <a:cubicBezTo>
                    <a:pt x="2754" y="1008"/>
                    <a:pt x="2732" y="1001"/>
                    <a:pt x="2712" y="986"/>
                  </a:cubicBezTo>
                  <a:lnTo>
                    <a:pt x="2346" y="728"/>
                  </a:lnTo>
                  <a:cubicBezTo>
                    <a:pt x="2300" y="695"/>
                    <a:pt x="2247" y="680"/>
                    <a:pt x="2193" y="680"/>
                  </a:cubicBezTo>
                  <a:cubicBezTo>
                    <a:pt x="2144" y="680"/>
                    <a:pt x="2095" y="693"/>
                    <a:pt x="2052" y="719"/>
                  </a:cubicBezTo>
                  <a:cubicBezTo>
                    <a:pt x="1793" y="897"/>
                    <a:pt x="1544" y="1094"/>
                    <a:pt x="1321" y="1317"/>
                  </a:cubicBezTo>
                  <a:cubicBezTo>
                    <a:pt x="1115" y="1531"/>
                    <a:pt x="928" y="1754"/>
                    <a:pt x="758" y="1995"/>
                  </a:cubicBezTo>
                  <a:cubicBezTo>
                    <a:pt x="669" y="2119"/>
                    <a:pt x="678" y="2298"/>
                    <a:pt x="767" y="2423"/>
                  </a:cubicBezTo>
                  <a:lnTo>
                    <a:pt x="982" y="2717"/>
                  </a:lnTo>
                  <a:cubicBezTo>
                    <a:pt x="1008" y="2753"/>
                    <a:pt x="1008" y="2797"/>
                    <a:pt x="990" y="2833"/>
                  </a:cubicBezTo>
                  <a:cubicBezTo>
                    <a:pt x="937" y="2949"/>
                    <a:pt x="883" y="3074"/>
                    <a:pt x="839" y="3199"/>
                  </a:cubicBezTo>
                  <a:cubicBezTo>
                    <a:pt x="830" y="3235"/>
                    <a:pt x="794" y="3270"/>
                    <a:pt x="758" y="3270"/>
                  </a:cubicBezTo>
                  <a:lnTo>
                    <a:pt x="312" y="3351"/>
                  </a:lnTo>
                  <a:cubicBezTo>
                    <a:pt x="205" y="3368"/>
                    <a:pt x="116" y="3449"/>
                    <a:pt x="98" y="3556"/>
                  </a:cubicBezTo>
                  <a:cubicBezTo>
                    <a:pt x="36" y="3859"/>
                    <a:pt x="0" y="4180"/>
                    <a:pt x="0" y="4492"/>
                  </a:cubicBezTo>
                  <a:cubicBezTo>
                    <a:pt x="0" y="4787"/>
                    <a:pt x="27" y="5081"/>
                    <a:pt x="80" y="5367"/>
                  </a:cubicBezTo>
                  <a:cubicBezTo>
                    <a:pt x="116" y="5518"/>
                    <a:pt x="241" y="5643"/>
                    <a:pt x="393" y="5661"/>
                  </a:cubicBezTo>
                  <a:lnTo>
                    <a:pt x="758" y="5724"/>
                  </a:lnTo>
                  <a:cubicBezTo>
                    <a:pt x="794" y="5732"/>
                    <a:pt x="830" y="5759"/>
                    <a:pt x="848" y="5795"/>
                  </a:cubicBezTo>
                  <a:cubicBezTo>
                    <a:pt x="892" y="5920"/>
                    <a:pt x="937" y="6045"/>
                    <a:pt x="999" y="6161"/>
                  </a:cubicBezTo>
                  <a:cubicBezTo>
                    <a:pt x="1017" y="6196"/>
                    <a:pt x="1008" y="6241"/>
                    <a:pt x="990" y="6277"/>
                  </a:cubicBezTo>
                  <a:lnTo>
                    <a:pt x="767" y="6580"/>
                  </a:lnTo>
                  <a:cubicBezTo>
                    <a:pt x="678" y="6705"/>
                    <a:pt x="678" y="6874"/>
                    <a:pt x="767" y="7008"/>
                  </a:cubicBezTo>
                  <a:cubicBezTo>
                    <a:pt x="1106" y="7499"/>
                    <a:pt x="1552" y="7945"/>
                    <a:pt x="2061" y="8275"/>
                  </a:cubicBezTo>
                  <a:cubicBezTo>
                    <a:pt x="2104" y="8301"/>
                    <a:pt x="2153" y="8314"/>
                    <a:pt x="2202" y="8314"/>
                  </a:cubicBezTo>
                  <a:cubicBezTo>
                    <a:pt x="2255" y="8314"/>
                    <a:pt x="2309" y="8298"/>
                    <a:pt x="2355" y="8266"/>
                  </a:cubicBezTo>
                  <a:lnTo>
                    <a:pt x="2721" y="8007"/>
                  </a:lnTo>
                  <a:cubicBezTo>
                    <a:pt x="2736" y="7993"/>
                    <a:pt x="2756" y="7986"/>
                    <a:pt x="2777" y="7986"/>
                  </a:cubicBezTo>
                  <a:cubicBezTo>
                    <a:pt x="2794" y="7986"/>
                    <a:pt x="2812" y="7990"/>
                    <a:pt x="2828" y="7998"/>
                  </a:cubicBezTo>
                  <a:cubicBezTo>
                    <a:pt x="2953" y="8052"/>
                    <a:pt x="3078" y="8105"/>
                    <a:pt x="3203" y="8150"/>
                  </a:cubicBezTo>
                  <a:cubicBezTo>
                    <a:pt x="3239" y="8159"/>
                    <a:pt x="3265" y="8195"/>
                    <a:pt x="3274" y="8239"/>
                  </a:cubicBezTo>
                  <a:lnTo>
                    <a:pt x="3337" y="8605"/>
                  </a:lnTo>
                  <a:cubicBezTo>
                    <a:pt x="3363" y="8757"/>
                    <a:pt x="3479" y="8882"/>
                    <a:pt x="3640" y="8908"/>
                  </a:cubicBezTo>
                  <a:cubicBezTo>
                    <a:pt x="3917" y="8962"/>
                    <a:pt x="4211" y="8989"/>
                    <a:pt x="4496" y="8989"/>
                  </a:cubicBezTo>
                  <a:cubicBezTo>
                    <a:pt x="4791" y="8989"/>
                    <a:pt x="5085" y="8962"/>
                    <a:pt x="5371" y="8908"/>
                  </a:cubicBezTo>
                  <a:cubicBezTo>
                    <a:pt x="5522" y="8873"/>
                    <a:pt x="5647" y="8748"/>
                    <a:pt x="5665" y="8596"/>
                  </a:cubicBezTo>
                  <a:lnTo>
                    <a:pt x="5727" y="8230"/>
                  </a:lnTo>
                  <a:cubicBezTo>
                    <a:pt x="5736" y="8195"/>
                    <a:pt x="5763" y="8159"/>
                    <a:pt x="5799" y="8141"/>
                  </a:cubicBezTo>
                  <a:cubicBezTo>
                    <a:pt x="5924" y="8097"/>
                    <a:pt x="6049" y="8052"/>
                    <a:pt x="6165" y="7989"/>
                  </a:cubicBezTo>
                  <a:cubicBezTo>
                    <a:pt x="6178" y="7983"/>
                    <a:pt x="6193" y="7980"/>
                    <a:pt x="6208" y="7980"/>
                  </a:cubicBezTo>
                  <a:cubicBezTo>
                    <a:pt x="6233" y="7980"/>
                    <a:pt x="6259" y="7987"/>
                    <a:pt x="6281" y="7998"/>
                  </a:cubicBezTo>
                  <a:lnTo>
                    <a:pt x="6646" y="8266"/>
                  </a:lnTo>
                  <a:cubicBezTo>
                    <a:pt x="6691" y="8297"/>
                    <a:pt x="6742" y="8313"/>
                    <a:pt x="6794" y="8313"/>
                  </a:cubicBezTo>
                  <a:cubicBezTo>
                    <a:pt x="6845" y="8313"/>
                    <a:pt x="6896" y="8297"/>
                    <a:pt x="6941" y="8266"/>
                  </a:cubicBezTo>
                  <a:cubicBezTo>
                    <a:pt x="7208" y="8097"/>
                    <a:pt x="7449" y="7891"/>
                    <a:pt x="7672" y="7668"/>
                  </a:cubicBezTo>
                  <a:cubicBezTo>
                    <a:pt x="7886" y="7463"/>
                    <a:pt x="8074" y="7240"/>
                    <a:pt x="8234" y="6999"/>
                  </a:cubicBezTo>
                  <a:cubicBezTo>
                    <a:pt x="8324" y="6865"/>
                    <a:pt x="8324" y="6696"/>
                    <a:pt x="8225" y="6571"/>
                  </a:cubicBezTo>
                  <a:lnTo>
                    <a:pt x="8011" y="6268"/>
                  </a:lnTo>
                  <a:cubicBezTo>
                    <a:pt x="7985" y="6232"/>
                    <a:pt x="7985" y="6187"/>
                    <a:pt x="8002" y="6152"/>
                  </a:cubicBezTo>
                  <a:cubicBezTo>
                    <a:pt x="8056" y="6036"/>
                    <a:pt x="8109" y="5911"/>
                    <a:pt x="8154" y="5786"/>
                  </a:cubicBezTo>
                  <a:cubicBezTo>
                    <a:pt x="8163" y="5750"/>
                    <a:pt x="8199" y="5724"/>
                    <a:pt x="8234" y="5715"/>
                  </a:cubicBezTo>
                  <a:lnTo>
                    <a:pt x="8680" y="5643"/>
                  </a:lnTo>
                  <a:cubicBezTo>
                    <a:pt x="8787" y="5625"/>
                    <a:pt x="8877" y="5536"/>
                    <a:pt x="8894" y="5429"/>
                  </a:cubicBezTo>
                  <a:cubicBezTo>
                    <a:pt x="9010" y="4840"/>
                    <a:pt x="9019" y="4216"/>
                    <a:pt x="8903" y="3618"/>
                  </a:cubicBezTo>
                  <a:cubicBezTo>
                    <a:pt x="8877" y="3467"/>
                    <a:pt x="8752" y="3351"/>
                    <a:pt x="8600" y="3324"/>
                  </a:cubicBezTo>
                  <a:lnTo>
                    <a:pt x="8234" y="3261"/>
                  </a:lnTo>
                  <a:cubicBezTo>
                    <a:pt x="8199" y="3261"/>
                    <a:pt x="8163" y="3226"/>
                    <a:pt x="8145" y="3190"/>
                  </a:cubicBezTo>
                  <a:cubicBezTo>
                    <a:pt x="8100" y="3065"/>
                    <a:pt x="8047" y="2940"/>
                    <a:pt x="7993" y="2815"/>
                  </a:cubicBezTo>
                  <a:cubicBezTo>
                    <a:pt x="7976" y="2780"/>
                    <a:pt x="7976" y="2744"/>
                    <a:pt x="8002" y="2708"/>
                  </a:cubicBezTo>
                  <a:lnTo>
                    <a:pt x="8216" y="2405"/>
                  </a:lnTo>
                  <a:cubicBezTo>
                    <a:pt x="8306" y="2280"/>
                    <a:pt x="8315" y="2111"/>
                    <a:pt x="8225" y="1977"/>
                  </a:cubicBezTo>
                  <a:cubicBezTo>
                    <a:pt x="8056" y="1745"/>
                    <a:pt x="7877" y="1522"/>
                    <a:pt x="7672" y="1317"/>
                  </a:cubicBezTo>
                  <a:cubicBezTo>
                    <a:pt x="7440" y="1085"/>
                    <a:pt x="7191" y="879"/>
                    <a:pt x="6932" y="710"/>
                  </a:cubicBezTo>
                  <a:cubicBezTo>
                    <a:pt x="6884" y="680"/>
                    <a:pt x="6833" y="664"/>
                    <a:pt x="6782" y="664"/>
                  </a:cubicBezTo>
                  <a:cubicBezTo>
                    <a:pt x="6728" y="664"/>
                    <a:pt x="6675" y="682"/>
                    <a:pt x="6629" y="719"/>
                  </a:cubicBezTo>
                  <a:lnTo>
                    <a:pt x="6263" y="978"/>
                  </a:lnTo>
                  <a:cubicBezTo>
                    <a:pt x="6248" y="992"/>
                    <a:pt x="6228" y="999"/>
                    <a:pt x="6207" y="999"/>
                  </a:cubicBezTo>
                  <a:cubicBezTo>
                    <a:pt x="6190" y="999"/>
                    <a:pt x="6172" y="995"/>
                    <a:pt x="6156" y="986"/>
                  </a:cubicBezTo>
                  <a:cubicBezTo>
                    <a:pt x="6031" y="933"/>
                    <a:pt x="5915" y="879"/>
                    <a:pt x="5790" y="835"/>
                  </a:cubicBezTo>
                  <a:cubicBezTo>
                    <a:pt x="5754" y="826"/>
                    <a:pt x="5719" y="790"/>
                    <a:pt x="5719" y="755"/>
                  </a:cubicBezTo>
                  <a:lnTo>
                    <a:pt x="5638" y="308"/>
                  </a:lnTo>
                  <a:cubicBezTo>
                    <a:pt x="5620" y="201"/>
                    <a:pt x="5540" y="121"/>
                    <a:pt x="5433" y="94"/>
                  </a:cubicBezTo>
                  <a:cubicBezTo>
                    <a:pt x="5125" y="32"/>
                    <a:pt x="4806" y="1"/>
                    <a:pt x="448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5" name="Google Shape;1037;p28">
              <a:extLst>
                <a:ext uri="{FF2B5EF4-FFF2-40B4-BE49-F238E27FC236}">
                  <a16:creationId xmlns:a16="http://schemas.microsoft.com/office/drawing/2014/main" id="{37146486-3992-574A-94F2-8D398A880E10}"/>
                </a:ext>
              </a:extLst>
            </p:cNvPr>
            <p:cNvCxnSpPr>
              <a:cxnSpLocks/>
              <a:stCxn id="17" idx="2"/>
              <a:endCxn id="15" idx="0"/>
            </p:cNvCxnSpPr>
            <p:nvPr/>
          </p:nvCxnSpPr>
          <p:spPr>
            <a:xfrm>
              <a:off x="5026384" y="3048251"/>
              <a:ext cx="0" cy="76424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66" name="Google Shape;1038;p28">
            <a:extLst>
              <a:ext uri="{FF2B5EF4-FFF2-40B4-BE49-F238E27FC236}">
                <a16:creationId xmlns:a16="http://schemas.microsoft.com/office/drawing/2014/main" id="{43A33962-E1A7-D3DC-DA3A-5D8732CFA5EF}"/>
              </a:ext>
            </a:extLst>
          </p:cNvPr>
          <p:cNvCxnSpPr>
            <a:cxnSpLocks/>
            <a:stCxn id="15" idx="2"/>
            <a:endCxn id="18" idx="0"/>
          </p:cNvCxnSpPr>
          <p:nvPr/>
        </p:nvCxnSpPr>
        <p:spPr>
          <a:xfrm>
            <a:off x="4959313" y="4898875"/>
            <a:ext cx="0" cy="764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" name="Google Shape;1039;p28">
            <a:extLst>
              <a:ext uri="{FF2B5EF4-FFF2-40B4-BE49-F238E27FC236}">
                <a16:creationId xmlns:a16="http://schemas.microsoft.com/office/drawing/2014/main" id="{8AF4FB3D-A907-4449-D7EC-AFEA793F57D2}"/>
              </a:ext>
            </a:extLst>
          </p:cNvPr>
          <p:cNvCxnSpPr>
            <a:cxnSpLocks/>
            <a:stCxn id="24" idx="2"/>
            <a:endCxn id="22" idx="0"/>
          </p:cNvCxnSpPr>
          <p:nvPr/>
        </p:nvCxnSpPr>
        <p:spPr>
          <a:xfrm>
            <a:off x="7207093" y="3048251"/>
            <a:ext cx="4905" cy="76424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" name="Google Shape;1040;p28">
            <a:extLst>
              <a:ext uri="{FF2B5EF4-FFF2-40B4-BE49-F238E27FC236}">
                <a16:creationId xmlns:a16="http://schemas.microsoft.com/office/drawing/2014/main" id="{3600DC16-B2D0-3B9E-D7B1-FF9B0F72FAB4}"/>
              </a:ext>
            </a:extLst>
          </p:cNvPr>
          <p:cNvCxnSpPr>
            <a:cxnSpLocks/>
            <a:stCxn id="25" idx="0"/>
            <a:endCxn id="22" idx="2"/>
          </p:cNvCxnSpPr>
          <p:nvPr/>
        </p:nvCxnSpPr>
        <p:spPr>
          <a:xfrm flipV="1">
            <a:off x="7207093" y="4898875"/>
            <a:ext cx="4905" cy="764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" name="Google Shape;1041;p28">
            <a:extLst>
              <a:ext uri="{FF2B5EF4-FFF2-40B4-BE49-F238E27FC236}">
                <a16:creationId xmlns:a16="http://schemas.microsoft.com/office/drawing/2014/main" id="{9846EE94-B68E-F3ED-1227-5653B7335D63}"/>
              </a:ext>
            </a:extLst>
          </p:cNvPr>
          <p:cNvCxnSpPr>
            <a:cxnSpLocks/>
          </p:cNvCxnSpPr>
          <p:nvPr/>
        </p:nvCxnSpPr>
        <p:spPr>
          <a:xfrm>
            <a:off x="9672910" y="3028500"/>
            <a:ext cx="0" cy="9617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" name="Google Shape;1042;p28">
            <a:extLst>
              <a:ext uri="{FF2B5EF4-FFF2-40B4-BE49-F238E27FC236}">
                <a16:creationId xmlns:a16="http://schemas.microsoft.com/office/drawing/2014/main" id="{2C997026-EA9F-1CDA-D5A5-233EDC3F7ADC}"/>
              </a:ext>
            </a:extLst>
          </p:cNvPr>
          <p:cNvCxnSpPr>
            <a:cxnSpLocks/>
          </p:cNvCxnSpPr>
          <p:nvPr/>
        </p:nvCxnSpPr>
        <p:spPr>
          <a:xfrm>
            <a:off x="9672910" y="4898875"/>
            <a:ext cx="0" cy="764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510985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 tmFilter="0, 0; .2, .5; .8, .5; 1, 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25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 tmFilter="0, 0; .2, .5; .8, .5; 1, 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25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 tmFilter="0, 0; .2, .5; .8, .5; 1, 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250" autoRev="1" fill="hold"/>
                                        <p:tgtEl>
                                          <p:spTgt spid="6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9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0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 tmFilter="0, 0; .2, .5; .8, .5; 1, 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25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3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 tmFilter="0, 0; .2, .5; .8, .5; 1, 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" dur="250" autoRev="1" fill="hold"/>
                                        <p:tgtEl>
                                          <p:spTgt spid="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6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 tmFilter="0, 0; .2, .5; .8, .5; 1, 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250" autoRev="1" fill="hold"/>
                                        <p:tgtEl>
                                          <p:spTgt spid="6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 tmFilter="0, 0; .2, .5; .8, .5; 1, 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25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4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 tmFilter="0, 0; .2, .5; .8, .5; 1, 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6" dur="250" autoRev="1" fill="hold"/>
                                        <p:tgtEl>
                                          <p:spTgt spid="3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 tmFilter="0, 0; .2, .5; .8, .5; 1, 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250" autoRev="1" fill="hold"/>
                                        <p:tgtEl>
                                          <p:spTgt spid="6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0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 tmFilter="0, 0; .2, .5; .8, .5; 1, 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2" dur="250" autoRev="1" fill="hold"/>
                                        <p:tgtEl>
                                          <p:spTgt spid="7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5" grpId="0" animBg="1"/>
      <p:bldP spid="22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51726-E67C-5B6C-6AC7-36EDA11E6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 descr="Gráfico, Histograma&#10;&#10;Descrição gerada automaticamente">
            <a:extLst>
              <a:ext uri="{FF2B5EF4-FFF2-40B4-BE49-F238E27FC236}">
                <a16:creationId xmlns:a16="http://schemas.microsoft.com/office/drawing/2014/main" id="{4BDFB220-3773-56CF-3C8F-4F8967E5B1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4846" y="3252514"/>
            <a:ext cx="4943143" cy="2471571"/>
          </a:xfrm>
          <a:prstGeom prst="rect">
            <a:avLst/>
          </a:prstGeom>
        </p:spPr>
      </p:pic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1992A126-4F61-07EC-0621-F2BA5B41BCA4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F1116792-44AF-F9F4-0886-84769067D5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53CC9018-F4DC-9BB0-4459-33B131143649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E1E8267-77C5-53C6-9E5F-17D7C16CF604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AUMENTO DO CONCETRADO DE FERRO</a:t>
            </a:r>
          </a:p>
        </p:txBody>
      </p:sp>
      <p:pic>
        <p:nvPicPr>
          <p:cNvPr id="3" name="Imagem 2" descr="Gráfico&#10;&#10;Descrição gerada automaticamente">
            <a:extLst>
              <a:ext uri="{FF2B5EF4-FFF2-40B4-BE49-F238E27FC236}">
                <a16:creationId xmlns:a16="http://schemas.microsoft.com/office/drawing/2014/main" id="{40F5EAD5-AE30-BE70-67D6-772491D285D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871" y="1133915"/>
            <a:ext cx="8822256" cy="4962519"/>
          </a:xfrm>
          <a:prstGeom prst="rect">
            <a:avLst/>
          </a:prstGeom>
        </p:spPr>
      </p:pic>
      <p:sp>
        <p:nvSpPr>
          <p:cNvPr id="12" name="Seta: para Cima 11">
            <a:extLst>
              <a:ext uri="{FF2B5EF4-FFF2-40B4-BE49-F238E27FC236}">
                <a16:creationId xmlns:a16="http://schemas.microsoft.com/office/drawing/2014/main" id="{A13F5247-59B9-8CE9-1569-87FAF509113D}"/>
              </a:ext>
            </a:extLst>
          </p:cNvPr>
          <p:cNvSpPr/>
          <p:nvPr/>
        </p:nvSpPr>
        <p:spPr>
          <a:xfrm>
            <a:off x="10103704" y="2939796"/>
            <a:ext cx="484632" cy="978408"/>
          </a:xfrm>
          <a:prstGeom prst="up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29326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C75C0-B7C9-06F4-327E-5155CE30F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5284413D-4103-5066-FE9A-C2D3C6FCACB7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BB97C28C-0999-7A6B-66B0-ED603C8731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879F1CAF-0AE8-7960-5510-68DE1D111092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45A1082-4ABF-00DA-D405-FD27F6385EFD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AUMENTO DO CONCETRADO DE FERRO</a:t>
            </a:r>
          </a:p>
        </p:txBody>
      </p:sp>
      <p:pic>
        <p:nvPicPr>
          <p:cNvPr id="3" name="Imagem 2" descr="Gráfico&#10;&#10;Descrição gerada automaticamente">
            <a:extLst>
              <a:ext uri="{FF2B5EF4-FFF2-40B4-BE49-F238E27FC236}">
                <a16:creationId xmlns:a16="http://schemas.microsoft.com/office/drawing/2014/main" id="{62CC63B4-654B-EAC9-0C63-506672B5EC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9662" y="3429000"/>
            <a:ext cx="4575849" cy="2573915"/>
          </a:xfrm>
          <a:prstGeom prst="rect">
            <a:avLst/>
          </a:prstGeom>
        </p:spPr>
      </p:pic>
      <p:pic>
        <p:nvPicPr>
          <p:cNvPr id="11" name="Imagem 10" descr="Gráfico, Histograma&#10;&#10;Descrição gerada automaticamente">
            <a:extLst>
              <a:ext uri="{FF2B5EF4-FFF2-40B4-BE49-F238E27FC236}">
                <a16:creationId xmlns:a16="http://schemas.microsoft.com/office/drawing/2014/main" id="{BB9D5495-A9A6-5E62-3C7F-8D055558C8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2042" y="1182248"/>
            <a:ext cx="7338884" cy="3669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2760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A2EFF-3E62-0A85-759E-99AE71D5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Gráfico, Histograma&#10;&#10;Descrição gerada automaticamente">
            <a:extLst>
              <a:ext uri="{FF2B5EF4-FFF2-40B4-BE49-F238E27FC236}">
                <a16:creationId xmlns:a16="http://schemas.microsoft.com/office/drawing/2014/main" id="{4A255670-9B89-83FC-2A21-E76DA38107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6865" y="2431673"/>
            <a:ext cx="7315215" cy="3657607"/>
          </a:xfrm>
          <a:prstGeom prst="rect">
            <a:avLst/>
          </a:prstGeom>
        </p:spPr>
      </p:pic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6403DF9A-4241-39EB-0AD6-C21613FB3C8C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CA7F427A-32FC-707A-ED2A-9D902F7766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37B2CB8E-409A-BDFB-2D2E-680440B98E63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CDFE36F-EC5E-4E55-7229-F58CA0050547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REDUÇÃO DO CONCETRADO DE SÍLICA</a:t>
            </a:r>
          </a:p>
        </p:txBody>
      </p:sp>
      <p:pic>
        <p:nvPicPr>
          <p:cNvPr id="9" name="Imagem 8" descr="Gráfico, Histograma&#10;&#10;Descrição gerada automaticamente">
            <a:extLst>
              <a:ext uri="{FF2B5EF4-FFF2-40B4-BE49-F238E27FC236}">
                <a16:creationId xmlns:a16="http://schemas.microsoft.com/office/drawing/2014/main" id="{C49C5E95-9BDB-5766-F9CD-699E5B4498D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326" y="1132974"/>
            <a:ext cx="8825600" cy="4964400"/>
          </a:xfrm>
          <a:prstGeom prst="rect">
            <a:avLst/>
          </a:prstGeom>
        </p:spPr>
      </p:pic>
      <p:sp>
        <p:nvSpPr>
          <p:cNvPr id="10" name="Seta: para Baixo 9">
            <a:extLst>
              <a:ext uri="{FF2B5EF4-FFF2-40B4-BE49-F238E27FC236}">
                <a16:creationId xmlns:a16="http://schemas.microsoft.com/office/drawing/2014/main" id="{469ADEEA-BC87-A999-F155-397E7B0B2909}"/>
              </a:ext>
            </a:extLst>
          </p:cNvPr>
          <p:cNvSpPr/>
          <p:nvPr/>
        </p:nvSpPr>
        <p:spPr>
          <a:xfrm>
            <a:off x="9912926" y="4125191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92501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1370A-C6E6-F565-2C0C-4E5D68F43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E862562-3F4A-FA77-4579-3709487EFA40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4008AF8E-3FE1-2F96-ECF2-1FCE5F84EB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A8085E30-D18B-F9D1-42A6-048C979968A8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9D64552-E60C-3C8F-7854-80354D605B32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REDUÇÃO DO CONCETRADO DE SÍLICA</a:t>
            </a:r>
          </a:p>
        </p:txBody>
      </p:sp>
      <p:pic>
        <p:nvPicPr>
          <p:cNvPr id="9" name="Imagem 8" descr="Gráfico, Histograma&#10;&#10;Descrição gerada automaticamente">
            <a:extLst>
              <a:ext uri="{FF2B5EF4-FFF2-40B4-BE49-F238E27FC236}">
                <a16:creationId xmlns:a16="http://schemas.microsoft.com/office/drawing/2014/main" id="{44F22BBD-3A50-8566-D2ED-63EA67A885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108" y="3553693"/>
            <a:ext cx="4576000" cy="2574000"/>
          </a:xfrm>
          <a:prstGeom prst="rect">
            <a:avLst/>
          </a:prstGeom>
        </p:spPr>
      </p:pic>
      <p:pic>
        <p:nvPicPr>
          <p:cNvPr id="4" name="Imagem 3" descr="Gráfico, Histograma&#10;&#10;Descrição gerada automaticamente">
            <a:extLst>
              <a:ext uri="{FF2B5EF4-FFF2-40B4-BE49-F238E27FC236}">
                <a16:creationId xmlns:a16="http://schemas.microsoft.com/office/drawing/2014/main" id="{697692E7-B4FC-A7A9-D609-1DC1AA9A40E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7677" y="1198550"/>
            <a:ext cx="7315215" cy="365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3222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EC5AA-4068-BBB9-3AD6-00732EC7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m 16" descr="Uma imagem contendo Gráfico&#10;&#10;Descrição gerada automaticamente">
            <a:extLst>
              <a:ext uri="{FF2B5EF4-FFF2-40B4-BE49-F238E27FC236}">
                <a16:creationId xmlns:a16="http://schemas.microsoft.com/office/drawing/2014/main" id="{7F492C2A-1133-5C26-CE46-7BA76D4D8B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3320" y="2635990"/>
            <a:ext cx="899238" cy="3048264"/>
          </a:xfrm>
          <a:prstGeom prst="rect">
            <a:avLst/>
          </a:prstGeom>
        </p:spPr>
      </p:pic>
      <p:pic>
        <p:nvPicPr>
          <p:cNvPr id="18" name="Imagem 17" descr="Uma imagem contendo Texto&#10;&#10;Descrição gerada automaticamente">
            <a:extLst>
              <a:ext uri="{FF2B5EF4-FFF2-40B4-BE49-F238E27FC236}">
                <a16:creationId xmlns:a16="http://schemas.microsoft.com/office/drawing/2014/main" id="{7BCAB9DF-5865-ADC0-480A-2B4E018C74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0767" y="4621298"/>
            <a:ext cx="2042337" cy="769687"/>
          </a:xfrm>
          <a:prstGeom prst="rect">
            <a:avLst/>
          </a:prstGeom>
        </p:spPr>
      </p:pic>
      <p:pic>
        <p:nvPicPr>
          <p:cNvPr id="16" name="Imagem 15" descr="Uma imagem contendo Tabela&#10;&#10;Descrição gerada automaticamente">
            <a:extLst>
              <a:ext uri="{FF2B5EF4-FFF2-40B4-BE49-F238E27FC236}">
                <a16:creationId xmlns:a16="http://schemas.microsoft.com/office/drawing/2014/main" id="{7A304A11-8495-7BB7-879E-D943ED6C3A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229" y="4487439"/>
            <a:ext cx="906859" cy="1417443"/>
          </a:xfrm>
          <a:prstGeom prst="rect">
            <a:avLst/>
          </a:prstGeom>
        </p:spPr>
      </p:pic>
      <p:pic>
        <p:nvPicPr>
          <p:cNvPr id="14" name="Imagem 13" descr="Interface gráfica do usuário, Aplicativo&#10;&#10;Descrição gerada automaticamente">
            <a:extLst>
              <a:ext uri="{FF2B5EF4-FFF2-40B4-BE49-F238E27FC236}">
                <a16:creationId xmlns:a16="http://schemas.microsoft.com/office/drawing/2014/main" id="{23F6EE34-633C-1250-665B-90CD07482D2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229" y="1472837"/>
            <a:ext cx="3246401" cy="1226926"/>
          </a:xfrm>
          <a:prstGeom prst="rect">
            <a:avLst/>
          </a:prstGeom>
        </p:spPr>
      </p:pic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D10CB76D-7028-753F-0405-410DC08498E6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4B5AAF20-40F5-7078-FEF5-BB8ED1AC588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052FD64C-F3A8-B0CF-1BBD-B0CCDCC2D576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BD82C30-E70D-8636-A5E2-32939C3FC5F4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ANÁLISE DE CORRELAÇÃO ENTRE AS VARIÁVEIS </a:t>
            </a:r>
          </a:p>
        </p:txBody>
      </p:sp>
      <p:pic>
        <p:nvPicPr>
          <p:cNvPr id="3" name="Imagem 2" descr="Gráfico&#10;&#10;Descrição gerada automaticamente">
            <a:extLst>
              <a:ext uri="{FF2B5EF4-FFF2-40B4-BE49-F238E27FC236}">
                <a16:creationId xmlns:a16="http://schemas.microsoft.com/office/drawing/2014/main" id="{196A5FA2-2433-A607-B5EA-83E204C0B89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9662" y="1121303"/>
            <a:ext cx="4987743" cy="4987743"/>
          </a:xfrm>
          <a:prstGeom prst="rect">
            <a:avLst/>
          </a:prstGeom>
        </p:spPr>
      </p:pic>
      <p:sp>
        <p:nvSpPr>
          <p:cNvPr id="20" name="CaixaDeTexto 19">
            <a:extLst>
              <a:ext uri="{FF2B5EF4-FFF2-40B4-BE49-F238E27FC236}">
                <a16:creationId xmlns:a16="http://schemas.microsoft.com/office/drawing/2014/main" id="{AA40EEBB-6C86-C338-7DA5-29ED88A6BA4B}"/>
              </a:ext>
            </a:extLst>
          </p:cNvPr>
          <p:cNvSpPr txBox="1"/>
          <p:nvPr/>
        </p:nvSpPr>
        <p:spPr>
          <a:xfrm>
            <a:off x="6176611" y="1472837"/>
            <a:ext cx="53181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A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correlação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é uma medida de quanto uma grandeza possui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dependência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com uma outra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13F2C2B-99B1-13D3-48EC-4B37225C4E6B}"/>
              </a:ext>
            </a:extLst>
          </p:cNvPr>
          <p:cNvSpPr txBox="1"/>
          <p:nvPr/>
        </p:nvSpPr>
        <p:spPr>
          <a:xfrm>
            <a:off x="6176611" y="2591283"/>
            <a:ext cx="531816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Comumente os valores estão dentre um intervalo [-1,1]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2F4BFBE-186B-B5CC-8128-C38B9579A6CF}"/>
              </a:ext>
            </a:extLst>
          </p:cNvPr>
          <p:cNvSpPr txBox="1"/>
          <p:nvPr/>
        </p:nvSpPr>
        <p:spPr>
          <a:xfrm>
            <a:off x="6176611" y="3432730"/>
            <a:ext cx="531816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Quanto mais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próximo de 1 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(azul) temos uma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alta correlação proporcional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, e quanto mais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próximo de -1 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(vermelho) temos uma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alta correlação invers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amente proporcional. 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5D3C9538-EB01-65BC-B2F0-3824ED7F444F}"/>
              </a:ext>
            </a:extLst>
          </p:cNvPr>
          <p:cNvSpPr txBox="1"/>
          <p:nvPr/>
        </p:nvSpPr>
        <p:spPr>
          <a:xfrm>
            <a:off x="6176611" y="4997145"/>
            <a:ext cx="531816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O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valor 0 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(amarelo) significa a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ausência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de correlação.</a:t>
            </a:r>
          </a:p>
        </p:txBody>
      </p:sp>
    </p:spTree>
    <p:extLst>
      <p:ext uri="{BB962C8B-B14F-4D97-AF65-F5344CB8AC3E}">
        <p14:creationId xmlns:p14="http://schemas.microsoft.com/office/powerpoint/2010/main" val="24315186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68945-4373-D5FE-1076-D60F72568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 descr="Uma imagem contendo Tabela&#10;&#10;Descrição gerada automaticamente">
            <a:extLst>
              <a:ext uri="{FF2B5EF4-FFF2-40B4-BE49-F238E27FC236}">
                <a16:creationId xmlns:a16="http://schemas.microsoft.com/office/drawing/2014/main" id="{B81817E4-9663-1E58-227F-5A824D1A9B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6699" y="1882269"/>
            <a:ext cx="611369" cy="955585"/>
          </a:xfrm>
          <a:prstGeom prst="rect">
            <a:avLst/>
          </a:prstGeom>
        </p:spPr>
      </p:pic>
      <p:pic>
        <p:nvPicPr>
          <p:cNvPr id="14" name="Imagem 13" descr="Interface gráfica do usuário, Aplicativo&#10;&#10;Descrição gerada automaticamente">
            <a:extLst>
              <a:ext uri="{FF2B5EF4-FFF2-40B4-BE49-F238E27FC236}">
                <a16:creationId xmlns:a16="http://schemas.microsoft.com/office/drawing/2014/main" id="{55FE13B8-EC25-2F5B-49B5-28F25F3481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62" r="25492" b="2065"/>
          <a:stretch/>
        </p:blipFill>
        <p:spPr>
          <a:xfrm>
            <a:off x="6317405" y="1122217"/>
            <a:ext cx="1630663" cy="726843"/>
          </a:xfrm>
          <a:prstGeom prst="rect">
            <a:avLst/>
          </a:prstGeom>
        </p:spPr>
      </p:pic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824EB5A-F425-3776-D7C9-63FD7E5B349E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ECA6F64A-E9E7-ECB7-6CC0-08AFCD3692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A3B6FF72-09AC-5855-28CA-210D8AADE1AA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FEF6A37-AB32-8C7C-8246-37BF0F5BF071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ANÁLISE DE CORRELAÇÃO ENTRE AS VARIÁVEIS </a:t>
            </a:r>
          </a:p>
        </p:txBody>
      </p:sp>
      <p:pic>
        <p:nvPicPr>
          <p:cNvPr id="4" name="Imagem 3" descr="Uma imagem contendo Gráfico&#10;&#10;Descrição gerada automaticamente">
            <a:extLst>
              <a:ext uri="{FF2B5EF4-FFF2-40B4-BE49-F238E27FC236}">
                <a16:creationId xmlns:a16="http://schemas.microsoft.com/office/drawing/2014/main" id="{CE6A230E-E636-3F4A-29A7-1B8321925D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3014" y="1121304"/>
            <a:ext cx="630090" cy="2135898"/>
          </a:xfrm>
          <a:prstGeom prst="rect">
            <a:avLst/>
          </a:prstGeom>
        </p:spPr>
      </p:pic>
      <p:pic>
        <p:nvPicPr>
          <p:cNvPr id="10" name="Imagem 9" descr="Uma imagem contendo Texto&#10;&#10;Descrição gerada automaticamente">
            <a:extLst>
              <a:ext uri="{FF2B5EF4-FFF2-40B4-BE49-F238E27FC236}">
                <a16:creationId xmlns:a16="http://schemas.microsoft.com/office/drawing/2014/main" id="{A8B20C08-A98A-1518-C634-D848BE64EE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4668" y="1218442"/>
            <a:ext cx="1388346" cy="523220"/>
          </a:xfrm>
          <a:prstGeom prst="rect">
            <a:avLst/>
          </a:prstGeom>
        </p:spPr>
      </p:pic>
      <p:pic>
        <p:nvPicPr>
          <p:cNvPr id="11" name="Imagem 10" descr="Gráfico&#10;&#10;Descrição gerada automaticamente">
            <a:extLst>
              <a:ext uri="{FF2B5EF4-FFF2-40B4-BE49-F238E27FC236}">
                <a16:creationId xmlns:a16="http://schemas.microsoft.com/office/drawing/2014/main" id="{D18FA610-969B-9B07-4342-12312DB960A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9662" y="1121303"/>
            <a:ext cx="4987743" cy="4987743"/>
          </a:xfrm>
          <a:prstGeom prst="rect">
            <a:avLst/>
          </a:prstGeom>
        </p:spPr>
      </p:pic>
      <p:sp>
        <p:nvSpPr>
          <p:cNvPr id="12" name="Retângulo 11">
            <a:extLst>
              <a:ext uri="{FF2B5EF4-FFF2-40B4-BE49-F238E27FC236}">
                <a16:creationId xmlns:a16="http://schemas.microsoft.com/office/drawing/2014/main" id="{A791ACBA-2D5C-DE73-4A8D-130826DC701B}"/>
              </a:ext>
            </a:extLst>
          </p:cNvPr>
          <p:cNvSpPr/>
          <p:nvPr/>
        </p:nvSpPr>
        <p:spPr>
          <a:xfrm>
            <a:off x="1766456" y="1215736"/>
            <a:ext cx="415636" cy="4666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5AFE0FD4-CC3D-D33F-5A31-C89C547FF852}"/>
              </a:ext>
            </a:extLst>
          </p:cNvPr>
          <p:cNvSpPr/>
          <p:nvPr/>
        </p:nvSpPr>
        <p:spPr>
          <a:xfrm>
            <a:off x="4979160" y="5204964"/>
            <a:ext cx="415636" cy="4666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B12E493C-4881-E3F1-1C31-4AB57D733723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2182092" y="1449042"/>
            <a:ext cx="4135313" cy="3659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E2A4977C-1702-CF62-A935-C68E9EF0BB8F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5394796" y="3568931"/>
            <a:ext cx="4871422" cy="186933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1FA8DF36-31F1-9CAF-F1D5-3A54D6491B3F}"/>
              </a:ext>
            </a:extLst>
          </p:cNvPr>
          <p:cNvSpPr txBox="1"/>
          <p:nvPr/>
        </p:nvSpPr>
        <p:spPr>
          <a:xfrm>
            <a:off x="6733041" y="3354340"/>
            <a:ext cx="4696959" cy="163121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Correlação entre a concentração inicial e final de ferro e sílica apresentam valores negativos próximos de -1, valor no qual era esperado.</a:t>
            </a:r>
            <a:endParaRPr lang="pt-BR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25" name="Seta: para Baixo 24">
            <a:extLst>
              <a:ext uri="{FF2B5EF4-FFF2-40B4-BE49-F238E27FC236}">
                <a16:creationId xmlns:a16="http://schemas.microsoft.com/office/drawing/2014/main" id="{712B9D8A-1720-1A04-1E4E-6248BBBE16A6}"/>
              </a:ext>
            </a:extLst>
          </p:cNvPr>
          <p:cNvSpPr/>
          <p:nvPr/>
        </p:nvSpPr>
        <p:spPr>
          <a:xfrm>
            <a:off x="9486895" y="5036153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Seta: para Cima 25">
            <a:extLst>
              <a:ext uri="{FF2B5EF4-FFF2-40B4-BE49-F238E27FC236}">
                <a16:creationId xmlns:a16="http://schemas.microsoft.com/office/drawing/2014/main" id="{B3F25F0B-8F50-A29F-F38D-9209C94D56C4}"/>
              </a:ext>
            </a:extLst>
          </p:cNvPr>
          <p:cNvSpPr/>
          <p:nvPr/>
        </p:nvSpPr>
        <p:spPr>
          <a:xfrm>
            <a:off x="8263539" y="5036153"/>
            <a:ext cx="484632" cy="978408"/>
          </a:xfrm>
          <a:prstGeom prst="up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1E3FCF59-D216-269C-F04F-D39E9419C843}"/>
              </a:ext>
            </a:extLst>
          </p:cNvPr>
          <p:cNvSpPr txBox="1"/>
          <p:nvPr/>
        </p:nvSpPr>
        <p:spPr>
          <a:xfrm>
            <a:off x="7266662" y="5305369"/>
            <a:ext cx="1031453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Ferro</a:t>
            </a:r>
            <a:endParaRPr lang="pt-BR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A6B3E45D-C7C5-2BC0-CC24-DCCFEEA4EC9E}"/>
              </a:ext>
            </a:extLst>
          </p:cNvPr>
          <p:cNvSpPr txBox="1"/>
          <p:nvPr/>
        </p:nvSpPr>
        <p:spPr>
          <a:xfrm>
            <a:off x="10025358" y="5305369"/>
            <a:ext cx="1031453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Sílica</a:t>
            </a:r>
            <a:endParaRPr lang="pt-BR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2319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73D68-A134-D716-B2E6-39D476D0A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C4ACB6C7-BA34-6236-72B9-311071A9033D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20B77AC0-FBFE-3867-0694-7CCA1C88BD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84E47E6C-DE1C-7774-D834-8CBB5AE3BBED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CD57107-1529-1472-C266-0FE04BC2349D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ANÁLISE DE CORRELAÇÃO ENTRE AS VARIÁVEIS </a:t>
            </a:r>
          </a:p>
        </p:txBody>
      </p:sp>
      <p:pic>
        <p:nvPicPr>
          <p:cNvPr id="11" name="Imagem 10" descr="Gráfico&#10;&#10;Descrição gerada automaticamente">
            <a:extLst>
              <a:ext uri="{FF2B5EF4-FFF2-40B4-BE49-F238E27FC236}">
                <a16:creationId xmlns:a16="http://schemas.microsoft.com/office/drawing/2014/main" id="{0A69CB1A-A800-0147-DB82-30CD657C23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9662" y="1121303"/>
            <a:ext cx="4987743" cy="4987743"/>
          </a:xfrm>
          <a:prstGeom prst="rect">
            <a:avLst/>
          </a:prstGeom>
        </p:spPr>
      </p:pic>
      <p:sp>
        <p:nvSpPr>
          <p:cNvPr id="13" name="Retângulo 12">
            <a:extLst>
              <a:ext uri="{FF2B5EF4-FFF2-40B4-BE49-F238E27FC236}">
                <a16:creationId xmlns:a16="http://schemas.microsoft.com/office/drawing/2014/main" id="{5AC3880A-CCD3-51E4-01A3-741C11466093}"/>
              </a:ext>
            </a:extLst>
          </p:cNvPr>
          <p:cNvSpPr/>
          <p:nvPr/>
        </p:nvSpPr>
        <p:spPr>
          <a:xfrm>
            <a:off x="2838631" y="2563851"/>
            <a:ext cx="1348905" cy="14158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7B1B4712-EA23-2264-4C71-D0654E19A9D5}"/>
              </a:ext>
            </a:extLst>
          </p:cNvPr>
          <p:cNvCxnSpPr>
            <a:cxnSpLocks/>
            <a:stCxn id="13" idx="3"/>
            <a:endCxn id="22" idx="1"/>
          </p:cNvCxnSpPr>
          <p:nvPr/>
        </p:nvCxnSpPr>
        <p:spPr>
          <a:xfrm flipV="1">
            <a:off x="4187536" y="1940980"/>
            <a:ext cx="2867891" cy="13308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ta: para Cima 25">
            <a:extLst>
              <a:ext uri="{FF2B5EF4-FFF2-40B4-BE49-F238E27FC236}">
                <a16:creationId xmlns:a16="http://schemas.microsoft.com/office/drawing/2014/main" id="{61D2E150-44A6-E19A-CF5E-CA92F5E2EC7B}"/>
              </a:ext>
            </a:extLst>
          </p:cNvPr>
          <p:cNvSpPr/>
          <p:nvPr/>
        </p:nvSpPr>
        <p:spPr>
          <a:xfrm>
            <a:off x="8358276" y="4665581"/>
            <a:ext cx="484632" cy="978408"/>
          </a:xfrm>
          <a:prstGeom prst="up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01FB42FA-D86F-B10F-1A15-0472FB50CB20}"/>
              </a:ext>
            </a:extLst>
          </p:cNvPr>
          <p:cNvSpPr/>
          <p:nvPr/>
        </p:nvSpPr>
        <p:spPr>
          <a:xfrm>
            <a:off x="3876747" y="3958564"/>
            <a:ext cx="1348905" cy="14158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3096A5DA-8141-D470-E7B9-D7EBE62CB5F1}"/>
              </a:ext>
            </a:extLst>
          </p:cNvPr>
          <p:cNvCxnSpPr>
            <a:cxnSpLocks/>
            <a:stCxn id="19" idx="3"/>
            <a:endCxn id="31" idx="1"/>
          </p:cNvCxnSpPr>
          <p:nvPr/>
        </p:nvCxnSpPr>
        <p:spPr>
          <a:xfrm flipV="1">
            <a:off x="5225652" y="3465483"/>
            <a:ext cx="1829774" cy="120101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4EC4364-B741-18DC-D150-C9EC91615FF6}"/>
              </a:ext>
            </a:extLst>
          </p:cNvPr>
          <p:cNvSpPr txBox="1"/>
          <p:nvPr/>
        </p:nvSpPr>
        <p:spPr>
          <a:xfrm>
            <a:off x="7055427" y="1587037"/>
            <a:ext cx="4114802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Correlação positiva entre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fluxo de ar</a:t>
            </a:r>
            <a:endParaRPr lang="pt-BR" b="1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964F398F-485C-EB30-EB8A-43D0350DA99C}"/>
              </a:ext>
            </a:extLst>
          </p:cNvPr>
          <p:cNvSpPr txBox="1"/>
          <p:nvPr/>
        </p:nvSpPr>
        <p:spPr>
          <a:xfrm>
            <a:off x="7055426" y="3111540"/>
            <a:ext cx="4114802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Correlação positiva entre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nível da espuma</a:t>
            </a:r>
            <a:endParaRPr lang="pt-BR" b="1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754FF6E4-1489-47D0-4D09-3DF0A5DCA5B5}"/>
              </a:ext>
            </a:extLst>
          </p:cNvPr>
          <p:cNvSpPr txBox="1"/>
          <p:nvPr/>
        </p:nvSpPr>
        <p:spPr>
          <a:xfrm>
            <a:off x="6431454" y="4646954"/>
            <a:ext cx="1829774" cy="101566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Aumenta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 em um nível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anterior</a:t>
            </a:r>
            <a:endParaRPr lang="pt-BR" b="1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40" name="Seta: para Cima 39">
            <a:extLst>
              <a:ext uri="{FF2B5EF4-FFF2-40B4-BE49-F238E27FC236}">
                <a16:creationId xmlns:a16="http://schemas.microsoft.com/office/drawing/2014/main" id="{70EAD210-01F1-1555-C019-30BA7F34D4F1}"/>
              </a:ext>
            </a:extLst>
          </p:cNvPr>
          <p:cNvSpPr/>
          <p:nvPr/>
        </p:nvSpPr>
        <p:spPr>
          <a:xfrm>
            <a:off x="11195739" y="4665581"/>
            <a:ext cx="484632" cy="978408"/>
          </a:xfrm>
          <a:prstGeom prst="up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72ABA1C9-2185-052E-E23B-21513783FD1A}"/>
              </a:ext>
            </a:extLst>
          </p:cNvPr>
          <p:cNvSpPr txBox="1"/>
          <p:nvPr/>
        </p:nvSpPr>
        <p:spPr>
          <a:xfrm>
            <a:off x="9268917" y="4646954"/>
            <a:ext cx="1829774" cy="101566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Aumenta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 no nível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posterior</a:t>
            </a:r>
            <a:endParaRPr lang="pt-BR" b="1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80061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31" grpId="0" animBg="1"/>
      <p:bldP spid="39" grpId="0" animBg="1"/>
      <p:bldP spid="4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438B6-3CF8-6E54-0AA7-A4BFD3D7C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9B429D6F-BB57-B414-5D91-55D02808A829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F81F02FF-D992-A24B-CD9A-61A771174E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FEF78585-3346-75DE-5D5E-1E9C15AAD8A6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99AC350-8B0E-9322-CC7E-81121ECCAE64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ANÁLISE DE CORRELAÇÃO ENTRE AS VARIÁVEIS </a:t>
            </a:r>
          </a:p>
        </p:txBody>
      </p:sp>
      <p:pic>
        <p:nvPicPr>
          <p:cNvPr id="11" name="Imagem 10" descr="Gráfico&#10;&#10;Descrição gerada automaticamente">
            <a:extLst>
              <a:ext uri="{FF2B5EF4-FFF2-40B4-BE49-F238E27FC236}">
                <a16:creationId xmlns:a16="http://schemas.microsoft.com/office/drawing/2014/main" id="{57B9FC8A-9155-A953-CC11-76BB15D303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9662" y="1121303"/>
            <a:ext cx="4987743" cy="4987743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C83B2072-AA03-0DA2-3E10-ECED4065529D}"/>
              </a:ext>
            </a:extLst>
          </p:cNvPr>
          <p:cNvSpPr txBox="1"/>
          <p:nvPr/>
        </p:nvSpPr>
        <p:spPr>
          <a:xfrm>
            <a:off x="10025358" y="5305369"/>
            <a:ext cx="103145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just"/>
            <a:endParaRPr lang="pt-BR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E967916C-3BD1-CD55-1034-6399C08D7EAD}"/>
              </a:ext>
            </a:extLst>
          </p:cNvPr>
          <p:cNvSpPr txBox="1"/>
          <p:nvPr/>
        </p:nvSpPr>
        <p:spPr>
          <a:xfrm>
            <a:off x="6494050" y="1505761"/>
            <a:ext cx="4696959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MUITAS 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VARIÁVEIS PARA ANALISAR.</a:t>
            </a:r>
            <a:endParaRPr lang="pt-BR" b="1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69D6C7E6-0795-2A91-30CC-22DDAD1AAFEE}"/>
              </a:ext>
            </a:extLst>
          </p:cNvPr>
          <p:cNvSpPr txBox="1"/>
          <p:nvPr/>
        </p:nvSpPr>
        <p:spPr>
          <a:xfrm>
            <a:off x="6494050" y="3028890"/>
            <a:ext cx="4696959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pt-BR" sz="3200" b="1" dirty="0">
                <a:solidFill>
                  <a:srgbClr val="072151"/>
                </a:solidFill>
                <a:latin typeface="Optika" panose="00000500000000000000" pitchFamily="50" charset="0"/>
              </a:rPr>
              <a:t>Aplicação PCA</a:t>
            </a:r>
            <a:endParaRPr lang="pt-BR" sz="2800" b="1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48292CAF-A1DA-4E68-2120-043C91BC2507}"/>
              </a:ext>
            </a:extLst>
          </p:cNvPr>
          <p:cNvCxnSpPr>
            <a:stCxn id="17" idx="2"/>
            <a:endCxn id="21" idx="0"/>
          </p:cNvCxnSpPr>
          <p:nvPr/>
        </p:nvCxnSpPr>
        <p:spPr>
          <a:xfrm>
            <a:off x="8842530" y="2213647"/>
            <a:ext cx="0" cy="815243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2EB7EAE7-1D16-6F41-A72D-C9DA93FD6668}"/>
              </a:ext>
            </a:extLst>
          </p:cNvPr>
          <p:cNvSpPr txBox="1"/>
          <p:nvPr/>
        </p:nvSpPr>
        <p:spPr>
          <a:xfrm>
            <a:off x="6494049" y="3773674"/>
            <a:ext cx="4696959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pt-BR" sz="2000" b="1" i="1" dirty="0">
                <a:solidFill>
                  <a:srgbClr val="072151"/>
                </a:solidFill>
                <a:latin typeface="Optika" panose="00000500000000000000" pitchFamily="50" charset="0"/>
              </a:rPr>
              <a:t>Principal Componente </a:t>
            </a:r>
            <a:r>
              <a:rPr lang="pt-BR" sz="2000" b="1" i="1" dirty="0" err="1">
                <a:solidFill>
                  <a:srgbClr val="072151"/>
                </a:solidFill>
                <a:latin typeface="Optika" panose="00000500000000000000" pitchFamily="50" charset="0"/>
              </a:rPr>
              <a:t>Analysis</a:t>
            </a:r>
            <a:endParaRPr lang="pt-BR" b="1" i="1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35504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21" grpId="0" animBg="1"/>
      <p:bldP spid="3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D0836-9844-AB32-EDCA-E35A6899F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9CCC0789-C1DC-1BEC-74CD-47FBF95F8BF0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A3199737-C0EA-AB4F-ABA7-715DA87C3E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DF26AAC-42A7-E8E5-4FFA-A07C23EED7CF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2D72B86B-DBE2-DCC5-76BF-1D8291E73D1B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PCA – PRINCIPAL COMPONENTE ANALYSIS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FE5E8ED-FFE3-C47F-AC99-B4C8EB4558E9}"/>
              </a:ext>
            </a:extLst>
          </p:cNvPr>
          <p:cNvSpPr txBox="1"/>
          <p:nvPr/>
        </p:nvSpPr>
        <p:spPr>
          <a:xfrm>
            <a:off x="1870362" y="1929118"/>
            <a:ext cx="955963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b="0" i="0" dirty="0">
                <a:solidFill>
                  <a:srgbClr val="072151"/>
                </a:solidFill>
                <a:effectLst/>
                <a:latin typeface="Optika" panose="00000500000000000000" pitchFamily="50" charset="0"/>
              </a:rPr>
              <a:t>PCA é uma técnica estatística usada para </a:t>
            </a:r>
            <a:r>
              <a:rPr lang="pt-BR" b="1" i="0" dirty="0">
                <a:solidFill>
                  <a:srgbClr val="072151"/>
                </a:solidFill>
                <a:effectLst/>
                <a:latin typeface="Optika" panose="00000500000000000000" pitchFamily="50" charset="0"/>
              </a:rPr>
              <a:t>reduzir a dimensionalidade </a:t>
            </a:r>
            <a:r>
              <a:rPr lang="pt-BR" b="0" i="0" dirty="0">
                <a:solidFill>
                  <a:srgbClr val="072151"/>
                </a:solidFill>
                <a:effectLst/>
                <a:latin typeface="Optika" panose="00000500000000000000" pitchFamily="50" charset="0"/>
              </a:rPr>
              <a:t>de um conjunto de dados, transformando variáveis correlacionadas em um conjunto </a:t>
            </a:r>
            <a:r>
              <a:rPr lang="pt-BR" b="1" i="0" dirty="0">
                <a:solidFill>
                  <a:srgbClr val="072151"/>
                </a:solidFill>
                <a:effectLst/>
                <a:latin typeface="Optika" panose="00000500000000000000" pitchFamily="50" charset="0"/>
              </a:rPr>
              <a:t>menor de variáveis </a:t>
            </a:r>
            <a:r>
              <a:rPr lang="pt-BR" b="0" i="0" dirty="0">
                <a:solidFill>
                  <a:srgbClr val="072151"/>
                </a:solidFill>
                <a:effectLst/>
                <a:latin typeface="Optika" panose="00000500000000000000" pitchFamily="50" charset="0"/>
              </a:rPr>
              <a:t>não correlacionadas chamadas </a:t>
            </a:r>
            <a:r>
              <a:rPr lang="pt-BR" b="1" i="0" dirty="0">
                <a:solidFill>
                  <a:srgbClr val="072151"/>
                </a:solidFill>
                <a:effectLst/>
                <a:latin typeface="Optika" panose="00000500000000000000" pitchFamily="50" charset="0"/>
              </a:rPr>
              <a:t>componentes principais</a:t>
            </a:r>
            <a:r>
              <a:rPr lang="pt-BR" b="0" i="0" dirty="0">
                <a:solidFill>
                  <a:srgbClr val="072151"/>
                </a:solidFill>
                <a:effectLst/>
                <a:latin typeface="Optika" panose="00000500000000000000" pitchFamily="50" charset="0"/>
              </a:rPr>
              <a:t>.</a:t>
            </a:r>
            <a:endParaRPr lang="pt-BR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CBA295A-AA24-9F42-C81E-92CE21611CB3}"/>
              </a:ext>
            </a:extLst>
          </p:cNvPr>
          <p:cNvSpPr txBox="1"/>
          <p:nvPr/>
        </p:nvSpPr>
        <p:spPr>
          <a:xfrm>
            <a:off x="1870361" y="1550133"/>
            <a:ext cx="95596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Definição: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5355140C-205D-FF64-C307-ACF58DAE2182}"/>
              </a:ext>
            </a:extLst>
          </p:cNvPr>
          <p:cNvSpPr/>
          <p:nvPr/>
        </p:nvSpPr>
        <p:spPr>
          <a:xfrm>
            <a:off x="1870361" y="3646507"/>
            <a:ext cx="3688083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Optika Black" panose="00000A00000000000000" pitchFamily="50" charset="0"/>
              </a:rPr>
              <a:t>23 variáveis 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A6BA401E-43A8-EECC-DF34-1943708ECDDD}"/>
              </a:ext>
            </a:extLst>
          </p:cNvPr>
          <p:cNvSpPr/>
          <p:nvPr/>
        </p:nvSpPr>
        <p:spPr>
          <a:xfrm>
            <a:off x="7444047" y="3646507"/>
            <a:ext cx="3688083" cy="756000"/>
          </a:xfrm>
          <a:prstGeom prst="rect">
            <a:avLst/>
          </a:prstGeom>
          <a:solidFill>
            <a:srgbClr val="0721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Optika Black" panose="00000A00000000000000" pitchFamily="50" charset="0"/>
              </a:rPr>
              <a:t>&lt; 23 variáveis </a:t>
            </a:r>
          </a:p>
        </p:txBody>
      </p: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49E791CE-742F-1D67-AF4F-493B67A9AEA6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5558444" y="4024507"/>
            <a:ext cx="1885603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6C623246-C12E-D601-28E9-95B8BBF56666}"/>
              </a:ext>
            </a:extLst>
          </p:cNvPr>
          <p:cNvSpPr txBox="1"/>
          <p:nvPr/>
        </p:nvSpPr>
        <p:spPr>
          <a:xfrm>
            <a:off x="5986895" y="3582147"/>
            <a:ext cx="10287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i="0" dirty="0">
                <a:solidFill>
                  <a:srgbClr val="072151"/>
                </a:solidFill>
                <a:effectLst/>
                <a:latin typeface="Optika" panose="00000500000000000000" pitchFamily="50" charset="0"/>
              </a:rPr>
              <a:t>PCA</a:t>
            </a:r>
            <a:endParaRPr lang="pt-BR" sz="2400" b="1" dirty="0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1628C3E3-1AC1-9554-D66D-C116A07BB216}"/>
              </a:ext>
            </a:extLst>
          </p:cNvPr>
          <p:cNvSpPr txBox="1"/>
          <p:nvPr/>
        </p:nvSpPr>
        <p:spPr>
          <a:xfrm>
            <a:off x="7444047" y="4486172"/>
            <a:ext cx="368808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Reduz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o número de variáveis,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mantendo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parte da </a:t>
            </a:r>
            <a:r>
              <a:rPr lang="pt-BR" b="1" dirty="0">
                <a:solidFill>
                  <a:srgbClr val="072151"/>
                </a:solidFill>
                <a:latin typeface="Optika" panose="00000500000000000000" pitchFamily="50" charset="0"/>
              </a:rPr>
              <a:t>informação</a:t>
            </a: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 original. </a:t>
            </a:r>
          </a:p>
        </p:txBody>
      </p:sp>
    </p:spTree>
    <p:extLst>
      <p:ext uri="{BB962C8B-B14F-4D97-AF65-F5344CB8AC3E}">
        <p14:creationId xmlns:p14="http://schemas.microsoft.com/office/powerpoint/2010/main" val="34883034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0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1000" tmFilter="0, 0; .2, .5; .8, .5; 1, 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D32DA-B0F7-EA07-95ED-F418979E2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65F6CE47-AEF8-3E08-8680-8F7E5AD3FBBA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EF269B8E-63F9-EFF0-E909-721B6824D5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5DCB7CAA-C995-389D-33BA-01177FB40A30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ANÁLISE</a:t>
            </a:r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2973A84-48F2-F2B0-40D0-ED84A8C670F0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O RESULTADO DO PCA INDICOU QUE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19F78CE8-53B1-DBF8-0F4C-989620B8C5D6}"/>
              </a:ext>
            </a:extLst>
          </p:cNvPr>
          <p:cNvSpPr/>
          <p:nvPr/>
        </p:nvSpPr>
        <p:spPr>
          <a:xfrm>
            <a:off x="1288471" y="1808018"/>
            <a:ext cx="2036618" cy="3823851"/>
          </a:xfrm>
          <a:prstGeom prst="rect">
            <a:avLst/>
          </a:prstGeom>
          <a:solidFill>
            <a:srgbClr val="07215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600" b="1" dirty="0">
                <a:latin typeface="Optika" panose="00000500000000000000" pitchFamily="50" charset="0"/>
              </a:rPr>
              <a:t>PCA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C526859-9CA0-08FA-1F8F-8FF689460D94}"/>
              </a:ext>
            </a:extLst>
          </p:cNvPr>
          <p:cNvSpPr txBox="1"/>
          <p:nvPr/>
        </p:nvSpPr>
        <p:spPr>
          <a:xfrm>
            <a:off x="3343646" y="2052258"/>
            <a:ext cx="68075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O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número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 de variáveis pode ser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reduzido</a:t>
            </a:r>
            <a:r>
              <a:rPr lang="pt-BR" sz="2000" dirty="0">
                <a:solidFill>
                  <a:srgbClr val="072151"/>
                </a:solidFill>
                <a:latin typeface="Optika" panose="00000500000000000000" pitchFamily="50" charset="0"/>
              </a:rPr>
              <a:t> para </a:t>
            </a:r>
            <a:r>
              <a:rPr lang="pt-BR" sz="2000" b="1" dirty="0">
                <a:solidFill>
                  <a:srgbClr val="072151"/>
                </a:solidFill>
                <a:latin typeface="Optika" panose="00000500000000000000" pitchFamily="50" charset="0"/>
              </a:rPr>
              <a:t>12</a:t>
            </a:r>
          </a:p>
        </p:txBody>
      </p: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C438710A-5223-7680-FD11-BD09B9DFAB0F}"/>
              </a:ext>
            </a:extLst>
          </p:cNvPr>
          <p:cNvCxnSpPr>
            <a:cxnSpLocks/>
          </p:cNvCxnSpPr>
          <p:nvPr/>
        </p:nvCxnSpPr>
        <p:spPr>
          <a:xfrm>
            <a:off x="3323606" y="1841324"/>
            <a:ext cx="673479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09FAFAD5-572A-71F8-DF23-745310B5E866}"/>
              </a:ext>
            </a:extLst>
          </p:cNvPr>
          <p:cNvSpPr txBox="1"/>
          <p:nvPr/>
        </p:nvSpPr>
        <p:spPr>
          <a:xfrm>
            <a:off x="3813459" y="2690356"/>
            <a:ext cx="4707826" cy="369332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chemeClr val="bg1"/>
                </a:solidFill>
                <a:latin typeface="Optika" panose="00000500000000000000" pitchFamily="50" charset="0"/>
              </a:rPr>
              <a:t>Variáveis críticas</a:t>
            </a:r>
            <a:endParaRPr lang="pt-BR" sz="1800" b="1" dirty="0"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B06A1DC2-E907-7703-6CFD-2B9FA7F5C073}"/>
              </a:ext>
            </a:extLst>
          </p:cNvPr>
          <p:cNvCxnSpPr>
            <a:cxnSpLocks/>
          </p:cNvCxnSpPr>
          <p:nvPr/>
        </p:nvCxnSpPr>
        <p:spPr>
          <a:xfrm>
            <a:off x="3322864" y="2682867"/>
            <a:ext cx="5198421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F926372F-BBC0-4950-32FC-9034A2C0A658}"/>
              </a:ext>
            </a:extLst>
          </p:cNvPr>
          <p:cNvSpPr txBox="1"/>
          <p:nvPr/>
        </p:nvSpPr>
        <p:spPr>
          <a:xfrm>
            <a:off x="3834241" y="3013341"/>
            <a:ext cx="629689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pH da polpa</a:t>
            </a:r>
            <a:b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</a:b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Fluxo de amido</a:t>
            </a:r>
            <a:b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</a:b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Fluxo de amida</a:t>
            </a:r>
            <a:b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</a:b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Densidade da polpa</a:t>
            </a:r>
            <a:endParaRPr lang="pt-BR" sz="18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28F89B1E-7888-C398-80EB-8DC3D25C7F68}"/>
              </a:ext>
            </a:extLst>
          </p:cNvPr>
          <p:cNvSpPr txBox="1"/>
          <p:nvPr/>
        </p:nvSpPr>
        <p:spPr>
          <a:xfrm>
            <a:off x="3781544" y="4372020"/>
            <a:ext cx="4707826" cy="369332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chemeClr val="bg1"/>
                </a:solidFill>
                <a:latin typeface="Optika" panose="00000500000000000000" pitchFamily="50" charset="0"/>
              </a:rPr>
              <a:t>Variáveis secundárias</a:t>
            </a:r>
            <a:endParaRPr lang="pt-BR" sz="1800" b="1" dirty="0"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cxnSp>
        <p:nvCxnSpPr>
          <p:cNvPr id="24" name="Conector reto 23">
            <a:extLst>
              <a:ext uri="{FF2B5EF4-FFF2-40B4-BE49-F238E27FC236}">
                <a16:creationId xmlns:a16="http://schemas.microsoft.com/office/drawing/2014/main" id="{F5BD891A-8F30-FEE3-9FAE-D1F0E72176FC}"/>
              </a:ext>
            </a:extLst>
          </p:cNvPr>
          <p:cNvCxnSpPr>
            <a:cxnSpLocks/>
          </p:cNvCxnSpPr>
          <p:nvPr/>
        </p:nvCxnSpPr>
        <p:spPr>
          <a:xfrm>
            <a:off x="3343646" y="4364531"/>
            <a:ext cx="5145724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E5224E78-A065-1681-FE2E-D73D653C1425}"/>
              </a:ext>
            </a:extLst>
          </p:cNvPr>
          <p:cNvSpPr txBox="1"/>
          <p:nvPr/>
        </p:nvSpPr>
        <p:spPr>
          <a:xfrm>
            <a:off x="3833499" y="4695005"/>
            <a:ext cx="62968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Fluxo de ar </a:t>
            </a:r>
            <a:b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</a:br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Nível de espuma</a:t>
            </a:r>
            <a:endParaRPr lang="pt-BR" sz="1800" dirty="0">
              <a:solidFill>
                <a:srgbClr val="072151"/>
              </a:solidFill>
              <a:latin typeface="Optika" panose="00000500000000000000" pitchFamily="50" charset="0"/>
            </a:endParaRPr>
          </a:p>
        </p:txBody>
      </p:sp>
      <p:sp>
        <p:nvSpPr>
          <p:cNvPr id="27" name="Chave Direita 26">
            <a:extLst>
              <a:ext uri="{FF2B5EF4-FFF2-40B4-BE49-F238E27FC236}">
                <a16:creationId xmlns:a16="http://schemas.microsoft.com/office/drawing/2014/main" id="{8A721A26-E562-4F8C-8B80-611731199298}"/>
              </a:ext>
            </a:extLst>
          </p:cNvPr>
          <p:cNvSpPr/>
          <p:nvPr/>
        </p:nvSpPr>
        <p:spPr>
          <a:xfrm>
            <a:off x="6130633" y="4748840"/>
            <a:ext cx="176646" cy="511185"/>
          </a:xfrm>
          <a:prstGeom prst="rightBrace">
            <a:avLst/>
          </a:prstGeom>
          <a:ln>
            <a:solidFill>
              <a:srgbClr val="072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66F51627-6AB1-805F-027F-A2AD4A35D14E}"/>
              </a:ext>
            </a:extLst>
          </p:cNvPr>
          <p:cNvSpPr txBox="1"/>
          <p:nvPr/>
        </p:nvSpPr>
        <p:spPr>
          <a:xfrm>
            <a:off x="9330292" y="4426344"/>
            <a:ext cx="61098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dirty="0">
                <a:solidFill>
                  <a:srgbClr val="072151"/>
                </a:solidFill>
                <a:latin typeface="Optika" panose="00000500000000000000" pitchFamily="50" charset="0"/>
              </a:rPr>
              <a:t>Ferro e Sílica 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E7F0881D-0739-7711-452A-FD8B4E2AC18F}"/>
              </a:ext>
            </a:extLst>
          </p:cNvPr>
          <p:cNvSpPr txBox="1"/>
          <p:nvPr/>
        </p:nvSpPr>
        <p:spPr>
          <a:xfrm>
            <a:off x="8901541" y="3350758"/>
            <a:ext cx="4707826" cy="369332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chemeClr val="bg1"/>
                </a:solidFill>
                <a:latin typeface="Optika" panose="00000500000000000000" pitchFamily="50" charset="0"/>
              </a:rPr>
              <a:t>Variáveis de processo</a:t>
            </a:r>
            <a:endParaRPr lang="pt-BR" sz="1800" b="1" dirty="0"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A7038567-A4E6-FAAF-D1F5-0F10D8882D87}"/>
              </a:ext>
            </a:extLst>
          </p:cNvPr>
          <p:cNvSpPr txBox="1"/>
          <p:nvPr/>
        </p:nvSpPr>
        <p:spPr>
          <a:xfrm>
            <a:off x="8997779" y="3690201"/>
            <a:ext cx="62968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Concentrado inicial</a:t>
            </a:r>
          </a:p>
          <a:p>
            <a:r>
              <a:rPr lang="pt-BR" sz="1800" dirty="0">
                <a:solidFill>
                  <a:srgbClr val="072151"/>
                </a:solidFill>
                <a:latin typeface="Optika" panose="00000500000000000000" pitchFamily="50" charset="0"/>
              </a:rPr>
              <a:t>Concentrado final</a:t>
            </a:r>
          </a:p>
        </p:txBody>
      </p:sp>
      <p:sp>
        <p:nvSpPr>
          <p:cNvPr id="36" name="Chave Direita 35">
            <a:extLst>
              <a:ext uri="{FF2B5EF4-FFF2-40B4-BE49-F238E27FC236}">
                <a16:creationId xmlns:a16="http://schemas.microsoft.com/office/drawing/2014/main" id="{C3B32FD4-2F2E-1E56-A664-DF047F432DF7}"/>
              </a:ext>
            </a:extLst>
          </p:cNvPr>
          <p:cNvSpPr/>
          <p:nvPr/>
        </p:nvSpPr>
        <p:spPr>
          <a:xfrm rot="5400000">
            <a:off x="10208751" y="3101516"/>
            <a:ext cx="103792" cy="2525735"/>
          </a:xfrm>
          <a:prstGeom prst="rightBrace">
            <a:avLst/>
          </a:prstGeom>
          <a:ln>
            <a:solidFill>
              <a:srgbClr val="072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6B1A2B8D-1600-E9D9-86B7-16991565A91B}"/>
              </a:ext>
            </a:extLst>
          </p:cNvPr>
          <p:cNvSpPr txBox="1"/>
          <p:nvPr/>
        </p:nvSpPr>
        <p:spPr>
          <a:xfrm>
            <a:off x="6307279" y="4819766"/>
            <a:ext cx="62968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solidFill>
                  <a:srgbClr val="072151"/>
                </a:solidFill>
                <a:latin typeface="Optika" panose="00000500000000000000" pitchFamily="50" charset="0"/>
              </a:rPr>
              <a:t>Colunas 5, 6 e 7</a:t>
            </a:r>
          </a:p>
        </p:txBody>
      </p:sp>
    </p:spTree>
    <p:extLst>
      <p:ext uri="{BB962C8B-B14F-4D97-AF65-F5344CB8AC3E}">
        <p14:creationId xmlns:p14="http://schemas.microsoft.com/office/powerpoint/2010/main" val="4176765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8" grpId="0" animBg="1"/>
      <p:bldP spid="21" grpId="0"/>
      <p:bldP spid="23" grpId="0" animBg="1"/>
      <p:bldP spid="25" grpId="0"/>
      <p:bldP spid="27" grpId="0" animBg="1"/>
      <p:bldP spid="29" grpId="0"/>
      <p:bldP spid="34" grpId="0" animBg="1"/>
      <p:bldP spid="35" grpId="0"/>
      <p:bldP spid="36" grpId="0" animBg="1"/>
      <p:bldP spid="3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41C1C-216E-14AC-B0F0-CAD0C202C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AE857CD-D055-354D-9E98-00F929A0BBA3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93707CCC-2BCE-2890-AB3B-DEEDB43BA5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006DFF94-169B-EBFC-6A60-61D8B47BA926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b="1" dirty="0">
                <a:solidFill>
                  <a:srgbClr val="072151"/>
                </a:solidFill>
                <a:latin typeface="Optika Black" panose="00000A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A1CB40B-5846-128C-A2BC-AD6079C56FE6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SÉRIES TEMPORAIS PARÂMETRO CRÍTICOS</a:t>
            </a:r>
          </a:p>
        </p:txBody>
      </p:sp>
      <p:pic>
        <p:nvPicPr>
          <p:cNvPr id="3" name="Imagem 2" descr="Uma imagem contendo ao ar livre, colorido, grupo, em pé&#10;&#10;Descrição gerada automaticamente">
            <a:extLst>
              <a:ext uri="{FF2B5EF4-FFF2-40B4-BE49-F238E27FC236}">
                <a16:creationId xmlns:a16="http://schemas.microsoft.com/office/drawing/2014/main" id="{0F077EB9-40F7-D32B-B7A3-96DDC7DFC1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0542" y="968586"/>
            <a:ext cx="4574458" cy="51462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6F5AA787-784A-8415-A1E9-78BA3EEB3940}"/>
                  </a:ext>
                </a:extLst>
              </p:cNvPr>
              <p:cNvSpPr txBox="1"/>
              <p:nvPr/>
            </p:nvSpPr>
            <p:spPr>
              <a:xfrm>
                <a:off x="5850829" y="1868717"/>
                <a:ext cx="5829542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pt-BR" sz="2000" dirty="0">
                    <a:solidFill>
                      <a:srgbClr val="072151"/>
                    </a:solidFill>
                    <a:latin typeface="Optika" panose="00000500000000000000" pitchFamily="50" charset="0"/>
                  </a:rPr>
                  <a:t>fluxo de amido </a:t>
                </a:r>
                <a14:m>
                  <m:oMath xmlns:m="http://schemas.openxmlformats.org/officeDocument/2006/math">
                    <m:r>
                      <a:rPr lang="pt-BR" sz="2000" i="1" dirty="0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&lt;3000 </m:t>
                    </m:r>
                    <m:sSup>
                      <m:sSupPr>
                        <m:ctrlPr>
                          <a:rPr lang="pt-BR" sz="2000" i="1" dirty="0" smtClean="0">
                            <a:solidFill>
                              <a:srgbClr val="07215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000" i="1" dirty="0" smtClean="0">
                            <a:solidFill>
                              <a:srgbClr val="07215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sz="2000" i="1" dirty="0" smtClean="0">
                            <a:solidFill>
                              <a:srgbClr val="07215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sz="2000" i="1" dirty="0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pt-BR" sz="2000" i="1" dirty="0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pt-BR" sz="2000" dirty="0">
                  <a:solidFill>
                    <a:srgbClr val="072151"/>
                  </a:solidFill>
                  <a:latin typeface="Optika" panose="00000500000000000000" pitchFamily="50" charset="0"/>
                </a:endParaRPr>
              </a:p>
              <a:p>
                <a:pPr marL="171450" indent="-171450" algn="just">
                  <a:buFont typeface="Arial" panose="020B0604020202020204" pitchFamily="34" charset="0"/>
                  <a:buChar char="•"/>
                </a:pPr>
                <a:endParaRPr lang="pt-BR" sz="500" dirty="0">
                  <a:solidFill>
                    <a:srgbClr val="072151"/>
                  </a:solidFill>
                  <a:latin typeface="Optika" panose="00000500000000000000" pitchFamily="50" charset="0"/>
                </a:endParaRP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pt-BR" sz="2000" dirty="0">
                    <a:solidFill>
                      <a:srgbClr val="072151"/>
                    </a:solidFill>
                    <a:latin typeface="Optika" panose="00000500000000000000" pitchFamily="50" charset="0"/>
                  </a:rPr>
                  <a:t>pH médio </a:t>
                </a:r>
                <a14:m>
                  <m:oMath xmlns:m="http://schemas.openxmlformats.org/officeDocument/2006/math">
                    <m:r>
                      <a:rPr lang="pt-BR" sz="2000" b="0" i="1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&lt;9.5</m:t>
                    </m:r>
                  </m:oMath>
                </a14:m>
                <a:r>
                  <a:rPr lang="pt-BR" sz="2000" dirty="0">
                    <a:solidFill>
                      <a:srgbClr val="072151"/>
                    </a:solidFill>
                    <a:latin typeface="Optika" panose="00000500000000000000" pitchFamily="50" charset="0"/>
                  </a:rPr>
                  <a:t> </a:t>
                </a:r>
              </a:p>
              <a:p>
                <a:pPr marL="171450" indent="-171450" algn="just">
                  <a:buFont typeface="Arial" panose="020B0604020202020204" pitchFamily="34" charset="0"/>
                  <a:buChar char="•"/>
                </a:pPr>
                <a:endParaRPr lang="pt-BR" sz="500" dirty="0">
                  <a:solidFill>
                    <a:srgbClr val="072151"/>
                  </a:solidFill>
                  <a:latin typeface="Optika" panose="00000500000000000000" pitchFamily="50" charset="0"/>
                </a:endParaRP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pt-BR" sz="2000" dirty="0">
                    <a:solidFill>
                      <a:srgbClr val="072151"/>
                    </a:solidFill>
                    <a:latin typeface="Optika" panose="00000500000000000000" pitchFamily="50" charset="0"/>
                  </a:rPr>
                  <a:t>densidade média da polpa </a:t>
                </a:r>
                <a14:m>
                  <m:oMath xmlns:m="http://schemas.openxmlformats.org/officeDocument/2006/math">
                    <m:r>
                      <a:rPr lang="pt-BR" sz="2000" i="1" dirty="0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&gt;1.70</m:t>
                    </m:r>
                    <m:r>
                      <a:rPr lang="pt-BR" sz="2000" b="0" i="1" dirty="0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000" b="0" i="1" dirty="0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𝑘𝑔</m:t>
                    </m:r>
                    <m:r>
                      <a:rPr lang="pt-BR" sz="2000" b="0" i="1" dirty="0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pt-BR" sz="2000" b="0" i="1" dirty="0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pt-BR" sz="2000" b="0" i="1" dirty="0" smtClean="0">
                            <a:solidFill>
                              <a:srgbClr val="07215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000" b="0" i="1" dirty="0" smtClean="0">
                            <a:solidFill>
                              <a:srgbClr val="07215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sz="2000" b="0" i="1" dirty="0" smtClean="0">
                            <a:solidFill>
                              <a:srgbClr val="07215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pt-BR" sz="2000" b="1" dirty="0">
                  <a:solidFill>
                    <a:srgbClr val="072151"/>
                  </a:solidFill>
                  <a:latin typeface="Optika" panose="00000500000000000000" pitchFamily="50" charset="0"/>
                </a:endParaRPr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6F5AA787-784A-8415-A1E9-78BA3EEB39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0829" y="1868717"/>
                <a:ext cx="5829542" cy="1169551"/>
              </a:xfrm>
              <a:prstGeom prst="rect">
                <a:avLst/>
              </a:prstGeom>
              <a:blipFill>
                <a:blip r:embed="rId5"/>
                <a:stretch>
                  <a:fillRect l="-941" t="-2618" b="-942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042217FF-F7B0-5A27-34B2-23B0AA169934}"/>
              </a:ext>
            </a:extLst>
          </p:cNvPr>
          <p:cNvCxnSpPr>
            <a:cxnSpLocks/>
          </p:cNvCxnSpPr>
          <p:nvPr/>
        </p:nvCxnSpPr>
        <p:spPr>
          <a:xfrm>
            <a:off x="5833028" y="1340580"/>
            <a:ext cx="5754566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ECDCFF7E-70BF-4062-BAE1-5C11ADE28B0A}"/>
                  </a:ext>
                </a:extLst>
              </p:cNvPr>
              <p:cNvSpPr txBox="1"/>
              <p:nvPr/>
            </p:nvSpPr>
            <p:spPr>
              <a:xfrm>
                <a:off x="5850830" y="3610115"/>
                <a:ext cx="5829542" cy="18620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pt-BR"/>
                </a:defPPr>
                <a:lvl1pPr algn="just">
                  <a:defRPr sz="2000">
                    <a:solidFill>
                      <a:srgbClr val="072151"/>
                    </a:solidFill>
                    <a:latin typeface="Optika" panose="00000500000000000000" pitchFamily="50" charset="0"/>
                  </a:defRPr>
                </a:lvl1pPr>
              </a:lstStyle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pt-BR" dirty="0"/>
                  <a:t>fluxo de amido médio </a:t>
                </a:r>
                <a14:m>
                  <m:oMath xmlns:m="http://schemas.openxmlformats.org/officeDocument/2006/math">
                    <m:r>
                      <a:rPr lang="pt-BR" dirty="0">
                        <a:latin typeface="Cambria Math" panose="02040503050406030204" pitchFamily="18" charset="0"/>
                      </a:rPr>
                      <m:t>&gt;3000 </m:t>
                    </m:r>
                    <m:sSup>
                      <m:sSupPr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pt-BR" dirty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sz="5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pt-BR" dirty="0"/>
                  <a:t>fluxo médio de amina &gt;</a:t>
                </a:r>
                <a14:m>
                  <m:oMath xmlns:m="http://schemas.openxmlformats.org/officeDocument/2006/math">
                    <m:r>
                      <a:rPr lang="pt-BR" dirty="0">
                        <a:latin typeface="Cambria Math" panose="02040503050406030204" pitchFamily="18" charset="0"/>
                      </a:rPr>
                      <m:t>500 </m:t>
                    </m:r>
                    <m:sSup>
                      <m:sSupPr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pt-BR" dirty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pt-BR" dirty="0"/>
                  <a:t>,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sz="5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pt-BR" dirty="0"/>
                  <a:t>pH médio </a:t>
                </a:r>
                <a14:m>
                  <m:oMath xmlns:m="http://schemas.openxmlformats.org/officeDocument/2006/math">
                    <m:r>
                      <a:rPr lang="pt-BR" dirty="0">
                        <a:latin typeface="Cambria Math" panose="02040503050406030204" pitchFamily="18" charset="0"/>
                      </a:rPr>
                      <m:t>≈10</m:t>
                    </m:r>
                  </m:oMath>
                </a14:m>
                <a:endParaRPr lang="pt-BR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sz="5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pt-BR" dirty="0"/>
                  <a:t>densidade da polpa entre </a:t>
                </a:r>
                <a14:m>
                  <m:oMath xmlns:m="http://schemas.openxmlformats.org/officeDocument/2006/math">
                    <m:r>
                      <a:rPr lang="pt-BR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b="0" i="0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 dirty="0">
                        <a:latin typeface="Cambria Math" panose="02040503050406030204" pitchFamily="18" charset="0"/>
                      </a:rPr>
                      <m:t>65&lt;</m:t>
                    </m:r>
                    <m:r>
                      <a:rPr lang="pt-BR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dirty="0">
                        <a:latin typeface="Cambria Math" panose="02040503050406030204" pitchFamily="18" charset="0"/>
                      </a:rPr>
                      <m:t>≤1.70 </m:t>
                    </m:r>
                    <m:r>
                      <a:rPr lang="pt-BR" dirty="0">
                        <a:latin typeface="Cambria Math" panose="02040503050406030204" pitchFamily="18" charset="0"/>
                      </a:rPr>
                      <m:t>𝑘𝑔</m:t>
                    </m:r>
                    <m:r>
                      <a:rPr lang="pt-BR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pt-BR" dirty="0"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ECDCFF7E-70BF-4062-BAE1-5C11ADE28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0830" y="3610115"/>
                <a:ext cx="5829542" cy="1862048"/>
              </a:xfrm>
              <a:prstGeom prst="rect">
                <a:avLst/>
              </a:prstGeom>
              <a:blipFill>
                <a:blip r:embed="rId6"/>
                <a:stretch>
                  <a:fillRect l="-941" t="-1307" b="-22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ixaDeTexto 1">
            <a:extLst>
              <a:ext uri="{FF2B5EF4-FFF2-40B4-BE49-F238E27FC236}">
                <a16:creationId xmlns:a16="http://schemas.microsoft.com/office/drawing/2014/main" id="{A03280DD-B263-8C60-1334-5CFB38A4A0DA}"/>
              </a:ext>
            </a:extLst>
          </p:cNvPr>
          <p:cNvSpPr txBox="1"/>
          <p:nvPr/>
        </p:nvSpPr>
        <p:spPr>
          <a:xfrm>
            <a:off x="5850829" y="1336494"/>
            <a:ext cx="4797004" cy="369332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chemeClr val="bg1"/>
                </a:solidFill>
                <a:latin typeface="Optika" panose="00000500000000000000" pitchFamily="50" charset="0"/>
              </a:rPr>
              <a:t>AUMENTO CONCENTRAÇÃO SÍLICA</a:t>
            </a:r>
            <a:endParaRPr lang="pt-BR" sz="1800" b="1" dirty="0"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F37730C7-8AF4-44CD-6678-B75CB715D284}"/>
              </a:ext>
            </a:extLst>
          </p:cNvPr>
          <p:cNvCxnSpPr>
            <a:cxnSpLocks/>
          </p:cNvCxnSpPr>
          <p:nvPr/>
        </p:nvCxnSpPr>
        <p:spPr>
          <a:xfrm>
            <a:off x="5808524" y="3171844"/>
            <a:ext cx="577907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aixaDeTexto 8">
            <a:extLst>
              <a:ext uri="{FF2B5EF4-FFF2-40B4-BE49-F238E27FC236}">
                <a16:creationId xmlns:a16="http://schemas.microsoft.com/office/drawing/2014/main" id="{90AACDDE-E0E5-50F1-736B-8AB41F83DA4D}"/>
              </a:ext>
            </a:extLst>
          </p:cNvPr>
          <p:cNvSpPr txBox="1"/>
          <p:nvPr/>
        </p:nvSpPr>
        <p:spPr>
          <a:xfrm>
            <a:off x="5850829" y="3171844"/>
            <a:ext cx="5198170" cy="369332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chemeClr val="bg1"/>
                </a:solidFill>
                <a:latin typeface="Optika" panose="00000500000000000000" pitchFamily="50" charset="0"/>
              </a:rPr>
              <a:t>REDUÇÃO CONCENTRAÇÃO SÍLICA</a:t>
            </a:r>
            <a:endParaRPr lang="pt-BR" sz="1800" b="1" dirty="0"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8D4A1031-DF0D-9B90-D194-13285A2AFD66}"/>
                  </a:ext>
                </a:extLst>
              </p:cNvPr>
              <p:cNvSpPr txBox="1"/>
              <p:nvPr/>
            </p:nvSpPr>
            <p:spPr>
              <a:xfrm>
                <a:off x="6859484" y="5402781"/>
                <a:ext cx="610688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2000" b="1" dirty="0">
                    <a:solidFill>
                      <a:srgbClr val="072151"/>
                    </a:solidFill>
                    <a:latin typeface="Optika" panose="00000500000000000000" pitchFamily="50" charset="0"/>
                  </a:rPr>
                  <a:t>concentrações</a:t>
                </a:r>
                <a:r>
                  <a:rPr lang="pt-BR" b="1" dirty="0">
                    <a:latin typeface="Optika" panose="00000500000000000000" pitchFamily="50" charset="0"/>
                  </a:rPr>
                  <a:t> de sílica </a:t>
                </a:r>
                <a14:m>
                  <m:oMath xmlns:m="http://schemas.openxmlformats.org/officeDocument/2006/math">
                    <m:r>
                      <a:rPr lang="pt-BR" b="1" dirty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b="1" i="1" dirty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pt-BR" b="1" dirty="0">
                        <a:latin typeface="Cambria Math" panose="02040503050406030204" pitchFamily="18" charset="0"/>
                      </a:rPr>
                      <m:t>%.</m:t>
                    </m:r>
                  </m:oMath>
                </a14:m>
                <a:endParaRPr lang="pt-BR" b="1" dirty="0">
                  <a:latin typeface="Optika" panose="00000500000000000000" pitchFamily="50" charset="0"/>
                </a:endParaRP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8D4A1031-DF0D-9B90-D194-13285A2AFD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9484" y="5402781"/>
                <a:ext cx="6106884" cy="400110"/>
              </a:xfrm>
              <a:prstGeom prst="rect">
                <a:avLst/>
              </a:prstGeom>
              <a:blipFill>
                <a:blip r:embed="rId7"/>
                <a:stretch>
                  <a:fillRect l="-998" t="-7576" b="-257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aixaDeTexto 17">
            <a:extLst>
              <a:ext uri="{FF2B5EF4-FFF2-40B4-BE49-F238E27FC236}">
                <a16:creationId xmlns:a16="http://schemas.microsoft.com/office/drawing/2014/main" id="{07A99364-DE4D-D537-FA02-B510BCF4865E}"/>
              </a:ext>
            </a:extLst>
          </p:cNvPr>
          <p:cNvSpPr txBox="1"/>
          <p:nvPr/>
        </p:nvSpPr>
        <p:spPr>
          <a:xfrm>
            <a:off x="1397945" y="1251978"/>
            <a:ext cx="584482" cy="184666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600" b="1" dirty="0">
                <a:solidFill>
                  <a:schemeClr val="bg1"/>
                </a:solidFill>
                <a:latin typeface="Optika" panose="00000500000000000000" pitchFamily="50" charset="0"/>
              </a:rPr>
              <a:t>AMIDO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AF87276-6546-46F6-EC33-6B8EB40034AB}"/>
              </a:ext>
            </a:extLst>
          </p:cNvPr>
          <p:cNvSpPr txBox="1"/>
          <p:nvPr/>
        </p:nvSpPr>
        <p:spPr>
          <a:xfrm>
            <a:off x="1397945" y="3185976"/>
            <a:ext cx="864897" cy="184666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600" b="1" dirty="0">
                <a:solidFill>
                  <a:schemeClr val="bg1"/>
                </a:solidFill>
                <a:latin typeface="Optika" panose="00000500000000000000" pitchFamily="50" charset="0"/>
              </a:rPr>
              <a:t>DENSIDADE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83879902-59B2-977B-F2DC-08E880E068C2}"/>
              </a:ext>
            </a:extLst>
          </p:cNvPr>
          <p:cNvSpPr txBox="1"/>
          <p:nvPr/>
        </p:nvSpPr>
        <p:spPr>
          <a:xfrm>
            <a:off x="1397945" y="4161404"/>
            <a:ext cx="375991" cy="184666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600" b="1" dirty="0">
                <a:solidFill>
                  <a:schemeClr val="bg1"/>
                </a:solidFill>
                <a:latin typeface="Optika" panose="00000500000000000000" pitchFamily="50" charset="0"/>
              </a:rPr>
              <a:t>pH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E4289DE0-DA58-8CB1-7269-29A7008AC884}"/>
              </a:ext>
            </a:extLst>
          </p:cNvPr>
          <p:cNvSpPr txBox="1"/>
          <p:nvPr/>
        </p:nvSpPr>
        <p:spPr>
          <a:xfrm>
            <a:off x="1397945" y="2209770"/>
            <a:ext cx="584482" cy="184666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600" b="1" dirty="0">
                <a:solidFill>
                  <a:schemeClr val="bg1"/>
                </a:solidFill>
                <a:latin typeface="Optika" panose="00000500000000000000" pitchFamily="50" charset="0"/>
              </a:rPr>
              <a:t>AMINA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6B5347FD-50E5-C2A1-632A-6DD63EFCFAA8}"/>
              </a:ext>
            </a:extLst>
          </p:cNvPr>
          <p:cNvSpPr txBox="1"/>
          <p:nvPr/>
        </p:nvSpPr>
        <p:spPr>
          <a:xfrm>
            <a:off x="1408673" y="5115023"/>
            <a:ext cx="536786" cy="184666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600" b="1" dirty="0">
                <a:solidFill>
                  <a:schemeClr val="bg1"/>
                </a:solidFill>
                <a:latin typeface="Optika" panose="00000500000000000000" pitchFamily="50" charset="0"/>
              </a:rPr>
              <a:t>SÍLICA</a:t>
            </a:r>
          </a:p>
        </p:txBody>
      </p:sp>
    </p:spTree>
    <p:extLst>
      <p:ext uri="{BB962C8B-B14F-4D97-AF65-F5344CB8AC3E}">
        <p14:creationId xmlns:p14="http://schemas.microsoft.com/office/powerpoint/2010/main" val="1133669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7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5" grpId="0"/>
      <p:bldP spid="2" grpId="0" animBg="1"/>
      <p:bldP spid="9" grpId="0" animBg="1"/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C5039-872A-07E6-8AC7-5C114BA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08C5FBB9-A97D-90CC-DA70-AAC54287DC48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A52C4564-4455-EBF1-4FDD-1522BF9FF2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B80783F2-C9E2-8E7E-94F0-C7881BFBF1DC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b="1" dirty="0">
                <a:solidFill>
                  <a:srgbClr val="072151"/>
                </a:solidFill>
                <a:latin typeface="Optika Black" panose="00000A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62A504E-FA18-878E-3B3F-E9BCED96DAF9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SÉRIES TEMPORAIS PARÂMETROS SECUNDÁRIOS </a:t>
            </a:r>
          </a:p>
        </p:txBody>
      </p:sp>
      <p:pic>
        <p:nvPicPr>
          <p:cNvPr id="14" name="Imagem 13" descr="Uma imagem contendo Linha do tempo&#10;&#10;Descrição gerada automaticamente">
            <a:extLst>
              <a:ext uri="{FF2B5EF4-FFF2-40B4-BE49-F238E27FC236}">
                <a16:creationId xmlns:a16="http://schemas.microsoft.com/office/drawing/2014/main" id="{937EECB5-04E8-3B56-156D-54D7D63CCA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547" y="1101571"/>
            <a:ext cx="5226912" cy="3939240"/>
          </a:xfrm>
          <a:prstGeom prst="rect">
            <a:avLst/>
          </a:prstGeom>
        </p:spPr>
      </p:pic>
      <p:pic>
        <p:nvPicPr>
          <p:cNvPr id="17" name="Imagem 16" descr="Grupo de pessoas em fundo colorido&#10;&#10;Descrição gerada automaticamente com confiança média">
            <a:extLst>
              <a:ext uri="{FF2B5EF4-FFF2-40B4-BE49-F238E27FC236}">
                <a16:creationId xmlns:a16="http://schemas.microsoft.com/office/drawing/2014/main" id="{B2F4B5A4-FD31-3FA2-0B50-F9A5331EEF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3459" y="1085121"/>
            <a:ext cx="5226912" cy="3929984"/>
          </a:xfrm>
          <a:prstGeom prst="rect">
            <a:avLst/>
          </a:prstGeom>
        </p:spPr>
      </p:pic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DB427F1C-0078-ABD1-C82E-2493961BC877}"/>
              </a:ext>
            </a:extLst>
          </p:cNvPr>
          <p:cNvCxnSpPr>
            <a:cxnSpLocks/>
          </p:cNvCxnSpPr>
          <p:nvPr/>
        </p:nvCxnSpPr>
        <p:spPr>
          <a:xfrm>
            <a:off x="1273645" y="5136376"/>
            <a:ext cx="73294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761EA36-9830-6E3B-09B7-016F895BE03E}"/>
              </a:ext>
            </a:extLst>
          </p:cNvPr>
          <p:cNvSpPr txBox="1"/>
          <p:nvPr/>
        </p:nvSpPr>
        <p:spPr>
          <a:xfrm>
            <a:off x="3806041" y="5132290"/>
            <a:ext cx="4797004" cy="369332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b="1" dirty="0">
                <a:solidFill>
                  <a:schemeClr val="bg1"/>
                </a:solidFill>
                <a:latin typeface="Optika" panose="00000500000000000000" pitchFamily="50" charset="0"/>
              </a:rPr>
              <a:t>AUMENTO CONCENTRAÇÃO SÍLICA</a:t>
            </a:r>
            <a:endParaRPr lang="pt-BR" sz="1800" b="1" dirty="0"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57764417-B794-29A0-F02A-6BF8D424309D}"/>
                  </a:ext>
                </a:extLst>
              </p:cNvPr>
              <p:cNvSpPr txBox="1"/>
              <p:nvPr/>
            </p:nvSpPr>
            <p:spPr>
              <a:xfrm>
                <a:off x="3689948" y="5501622"/>
                <a:ext cx="5829542" cy="784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pt-BR" sz="2000" dirty="0">
                    <a:solidFill>
                      <a:srgbClr val="072151"/>
                    </a:solidFill>
                    <a:latin typeface="Optika" panose="00000500000000000000" pitchFamily="50" charset="0"/>
                  </a:rPr>
                  <a:t>espessura da espuma </a:t>
                </a:r>
                <a14:m>
                  <m:oMath xmlns:m="http://schemas.openxmlformats.org/officeDocument/2006/math">
                    <m:r>
                      <a:rPr lang="pt-BR" sz="2000" i="1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sz="2000" b="0" i="1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400 </m:t>
                    </m:r>
                    <m:r>
                      <a:rPr lang="pt-BR" sz="2000" b="0" i="1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𝑚𝑚</m:t>
                    </m:r>
                  </m:oMath>
                </a14:m>
                <a:endParaRPr lang="pt-BR" sz="2000" dirty="0">
                  <a:solidFill>
                    <a:srgbClr val="072151"/>
                  </a:solidFill>
                  <a:latin typeface="Optika" panose="00000500000000000000" pitchFamily="50" charset="0"/>
                </a:endParaRPr>
              </a:p>
              <a:p>
                <a:pPr marL="171450" indent="-171450" algn="just">
                  <a:buFont typeface="Arial" panose="020B0604020202020204" pitchFamily="34" charset="0"/>
                  <a:buChar char="•"/>
                </a:pPr>
                <a:endParaRPr lang="pt-BR" sz="500" dirty="0">
                  <a:solidFill>
                    <a:srgbClr val="072151"/>
                  </a:solidFill>
                  <a:latin typeface="Optika" panose="00000500000000000000" pitchFamily="50" charset="0"/>
                </a:endParaRP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pt-BR" sz="2000" dirty="0">
                    <a:solidFill>
                      <a:srgbClr val="072151"/>
                    </a:solidFill>
                    <a:latin typeface="Optika" panose="00000500000000000000" pitchFamily="50" charset="0"/>
                  </a:rPr>
                  <a:t>redução do fluxo de ar </a:t>
                </a:r>
                <a14:m>
                  <m:oMath xmlns:m="http://schemas.openxmlformats.org/officeDocument/2006/math">
                    <m:r>
                      <a:rPr lang="pt-BR" sz="2000" b="0" i="1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&lt;275 </m:t>
                    </m:r>
                    <m:r>
                      <a:rPr lang="pt-BR" sz="2000" b="0" i="1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sSup>
                      <m:sSupPr>
                        <m:ctrlPr>
                          <a:rPr lang="pt-BR" sz="2000" b="0" i="1" smtClean="0">
                            <a:solidFill>
                              <a:srgbClr val="07215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000" b="0" i="1" smtClean="0">
                            <a:solidFill>
                              <a:srgbClr val="07215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sz="2000" b="0" i="1" smtClean="0">
                            <a:solidFill>
                              <a:srgbClr val="07215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sz="2000" b="0" i="1" smtClean="0">
                        <a:solidFill>
                          <a:srgbClr val="072151"/>
                        </a:solidFill>
                        <a:latin typeface="Cambria Math" panose="02040503050406030204" pitchFamily="18" charset="0"/>
                      </a:rPr>
                      <m:t>/</m:t>
                    </m:r>
                  </m:oMath>
                </a14:m>
                <a:endParaRPr lang="pt-BR" sz="2000" b="1" dirty="0">
                  <a:solidFill>
                    <a:srgbClr val="072151"/>
                  </a:solidFill>
                  <a:latin typeface="Optika" panose="00000500000000000000" pitchFamily="50" charset="0"/>
                </a:endParaRPr>
              </a:p>
            </p:txBody>
          </p:sp>
        </mc:Choice>
        <mc:Fallback xmlns="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57764417-B794-29A0-F02A-6BF8D42430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9948" y="5501622"/>
                <a:ext cx="5829542" cy="784830"/>
              </a:xfrm>
              <a:prstGeom prst="rect">
                <a:avLst/>
              </a:prstGeom>
              <a:blipFill>
                <a:blip r:embed="rId6"/>
                <a:stretch>
                  <a:fillRect l="-940" t="-3876" b="-131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CaixaDeTexto 24">
            <a:extLst>
              <a:ext uri="{FF2B5EF4-FFF2-40B4-BE49-F238E27FC236}">
                <a16:creationId xmlns:a16="http://schemas.microsoft.com/office/drawing/2014/main" id="{5AB3AA3D-AE94-B4D6-A7C5-BD64195505C1}"/>
              </a:ext>
            </a:extLst>
          </p:cNvPr>
          <p:cNvSpPr txBox="1"/>
          <p:nvPr/>
        </p:nvSpPr>
        <p:spPr>
          <a:xfrm>
            <a:off x="3283934" y="1015870"/>
            <a:ext cx="1394733" cy="276999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1200" b="1" dirty="0">
                <a:solidFill>
                  <a:schemeClr val="bg1"/>
                </a:solidFill>
                <a:latin typeface="Optika" panose="00000500000000000000" pitchFamily="50" charset="0"/>
              </a:rPr>
              <a:t>FLUXO DE AR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9A1B10AB-54D3-7554-63F7-7119292336CC}"/>
              </a:ext>
            </a:extLst>
          </p:cNvPr>
          <p:cNvSpPr txBox="1"/>
          <p:nvPr/>
        </p:nvSpPr>
        <p:spPr>
          <a:xfrm>
            <a:off x="8124757" y="1015870"/>
            <a:ext cx="1788169" cy="276999"/>
          </a:xfrm>
          <a:prstGeom prst="rect">
            <a:avLst/>
          </a:prstGeom>
          <a:solidFill>
            <a:srgbClr val="072151"/>
          </a:solidFill>
        </p:spPr>
        <p:txBody>
          <a:bodyPr wrap="square">
            <a:spAutoFit/>
          </a:bodyPr>
          <a:lstStyle/>
          <a:p>
            <a:pPr algn="just"/>
            <a:r>
              <a:rPr lang="pt-BR" sz="1200" b="1" dirty="0">
                <a:solidFill>
                  <a:schemeClr val="bg1"/>
                </a:solidFill>
                <a:latin typeface="Optika" panose="00000500000000000000" pitchFamily="50" charset="0"/>
              </a:rPr>
              <a:t>NÍVEL DA ESPUMA</a:t>
            </a:r>
          </a:p>
        </p:txBody>
      </p:sp>
    </p:spTree>
    <p:extLst>
      <p:ext uri="{BB962C8B-B14F-4D97-AF65-F5344CB8AC3E}">
        <p14:creationId xmlns:p14="http://schemas.microsoft.com/office/powerpoint/2010/main" val="5066870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097C2-5FEB-7777-EBE5-5ACC29D13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48E7EB90-784B-7CE1-821D-EF85E801DD03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A8D0D084-E1A0-DE77-BB59-55B6290243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5708E71B-20AB-4578-80D1-E56255918FC9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271694F9-6C35-8217-7123-8F500DB9A38E}"/>
              </a:ext>
            </a:extLst>
          </p:cNvPr>
          <p:cNvSpPr txBox="1"/>
          <p:nvPr/>
        </p:nvSpPr>
        <p:spPr>
          <a:xfrm>
            <a:off x="524745" y="445366"/>
            <a:ext cx="111556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O QUE OS DADOS MOSTRAM</a:t>
            </a:r>
          </a:p>
        </p:txBody>
      </p:sp>
      <p:sp>
        <p:nvSpPr>
          <p:cNvPr id="4" name="Seta: Pentágono 3">
            <a:extLst>
              <a:ext uri="{FF2B5EF4-FFF2-40B4-BE49-F238E27FC236}">
                <a16:creationId xmlns:a16="http://schemas.microsoft.com/office/drawing/2014/main" id="{5C74F65E-3351-B607-28D0-2A9E998B0A10}"/>
              </a:ext>
            </a:extLst>
          </p:cNvPr>
          <p:cNvSpPr/>
          <p:nvPr/>
        </p:nvSpPr>
        <p:spPr>
          <a:xfrm>
            <a:off x="1808018" y="1475508"/>
            <a:ext cx="2389909" cy="4301777"/>
          </a:xfrm>
          <a:prstGeom prst="homePlate">
            <a:avLst/>
          </a:prstGeom>
          <a:solidFill>
            <a:srgbClr val="07215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2E30C14-2070-397C-7035-7171BD5F2F0E}"/>
              </a:ext>
            </a:extLst>
          </p:cNvPr>
          <p:cNvSpPr txBox="1"/>
          <p:nvPr/>
        </p:nvSpPr>
        <p:spPr>
          <a:xfrm>
            <a:off x="4333009" y="4003794"/>
            <a:ext cx="724246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latin typeface="Optika" panose="00000500000000000000" pitchFamily="50" charset="0"/>
              </a:rPr>
              <a:t>Um </a:t>
            </a:r>
            <a:r>
              <a:rPr lang="pt-BR" b="1" dirty="0">
                <a:latin typeface="Optika" panose="00000500000000000000" pitchFamily="50" charset="0"/>
              </a:rPr>
              <a:t>controle</a:t>
            </a:r>
            <a:r>
              <a:rPr lang="pt-BR" dirty="0">
                <a:latin typeface="Optika" panose="00000500000000000000" pitchFamily="50" charset="0"/>
              </a:rPr>
              <a:t> mais preciso do </a:t>
            </a:r>
            <a:r>
              <a:rPr lang="pt-BR" b="1" dirty="0">
                <a:latin typeface="Optika" panose="00000500000000000000" pitchFamily="50" charset="0"/>
              </a:rPr>
              <a:t>fluxo de ar</a:t>
            </a:r>
            <a:r>
              <a:rPr lang="pt-BR" dirty="0">
                <a:latin typeface="Optika" panose="00000500000000000000" pitchFamily="50" charset="0"/>
              </a:rPr>
              <a:t> nas colunas finais do processo contribui para a </a:t>
            </a:r>
            <a:r>
              <a:rPr lang="pt-BR" b="1" dirty="0">
                <a:latin typeface="Optika" panose="00000500000000000000" pitchFamily="50" charset="0"/>
              </a:rPr>
              <a:t>redução</a:t>
            </a:r>
            <a:r>
              <a:rPr lang="pt-BR" dirty="0">
                <a:latin typeface="Optika" panose="00000500000000000000" pitchFamily="50" charset="0"/>
              </a:rPr>
              <a:t> dessa concentração de </a:t>
            </a:r>
            <a:r>
              <a:rPr lang="pt-BR" b="1" dirty="0">
                <a:latin typeface="Optika" panose="00000500000000000000" pitchFamily="50" charset="0"/>
              </a:rPr>
              <a:t>sílica</a:t>
            </a:r>
            <a:r>
              <a:rPr lang="pt-BR" dirty="0">
                <a:latin typeface="Optika" panose="00000500000000000000" pitchFamily="50" charset="0"/>
              </a:rPr>
              <a:t>.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6EF75BA3-0843-CBE7-0B18-46E15F9D0F53}"/>
              </a:ext>
            </a:extLst>
          </p:cNvPr>
          <p:cNvSpPr txBox="1"/>
          <p:nvPr/>
        </p:nvSpPr>
        <p:spPr>
          <a:xfrm>
            <a:off x="4333009" y="2026226"/>
            <a:ext cx="724246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dirty="0">
                <a:latin typeface="Optika" panose="00000500000000000000" pitchFamily="50" charset="0"/>
              </a:rPr>
              <a:t>A </a:t>
            </a:r>
            <a:r>
              <a:rPr lang="pt-BR" b="1" dirty="0">
                <a:latin typeface="Optika" panose="00000500000000000000" pitchFamily="50" charset="0"/>
              </a:rPr>
              <a:t>redução do pH </a:t>
            </a:r>
            <a:r>
              <a:rPr lang="pt-BR" dirty="0">
                <a:latin typeface="Optika" panose="00000500000000000000" pitchFamily="50" charset="0"/>
              </a:rPr>
              <a:t>da polpa de minério, combinada com a diminuição nas dosagens de </a:t>
            </a:r>
            <a:r>
              <a:rPr lang="pt-BR" b="1" dirty="0">
                <a:latin typeface="Optika" panose="00000500000000000000" pitchFamily="50" charset="0"/>
              </a:rPr>
              <a:t>amido</a:t>
            </a:r>
            <a:r>
              <a:rPr lang="pt-BR" dirty="0">
                <a:latin typeface="Optika" panose="00000500000000000000" pitchFamily="50" charset="0"/>
              </a:rPr>
              <a:t> e </a:t>
            </a:r>
            <a:r>
              <a:rPr lang="pt-BR" b="1" dirty="0">
                <a:latin typeface="Optika" panose="00000500000000000000" pitchFamily="50" charset="0"/>
              </a:rPr>
              <a:t>amina</a:t>
            </a:r>
            <a:r>
              <a:rPr lang="pt-BR" dirty="0">
                <a:latin typeface="Optika" panose="00000500000000000000" pitchFamily="50" charset="0"/>
              </a:rPr>
              <a:t>, está associada ao aumento da concentração de sílica.</a:t>
            </a:r>
          </a:p>
        </p:txBody>
      </p:sp>
    </p:spTree>
    <p:extLst>
      <p:ext uri="{BB962C8B-B14F-4D97-AF65-F5344CB8AC3E}">
        <p14:creationId xmlns:p14="http://schemas.microsoft.com/office/powerpoint/2010/main" val="3622595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EEC4D-45A1-CF41-5C4D-2AF6812DD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0C7BC73-3F22-7596-7484-8390C24B1D4B}"/>
              </a:ext>
            </a:extLst>
          </p:cNvPr>
          <p:cNvCxnSpPr/>
          <p:nvPr/>
        </p:nvCxnSpPr>
        <p:spPr>
          <a:xfrm>
            <a:off x="0" y="6261763"/>
            <a:ext cx="12192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6CA723EE-28C6-34A0-3F8C-914E1D0F66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34" b="27340"/>
          <a:stretch/>
        </p:blipFill>
        <p:spPr>
          <a:xfrm>
            <a:off x="9912926" y="6348851"/>
            <a:ext cx="2016000" cy="43312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43A6564D-A82C-4304-D2AA-BB1CDE9367B5}"/>
              </a:ext>
            </a:extLst>
          </p:cNvPr>
          <p:cNvSpPr txBox="1"/>
          <p:nvPr/>
        </p:nvSpPr>
        <p:spPr>
          <a:xfrm>
            <a:off x="113392" y="2501013"/>
            <a:ext cx="1216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072151"/>
                </a:solidFill>
                <a:latin typeface="Optika" panose="00000500000000000000" pitchFamily="50" charset="0"/>
              </a:rPr>
              <a:t>SITUAÇÃO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ANÁLISE 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Light" panose="00000400000000000000" pitchFamily="50" charset="0"/>
              </a:rPr>
              <a:t>INSIGHTS</a:t>
            </a: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endParaRPr lang="pt-BR" sz="1200" dirty="0">
              <a:solidFill>
                <a:srgbClr val="072151"/>
              </a:solidFill>
              <a:latin typeface="Optika Light" panose="00000400000000000000" pitchFamily="50" charset="0"/>
            </a:endParaRPr>
          </a:p>
          <a:p>
            <a:r>
              <a:rPr lang="pt-BR" sz="1200" dirty="0">
                <a:solidFill>
                  <a:srgbClr val="072151"/>
                </a:solidFill>
                <a:latin typeface="Optika Black" panose="00000A00000000000000" pitchFamily="50" charset="0"/>
              </a:rPr>
              <a:t>IMPACTO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7E41E84-6F9E-1294-943E-97C09D45051A}"/>
              </a:ext>
            </a:extLst>
          </p:cNvPr>
          <p:cNvSpPr txBox="1"/>
          <p:nvPr/>
        </p:nvSpPr>
        <p:spPr>
          <a:xfrm>
            <a:off x="524745" y="445366"/>
            <a:ext cx="111556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2800" b="1" dirty="0">
                <a:solidFill>
                  <a:srgbClr val="072151"/>
                </a:solidFill>
                <a:latin typeface="Optika Black" panose="00000A00000000000000" pitchFamily="50" charset="0"/>
              </a:rPr>
              <a:t>COMO AIGNOSI PODE CONTRIBUIR COM SUA EMPRESA?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2F0064CA-413D-A3BE-590A-BF9E173B9978}"/>
              </a:ext>
            </a:extLst>
          </p:cNvPr>
          <p:cNvSpPr/>
          <p:nvPr/>
        </p:nvSpPr>
        <p:spPr>
          <a:xfrm>
            <a:off x="1517073" y="1361208"/>
            <a:ext cx="3190009" cy="4696691"/>
          </a:xfrm>
          <a:prstGeom prst="rect">
            <a:avLst/>
          </a:prstGeom>
          <a:solidFill>
            <a:srgbClr val="07215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bg1"/>
                </a:solidFill>
                <a:latin typeface="Optika Black" panose="00000A00000000000000" pitchFamily="50" charset="0"/>
              </a:rPr>
              <a:t>CIÊNCIA  DE DADOS</a:t>
            </a:r>
          </a:p>
          <a:p>
            <a:pPr algn="ctr"/>
            <a:endParaRPr lang="pt-BR" dirty="0">
              <a:solidFill>
                <a:schemeClr val="bg1"/>
              </a:solidFill>
              <a:latin typeface="Optika" panose="00000500000000000000" pitchFamily="50" charset="0"/>
            </a:endParaRP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53B49A46-F53E-F1AD-6B1D-ED8E379D6C46}"/>
              </a:ext>
            </a:extLst>
          </p:cNvPr>
          <p:cNvSpPr/>
          <p:nvPr/>
        </p:nvSpPr>
        <p:spPr>
          <a:xfrm>
            <a:off x="5237393" y="1516022"/>
            <a:ext cx="6286125" cy="756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rgbClr val="072151"/>
                </a:solidFill>
                <a:latin typeface="Optika Black" panose="00000A00000000000000" pitchFamily="50" charset="0"/>
              </a:rPr>
              <a:t>OTIMIZAÇÃO DE PROCESSOS E REDUÇÃO DE CUSTOS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86C5B6EF-5557-F5D8-F35D-98618EB364A4}"/>
              </a:ext>
            </a:extLst>
          </p:cNvPr>
          <p:cNvSpPr/>
          <p:nvPr/>
        </p:nvSpPr>
        <p:spPr>
          <a:xfrm>
            <a:off x="5237393" y="2848586"/>
            <a:ext cx="6286125" cy="756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rgbClr val="072151"/>
                </a:solidFill>
                <a:latin typeface="Optika Black" panose="00000A00000000000000" pitchFamily="50" charset="0"/>
              </a:rPr>
              <a:t>PREVISÃO E MONITORAMENTO PARA DECISÕES MAIS ASSERTIVAS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99697059-96B0-12AE-3A0A-6A7CBA151C75}"/>
              </a:ext>
            </a:extLst>
          </p:cNvPr>
          <p:cNvSpPr/>
          <p:nvPr/>
        </p:nvSpPr>
        <p:spPr>
          <a:xfrm>
            <a:off x="5237393" y="4158709"/>
            <a:ext cx="6286125" cy="756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rgbClr val="072151"/>
                </a:solidFill>
                <a:latin typeface="Optika Black" panose="00000A00000000000000" pitchFamily="50" charset="0"/>
              </a:rPr>
              <a:t>MELHORIA DA QUALIDADE E CONTROLE DE PRODUTO FINAL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D3FB7840-166D-3EB5-168E-E702E8E13D91}"/>
              </a:ext>
            </a:extLst>
          </p:cNvPr>
          <p:cNvSpPr/>
          <p:nvPr/>
        </p:nvSpPr>
        <p:spPr>
          <a:xfrm>
            <a:off x="5237393" y="5301899"/>
            <a:ext cx="6286125" cy="756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rgbClr val="072151"/>
                </a:solidFill>
                <a:latin typeface="Optika Black" panose="00000A00000000000000" pitchFamily="50" charset="0"/>
              </a:rPr>
              <a:t>INOVAÇÃO E DIFERENCIAÇÃO NO MERCADO</a:t>
            </a:r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12C615B0-49E0-AD2D-CC97-C58AABBBB624}"/>
              </a:ext>
            </a:extLst>
          </p:cNvPr>
          <p:cNvCxnSpPr>
            <a:cxnSpLocks/>
          </p:cNvCxnSpPr>
          <p:nvPr/>
        </p:nvCxnSpPr>
        <p:spPr>
          <a:xfrm>
            <a:off x="4707082" y="1386191"/>
            <a:ext cx="6840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A3E20F19-39C7-F4F2-3E25-120B356CC05C}"/>
              </a:ext>
            </a:extLst>
          </p:cNvPr>
          <p:cNvCxnSpPr>
            <a:cxnSpLocks/>
          </p:cNvCxnSpPr>
          <p:nvPr/>
        </p:nvCxnSpPr>
        <p:spPr>
          <a:xfrm>
            <a:off x="4707082" y="2557168"/>
            <a:ext cx="6840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62B004AE-BD5E-A446-2695-8C84491DA614}"/>
              </a:ext>
            </a:extLst>
          </p:cNvPr>
          <p:cNvCxnSpPr>
            <a:cxnSpLocks/>
          </p:cNvCxnSpPr>
          <p:nvPr/>
        </p:nvCxnSpPr>
        <p:spPr>
          <a:xfrm>
            <a:off x="4623955" y="3876814"/>
            <a:ext cx="6840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AD6425BA-3BA2-826D-D291-017153024362}"/>
              </a:ext>
            </a:extLst>
          </p:cNvPr>
          <p:cNvCxnSpPr>
            <a:cxnSpLocks/>
          </p:cNvCxnSpPr>
          <p:nvPr/>
        </p:nvCxnSpPr>
        <p:spPr>
          <a:xfrm>
            <a:off x="4707082" y="5186068"/>
            <a:ext cx="6840000" cy="0"/>
          </a:xfrm>
          <a:prstGeom prst="line">
            <a:avLst/>
          </a:prstGeom>
          <a:ln w="38100">
            <a:solidFill>
              <a:srgbClr val="001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E71CE3A1-C68C-47E3-3B0A-D2113262FC04}"/>
              </a:ext>
            </a:extLst>
          </p:cNvPr>
          <p:cNvSpPr txBox="1"/>
          <p:nvPr/>
        </p:nvSpPr>
        <p:spPr>
          <a:xfrm>
            <a:off x="4633282" y="1386191"/>
            <a:ext cx="2951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>
                <a:solidFill>
                  <a:srgbClr val="072151"/>
                </a:solidFill>
                <a:latin typeface="Optika Black" panose="00000A00000000000000" pitchFamily="50" charset="0"/>
              </a:rPr>
              <a:t>1</a:t>
            </a:r>
            <a:endParaRPr lang="pt-BR" sz="4000" dirty="0">
              <a:solidFill>
                <a:srgbClr val="072151"/>
              </a:solidFill>
              <a:latin typeface="Optika Black" panose="00000A00000000000000" pitchFamily="50" charset="0"/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29C43C71-575C-2D16-C3A5-7938A6E7A5ED}"/>
              </a:ext>
            </a:extLst>
          </p:cNvPr>
          <p:cNvSpPr txBox="1"/>
          <p:nvPr/>
        </p:nvSpPr>
        <p:spPr>
          <a:xfrm>
            <a:off x="4633282" y="2745321"/>
            <a:ext cx="2951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>
                <a:solidFill>
                  <a:srgbClr val="072151"/>
                </a:solidFill>
                <a:latin typeface="Optika Black" panose="00000A00000000000000" pitchFamily="50" charset="0"/>
              </a:rPr>
              <a:t>2</a:t>
            </a:r>
            <a:endParaRPr lang="pt-BR" sz="4000" dirty="0">
              <a:solidFill>
                <a:srgbClr val="072151"/>
              </a:solidFill>
              <a:latin typeface="Optika Black" panose="00000A00000000000000" pitchFamily="50" charset="0"/>
            </a:endParaRP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68438D02-CD9B-151B-F531-5C6736BC92F7}"/>
              </a:ext>
            </a:extLst>
          </p:cNvPr>
          <p:cNvSpPr txBox="1"/>
          <p:nvPr/>
        </p:nvSpPr>
        <p:spPr>
          <a:xfrm>
            <a:off x="4633282" y="3974094"/>
            <a:ext cx="2951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>
                <a:solidFill>
                  <a:srgbClr val="072151"/>
                </a:solidFill>
                <a:latin typeface="Optika Black" panose="00000A00000000000000" pitchFamily="50" charset="0"/>
              </a:rPr>
              <a:t>3</a:t>
            </a:r>
            <a:endParaRPr lang="pt-BR" sz="4000" dirty="0">
              <a:solidFill>
                <a:srgbClr val="072151"/>
              </a:solidFill>
              <a:latin typeface="Optika Black" panose="00000A00000000000000" pitchFamily="50" charset="0"/>
            </a:endParaRP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0895063D-9F77-7AF2-8796-F042C26C4C7D}"/>
              </a:ext>
            </a:extLst>
          </p:cNvPr>
          <p:cNvSpPr txBox="1"/>
          <p:nvPr/>
        </p:nvSpPr>
        <p:spPr>
          <a:xfrm>
            <a:off x="4633282" y="5216741"/>
            <a:ext cx="2951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000" dirty="0">
                <a:solidFill>
                  <a:srgbClr val="072151"/>
                </a:solidFill>
                <a:latin typeface="Optika Black" panose="00000A00000000000000" pitchFamily="50" charset="0"/>
              </a:rPr>
              <a:t>4</a:t>
            </a:r>
            <a:endParaRPr lang="pt-BR" sz="4000" dirty="0">
              <a:solidFill>
                <a:srgbClr val="072151"/>
              </a:solidFill>
              <a:latin typeface="Optika Black" panose="00000A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8805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0" tmFilter="0, 0; .2, .5; .8, .5; 1, 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50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7" dur="50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1000" tmFilter="0, 0; .2, .5; .8, .5; 1, 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2" dur="50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13" grpId="0" animBg="1"/>
      <p:bldP spid="13" grpId="1"/>
      <p:bldP spid="14" grpId="0" animBg="1"/>
      <p:bldP spid="14" grpId="1"/>
      <p:bldP spid="15" grpId="0" animBg="1"/>
      <p:bldP spid="20" grpId="0"/>
      <p:bldP spid="21" grpId="0"/>
      <p:bldP spid="22" grpId="0"/>
      <p:bldP spid="23" grpId="0"/>
    </p:bld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3952</TotalTime>
  <Words>938</Words>
  <Application>Microsoft Office PowerPoint</Application>
  <PresentationFormat>Widescreen</PresentationFormat>
  <Paragraphs>455</Paragraphs>
  <Slides>20</Slides>
  <Notes>19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9" baseType="lpstr">
      <vt:lpstr>Aptos</vt:lpstr>
      <vt:lpstr>Aptos Display</vt:lpstr>
      <vt:lpstr>Arial</vt:lpstr>
      <vt:lpstr>Cambria Math</vt:lpstr>
      <vt:lpstr>Optika</vt:lpstr>
      <vt:lpstr>Optika Black</vt:lpstr>
      <vt:lpstr>Optika Light</vt:lpstr>
      <vt:lpstr>Optika Medium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Igor Peixoto Rodrigues</dc:creator>
  <cp:lastModifiedBy>Igor Peixoto Rodrigues</cp:lastModifiedBy>
  <cp:revision>47</cp:revision>
  <dcterms:created xsi:type="dcterms:W3CDTF">2024-10-08T21:05:25Z</dcterms:created>
  <dcterms:modified xsi:type="dcterms:W3CDTF">2024-10-30T17:39:23Z</dcterms:modified>
</cp:coreProperties>
</file>